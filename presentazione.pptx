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256" r:id="rId2"/>
    <p:sldId id="261" r:id="rId3"/>
    <p:sldId id="265" r:id="rId4"/>
    <p:sldId id="262" r:id="rId5"/>
    <p:sldId id="264" r:id="rId6"/>
    <p:sldId id="295" r:id="rId7"/>
    <p:sldId id="288" r:id="rId8"/>
    <p:sldId id="257" r:id="rId9"/>
    <p:sldId id="289" r:id="rId10"/>
    <p:sldId id="290" r:id="rId11"/>
    <p:sldId id="270" r:id="rId12"/>
    <p:sldId id="291" r:id="rId13"/>
    <p:sldId id="292" r:id="rId14"/>
    <p:sldId id="296" r:id="rId15"/>
    <p:sldId id="271" r:id="rId16"/>
    <p:sldId id="293" r:id="rId17"/>
    <p:sldId id="297" r:id="rId18"/>
    <p:sldId id="298" r:id="rId19"/>
    <p:sldId id="272" r:id="rId20"/>
    <p:sldId id="321" r:id="rId21"/>
    <p:sldId id="322" r:id="rId22"/>
    <p:sldId id="267" r:id="rId23"/>
    <p:sldId id="308" r:id="rId24"/>
    <p:sldId id="258" r:id="rId25"/>
    <p:sldId id="277" r:id="rId26"/>
    <p:sldId id="278" r:id="rId27"/>
    <p:sldId id="279" r:id="rId28"/>
    <p:sldId id="306" r:id="rId29"/>
    <p:sldId id="275" r:id="rId30"/>
    <p:sldId id="276" r:id="rId31"/>
    <p:sldId id="300" r:id="rId32"/>
    <p:sldId id="301" r:id="rId33"/>
    <p:sldId id="302" r:id="rId34"/>
    <p:sldId id="307" r:id="rId35"/>
    <p:sldId id="304" r:id="rId36"/>
    <p:sldId id="305" r:id="rId37"/>
    <p:sldId id="303" r:id="rId38"/>
    <p:sldId id="260" r:id="rId39"/>
    <p:sldId id="313" r:id="rId40"/>
    <p:sldId id="316" r:id="rId41"/>
    <p:sldId id="317" r:id="rId42"/>
    <p:sldId id="319" r:id="rId43"/>
    <p:sldId id="320" r:id="rId44"/>
    <p:sldId id="314" r:id="rId45"/>
    <p:sldId id="318" r:id="rId46"/>
    <p:sldId id="315" r:id="rId47"/>
    <p:sldId id="312" r:id="rId48"/>
    <p:sldId id="282" r:id="rId49"/>
    <p:sldId id="283" r:id="rId50"/>
    <p:sldId id="326" r:id="rId51"/>
    <p:sldId id="285" r:id="rId52"/>
    <p:sldId id="325" r:id="rId53"/>
    <p:sldId id="324" r:id="rId54"/>
    <p:sldId id="323" r:id="rId55"/>
    <p:sldId id="284" r:id="rId56"/>
    <p:sldId id="310" r:id="rId57"/>
    <p:sldId id="309" r:id="rId58"/>
    <p:sldId id="286" r:id="rId59"/>
    <p:sldId id="311" r:id="rId60"/>
    <p:sldId id="327" r:id="rId61"/>
    <p:sldId id="328"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670B92A-D349-707F-2984-BB309C513F93}" name=" " initials="" userId="d0dc96819bfc252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64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6419DD-F01A-41BC-ADB9-E932B4B2A364}" type="datetimeFigureOut">
              <a:rPr lang="en-US" smtClean="0"/>
              <a:t>2/15/2022</a:t>
            </a:fld>
            <a:endParaRPr lang="en-US"/>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41BA36-EE14-41A9-8956-D57AD0D42102}" type="slidenum">
              <a:rPr lang="en-US" smtClean="0"/>
              <a:t>‹N›</a:t>
            </a:fld>
            <a:endParaRPr lang="en-US"/>
          </a:p>
        </p:txBody>
      </p:sp>
    </p:spTree>
    <p:extLst>
      <p:ext uri="{BB962C8B-B14F-4D97-AF65-F5344CB8AC3E}">
        <p14:creationId xmlns:p14="http://schemas.microsoft.com/office/powerpoint/2010/main" val="1773792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5"/>
          </p:nvPr>
        </p:nvSpPr>
        <p:spPr/>
        <p:txBody>
          <a:bodyPr/>
          <a:lstStyle/>
          <a:p>
            <a:fld id="{1641BA36-EE14-41A9-8956-D57AD0D42102}" type="slidenum">
              <a:rPr lang="en-US" smtClean="0"/>
              <a:t>32</a:t>
            </a:fld>
            <a:endParaRPr lang="en-US"/>
          </a:p>
        </p:txBody>
      </p:sp>
    </p:spTree>
    <p:extLst>
      <p:ext uri="{BB962C8B-B14F-4D97-AF65-F5344CB8AC3E}">
        <p14:creationId xmlns:p14="http://schemas.microsoft.com/office/powerpoint/2010/main" val="27467789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CE2AC45-23F2-4D19-8FFD-81737A50C533}"/>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endParaRPr lang="en-US"/>
          </a:p>
        </p:txBody>
      </p:sp>
      <p:sp>
        <p:nvSpPr>
          <p:cNvPr id="3" name="Sottotitolo 2">
            <a:extLst>
              <a:ext uri="{FF2B5EF4-FFF2-40B4-BE49-F238E27FC236}">
                <a16:creationId xmlns:a16="http://schemas.microsoft.com/office/drawing/2014/main" id="{FBDD5925-3497-4527-A9DE-3D8703871D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a:p>
        </p:txBody>
      </p:sp>
      <p:sp>
        <p:nvSpPr>
          <p:cNvPr id="4" name="Segnaposto data 3">
            <a:extLst>
              <a:ext uri="{FF2B5EF4-FFF2-40B4-BE49-F238E27FC236}">
                <a16:creationId xmlns:a16="http://schemas.microsoft.com/office/drawing/2014/main" id="{04F339CC-31C4-4026-B8EE-6B7E9D574AA8}"/>
              </a:ext>
            </a:extLst>
          </p:cNvPr>
          <p:cNvSpPr>
            <a:spLocks noGrp="1"/>
          </p:cNvSpPr>
          <p:nvPr>
            <p:ph type="dt" sz="half" idx="10"/>
          </p:nvPr>
        </p:nvSpPr>
        <p:spPr/>
        <p:txBody>
          <a:bodyPr/>
          <a:lstStyle/>
          <a:p>
            <a:fld id="{439A1B69-16D3-4736-83EF-9AE7568B59A6}" type="datetimeFigureOut">
              <a:rPr lang="en-US" smtClean="0"/>
              <a:t>2/15/2022</a:t>
            </a:fld>
            <a:endParaRPr lang="en-US"/>
          </a:p>
        </p:txBody>
      </p:sp>
      <p:sp>
        <p:nvSpPr>
          <p:cNvPr id="5" name="Segnaposto piè di pagina 4">
            <a:extLst>
              <a:ext uri="{FF2B5EF4-FFF2-40B4-BE49-F238E27FC236}">
                <a16:creationId xmlns:a16="http://schemas.microsoft.com/office/drawing/2014/main" id="{05FA3494-CA24-4804-B275-98BA91BB74D8}"/>
              </a:ext>
            </a:extLst>
          </p:cNvPr>
          <p:cNvSpPr>
            <a:spLocks noGrp="1"/>
          </p:cNvSpPr>
          <p:nvPr>
            <p:ph type="ftr" sz="quarter" idx="11"/>
          </p:nvPr>
        </p:nvSpPr>
        <p:spPr/>
        <p:txBody>
          <a:bodyPr/>
          <a:lstStyle/>
          <a:p>
            <a:endParaRPr lang="en-US"/>
          </a:p>
        </p:txBody>
      </p:sp>
      <p:sp>
        <p:nvSpPr>
          <p:cNvPr id="6" name="Segnaposto numero diapositiva 5">
            <a:extLst>
              <a:ext uri="{FF2B5EF4-FFF2-40B4-BE49-F238E27FC236}">
                <a16:creationId xmlns:a16="http://schemas.microsoft.com/office/drawing/2014/main" id="{B444C801-5B4D-4D0E-92BF-C03CB1DFFC10}"/>
              </a:ext>
            </a:extLst>
          </p:cNvPr>
          <p:cNvSpPr>
            <a:spLocks noGrp="1"/>
          </p:cNvSpPr>
          <p:nvPr>
            <p:ph type="sldNum" sz="quarter" idx="12"/>
          </p:nvPr>
        </p:nvSpPr>
        <p:spPr/>
        <p:txBody>
          <a:bodyPr/>
          <a:lstStyle/>
          <a:p>
            <a:fld id="{ED4A31DD-F5E0-4CD9-9A36-20387337682B}" type="slidenum">
              <a:rPr lang="en-US" smtClean="0"/>
              <a:t>‹N›</a:t>
            </a:fld>
            <a:endParaRPr lang="en-US"/>
          </a:p>
        </p:txBody>
      </p:sp>
    </p:spTree>
    <p:extLst>
      <p:ext uri="{BB962C8B-B14F-4D97-AF65-F5344CB8AC3E}">
        <p14:creationId xmlns:p14="http://schemas.microsoft.com/office/powerpoint/2010/main" val="2915764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3A442-B3F4-4D7D-8FB0-91A6ECC3F8EC}"/>
              </a:ext>
            </a:extLst>
          </p:cNvPr>
          <p:cNvSpPr>
            <a:spLocks noGrp="1"/>
          </p:cNvSpPr>
          <p:nvPr>
            <p:ph type="title"/>
          </p:nvPr>
        </p:nvSpPr>
        <p:spPr/>
        <p:txBody>
          <a:bodyPr/>
          <a:lstStyle/>
          <a:p>
            <a:r>
              <a:rPr lang="it-IT"/>
              <a:t>Fare clic per modificare lo stile del titolo dello schema</a:t>
            </a:r>
            <a:endParaRPr lang="en-US"/>
          </a:p>
        </p:txBody>
      </p:sp>
      <p:sp>
        <p:nvSpPr>
          <p:cNvPr id="3" name="Segnaposto contenuto 2">
            <a:extLst>
              <a:ext uri="{FF2B5EF4-FFF2-40B4-BE49-F238E27FC236}">
                <a16:creationId xmlns:a16="http://schemas.microsoft.com/office/drawing/2014/main" id="{487BC7BC-58B1-441E-91B2-696ACC95449E}"/>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data 3">
            <a:extLst>
              <a:ext uri="{FF2B5EF4-FFF2-40B4-BE49-F238E27FC236}">
                <a16:creationId xmlns:a16="http://schemas.microsoft.com/office/drawing/2014/main" id="{7F3F6A46-9AEE-4967-A86B-76D207045B03}"/>
              </a:ext>
            </a:extLst>
          </p:cNvPr>
          <p:cNvSpPr>
            <a:spLocks noGrp="1"/>
          </p:cNvSpPr>
          <p:nvPr>
            <p:ph type="dt" sz="half" idx="10"/>
          </p:nvPr>
        </p:nvSpPr>
        <p:spPr/>
        <p:txBody>
          <a:bodyPr/>
          <a:lstStyle/>
          <a:p>
            <a:fld id="{439A1B69-16D3-4736-83EF-9AE7568B59A6}" type="datetimeFigureOut">
              <a:rPr lang="en-US" smtClean="0"/>
              <a:t>2/15/2022</a:t>
            </a:fld>
            <a:endParaRPr lang="en-US"/>
          </a:p>
        </p:txBody>
      </p:sp>
      <p:sp>
        <p:nvSpPr>
          <p:cNvPr id="5" name="Segnaposto piè di pagina 4">
            <a:extLst>
              <a:ext uri="{FF2B5EF4-FFF2-40B4-BE49-F238E27FC236}">
                <a16:creationId xmlns:a16="http://schemas.microsoft.com/office/drawing/2014/main" id="{51ECA2A6-721A-48BE-83C8-52ED9673C7EB}"/>
              </a:ext>
            </a:extLst>
          </p:cNvPr>
          <p:cNvSpPr>
            <a:spLocks noGrp="1"/>
          </p:cNvSpPr>
          <p:nvPr>
            <p:ph type="ftr" sz="quarter" idx="11"/>
          </p:nvPr>
        </p:nvSpPr>
        <p:spPr/>
        <p:txBody>
          <a:bodyPr/>
          <a:lstStyle/>
          <a:p>
            <a:endParaRPr lang="en-US"/>
          </a:p>
        </p:txBody>
      </p:sp>
      <p:sp>
        <p:nvSpPr>
          <p:cNvPr id="6" name="Segnaposto numero diapositiva 5">
            <a:extLst>
              <a:ext uri="{FF2B5EF4-FFF2-40B4-BE49-F238E27FC236}">
                <a16:creationId xmlns:a16="http://schemas.microsoft.com/office/drawing/2014/main" id="{8C037FDE-BD27-482B-B324-2EE4593D0E1C}"/>
              </a:ext>
            </a:extLst>
          </p:cNvPr>
          <p:cNvSpPr>
            <a:spLocks noGrp="1"/>
          </p:cNvSpPr>
          <p:nvPr>
            <p:ph type="sldNum" sz="quarter" idx="12"/>
          </p:nvPr>
        </p:nvSpPr>
        <p:spPr/>
        <p:txBody>
          <a:bodyPr/>
          <a:lstStyle/>
          <a:p>
            <a:fld id="{ED4A31DD-F5E0-4CD9-9A36-20387337682B}" type="slidenum">
              <a:rPr lang="en-US" smtClean="0"/>
              <a:t>‹N›</a:t>
            </a:fld>
            <a:endParaRPr lang="en-US"/>
          </a:p>
        </p:txBody>
      </p:sp>
    </p:spTree>
    <p:extLst>
      <p:ext uri="{BB962C8B-B14F-4D97-AF65-F5344CB8AC3E}">
        <p14:creationId xmlns:p14="http://schemas.microsoft.com/office/powerpoint/2010/main" val="4009259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C6B4770-FFC7-4A36-8295-4520500005FC}"/>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endParaRPr lang="en-US"/>
          </a:p>
        </p:txBody>
      </p:sp>
      <p:sp>
        <p:nvSpPr>
          <p:cNvPr id="3" name="Segnaposto testo 2">
            <a:extLst>
              <a:ext uri="{FF2B5EF4-FFF2-40B4-BE49-F238E27FC236}">
                <a16:creationId xmlns:a16="http://schemas.microsoft.com/office/drawing/2014/main" id="{39F0CDC0-E637-4C1E-B6F7-95FD483CB8D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9B282CBE-D3D5-49B6-8FA1-4A4655585869}"/>
              </a:ext>
            </a:extLst>
          </p:cNvPr>
          <p:cNvSpPr>
            <a:spLocks noGrp="1"/>
          </p:cNvSpPr>
          <p:nvPr>
            <p:ph type="dt" sz="half" idx="10"/>
          </p:nvPr>
        </p:nvSpPr>
        <p:spPr/>
        <p:txBody>
          <a:bodyPr/>
          <a:lstStyle/>
          <a:p>
            <a:fld id="{439A1B69-16D3-4736-83EF-9AE7568B59A6}" type="datetimeFigureOut">
              <a:rPr lang="en-US" smtClean="0"/>
              <a:t>2/15/2022</a:t>
            </a:fld>
            <a:endParaRPr lang="en-US"/>
          </a:p>
        </p:txBody>
      </p:sp>
      <p:sp>
        <p:nvSpPr>
          <p:cNvPr id="5" name="Segnaposto piè di pagina 4">
            <a:extLst>
              <a:ext uri="{FF2B5EF4-FFF2-40B4-BE49-F238E27FC236}">
                <a16:creationId xmlns:a16="http://schemas.microsoft.com/office/drawing/2014/main" id="{7E67D596-D91D-464B-93FC-D99BF9F951D1}"/>
              </a:ext>
            </a:extLst>
          </p:cNvPr>
          <p:cNvSpPr>
            <a:spLocks noGrp="1"/>
          </p:cNvSpPr>
          <p:nvPr>
            <p:ph type="ftr" sz="quarter" idx="11"/>
          </p:nvPr>
        </p:nvSpPr>
        <p:spPr/>
        <p:txBody>
          <a:bodyPr/>
          <a:lstStyle/>
          <a:p>
            <a:endParaRPr lang="en-US"/>
          </a:p>
        </p:txBody>
      </p:sp>
      <p:sp>
        <p:nvSpPr>
          <p:cNvPr id="6" name="Segnaposto numero diapositiva 5">
            <a:extLst>
              <a:ext uri="{FF2B5EF4-FFF2-40B4-BE49-F238E27FC236}">
                <a16:creationId xmlns:a16="http://schemas.microsoft.com/office/drawing/2014/main" id="{C213E02F-B28B-4A94-BD38-B7BC595695CE}"/>
              </a:ext>
            </a:extLst>
          </p:cNvPr>
          <p:cNvSpPr>
            <a:spLocks noGrp="1"/>
          </p:cNvSpPr>
          <p:nvPr>
            <p:ph type="sldNum" sz="quarter" idx="12"/>
          </p:nvPr>
        </p:nvSpPr>
        <p:spPr/>
        <p:txBody>
          <a:bodyPr/>
          <a:lstStyle/>
          <a:p>
            <a:fld id="{ED4A31DD-F5E0-4CD9-9A36-20387337682B}" type="slidenum">
              <a:rPr lang="en-US" smtClean="0"/>
              <a:t>‹N›</a:t>
            </a:fld>
            <a:endParaRPr lang="en-US"/>
          </a:p>
        </p:txBody>
      </p:sp>
    </p:spTree>
    <p:extLst>
      <p:ext uri="{BB962C8B-B14F-4D97-AF65-F5344CB8AC3E}">
        <p14:creationId xmlns:p14="http://schemas.microsoft.com/office/powerpoint/2010/main" val="1363575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2429C05-748D-4475-B44A-B7558A45E51E}"/>
              </a:ext>
            </a:extLst>
          </p:cNvPr>
          <p:cNvSpPr>
            <a:spLocks noGrp="1"/>
          </p:cNvSpPr>
          <p:nvPr>
            <p:ph type="title"/>
          </p:nvPr>
        </p:nvSpPr>
        <p:spPr/>
        <p:txBody>
          <a:bodyPr/>
          <a:lstStyle/>
          <a:p>
            <a:r>
              <a:rPr lang="it-IT"/>
              <a:t>Fare clic per modificare lo stile del titolo dello schema</a:t>
            </a:r>
            <a:endParaRPr lang="en-US"/>
          </a:p>
        </p:txBody>
      </p:sp>
      <p:sp>
        <p:nvSpPr>
          <p:cNvPr id="3" name="Segnaposto contenuto 2">
            <a:extLst>
              <a:ext uri="{FF2B5EF4-FFF2-40B4-BE49-F238E27FC236}">
                <a16:creationId xmlns:a16="http://schemas.microsoft.com/office/drawing/2014/main" id="{209F5819-962E-423C-A3C3-1CBC61C18ED0}"/>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contenuto 3">
            <a:extLst>
              <a:ext uri="{FF2B5EF4-FFF2-40B4-BE49-F238E27FC236}">
                <a16:creationId xmlns:a16="http://schemas.microsoft.com/office/drawing/2014/main" id="{A92692EC-0B28-4F41-9ED6-D123E677E72D}"/>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Segnaposto data 4">
            <a:extLst>
              <a:ext uri="{FF2B5EF4-FFF2-40B4-BE49-F238E27FC236}">
                <a16:creationId xmlns:a16="http://schemas.microsoft.com/office/drawing/2014/main" id="{E9153518-A02B-49EF-B659-5B1760C5D133}"/>
              </a:ext>
            </a:extLst>
          </p:cNvPr>
          <p:cNvSpPr>
            <a:spLocks noGrp="1"/>
          </p:cNvSpPr>
          <p:nvPr>
            <p:ph type="dt" sz="half" idx="10"/>
          </p:nvPr>
        </p:nvSpPr>
        <p:spPr/>
        <p:txBody>
          <a:bodyPr/>
          <a:lstStyle/>
          <a:p>
            <a:fld id="{439A1B69-16D3-4736-83EF-9AE7568B59A6}" type="datetimeFigureOut">
              <a:rPr lang="en-US" smtClean="0"/>
              <a:t>2/15/2022</a:t>
            </a:fld>
            <a:endParaRPr lang="en-US"/>
          </a:p>
        </p:txBody>
      </p:sp>
      <p:sp>
        <p:nvSpPr>
          <p:cNvPr id="6" name="Segnaposto piè di pagina 5">
            <a:extLst>
              <a:ext uri="{FF2B5EF4-FFF2-40B4-BE49-F238E27FC236}">
                <a16:creationId xmlns:a16="http://schemas.microsoft.com/office/drawing/2014/main" id="{EC135A6F-2452-40BC-AE33-111242F05257}"/>
              </a:ext>
            </a:extLst>
          </p:cNvPr>
          <p:cNvSpPr>
            <a:spLocks noGrp="1"/>
          </p:cNvSpPr>
          <p:nvPr>
            <p:ph type="ftr" sz="quarter" idx="11"/>
          </p:nvPr>
        </p:nvSpPr>
        <p:spPr/>
        <p:txBody>
          <a:bodyPr/>
          <a:lstStyle/>
          <a:p>
            <a:endParaRPr lang="en-US"/>
          </a:p>
        </p:txBody>
      </p:sp>
      <p:sp>
        <p:nvSpPr>
          <p:cNvPr id="7" name="Segnaposto numero diapositiva 6">
            <a:extLst>
              <a:ext uri="{FF2B5EF4-FFF2-40B4-BE49-F238E27FC236}">
                <a16:creationId xmlns:a16="http://schemas.microsoft.com/office/drawing/2014/main" id="{EAF1AF3B-D0FE-49CB-845A-BFFF21554780}"/>
              </a:ext>
            </a:extLst>
          </p:cNvPr>
          <p:cNvSpPr>
            <a:spLocks noGrp="1"/>
          </p:cNvSpPr>
          <p:nvPr>
            <p:ph type="sldNum" sz="quarter" idx="12"/>
          </p:nvPr>
        </p:nvSpPr>
        <p:spPr/>
        <p:txBody>
          <a:bodyPr/>
          <a:lstStyle/>
          <a:p>
            <a:fld id="{ED4A31DD-F5E0-4CD9-9A36-20387337682B}" type="slidenum">
              <a:rPr lang="en-US" smtClean="0"/>
              <a:t>‹N›</a:t>
            </a:fld>
            <a:endParaRPr lang="en-US"/>
          </a:p>
        </p:txBody>
      </p:sp>
    </p:spTree>
    <p:extLst>
      <p:ext uri="{BB962C8B-B14F-4D97-AF65-F5344CB8AC3E}">
        <p14:creationId xmlns:p14="http://schemas.microsoft.com/office/powerpoint/2010/main" val="49197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FB10D34-513A-4683-93A3-ADCDD3FB7F24}"/>
              </a:ext>
            </a:extLst>
          </p:cNvPr>
          <p:cNvSpPr>
            <a:spLocks noGrp="1"/>
          </p:cNvSpPr>
          <p:nvPr>
            <p:ph type="title"/>
          </p:nvPr>
        </p:nvSpPr>
        <p:spPr>
          <a:xfrm>
            <a:off x="839788" y="365125"/>
            <a:ext cx="10515600" cy="1325563"/>
          </a:xfrm>
        </p:spPr>
        <p:txBody>
          <a:bodyPr/>
          <a:lstStyle/>
          <a:p>
            <a:r>
              <a:rPr lang="it-IT"/>
              <a:t>Fare clic per modificare lo stile del titolo dello schema</a:t>
            </a:r>
            <a:endParaRPr lang="en-US"/>
          </a:p>
        </p:txBody>
      </p:sp>
      <p:sp>
        <p:nvSpPr>
          <p:cNvPr id="3" name="Segnaposto testo 2">
            <a:extLst>
              <a:ext uri="{FF2B5EF4-FFF2-40B4-BE49-F238E27FC236}">
                <a16:creationId xmlns:a16="http://schemas.microsoft.com/office/drawing/2014/main" id="{05B8FC67-7571-438A-AEAC-A2C635272F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8B1EE53F-21B5-4549-BB9B-4520B7E49554}"/>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Segnaposto testo 4">
            <a:extLst>
              <a:ext uri="{FF2B5EF4-FFF2-40B4-BE49-F238E27FC236}">
                <a16:creationId xmlns:a16="http://schemas.microsoft.com/office/drawing/2014/main" id="{1D769B07-7732-44DE-AA10-C38A593863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8EFABE96-4316-44B7-80DE-F211FE3C0A2F}"/>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7" name="Segnaposto data 6">
            <a:extLst>
              <a:ext uri="{FF2B5EF4-FFF2-40B4-BE49-F238E27FC236}">
                <a16:creationId xmlns:a16="http://schemas.microsoft.com/office/drawing/2014/main" id="{F9BF55B2-58E3-46EA-98B7-6B571C2C38F8}"/>
              </a:ext>
            </a:extLst>
          </p:cNvPr>
          <p:cNvSpPr>
            <a:spLocks noGrp="1"/>
          </p:cNvSpPr>
          <p:nvPr>
            <p:ph type="dt" sz="half" idx="10"/>
          </p:nvPr>
        </p:nvSpPr>
        <p:spPr/>
        <p:txBody>
          <a:bodyPr/>
          <a:lstStyle/>
          <a:p>
            <a:fld id="{439A1B69-16D3-4736-83EF-9AE7568B59A6}" type="datetimeFigureOut">
              <a:rPr lang="en-US" smtClean="0"/>
              <a:t>2/15/2022</a:t>
            </a:fld>
            <a:endParaRPr lang="en-US"/>
          </a:p>
        </p:txBody>
      </p:sp>
      <p:sp>
        <p:nvSpPr>
          <p:cNvPr id="8" name="Segnaposto piè di pagina 7">
            <a:extLst>
              <a:ext uri="{FF2B5EF4-FFF2-40B4-BE49-F238E27FC236}">
                <a16:creationId xmlns:a16="http://schemas.microsoft.com/office/drawing/2014/main" id="{7E7E2C0E-5AA8-48CD-BAE4-2476CF0E1CE2}"/>
              </a:ext>
            </a:extLst>
          </p:cNvPr>
          <p:cNvSpPr>
            <a:spLocks noGrp="1"/>
          </p:cNvSpPr>
          <p:nvPr>
            <p:ph type="ftr" sz="quarter" idx="11"/>
          </p:nvPr>
        </p:nvSpPr>
        <p:spPr/>
        <p:txBody>
          <a:bodyPr/>
          <a:lstStyle/>
          <a:p>
            <a:endParaRPr lang="en-US"/>
          </a:p>
        </p:txBody>
      </p:sp>
      <p:sp>
        <p:nvSpPr>
          <p:cNvPr id="9" name="Segnaposto numero diapositiva 8">
            <a:extLst>
              <a:ext uri="{FF2B5EF4-FFF2-40B4-BE49-F238E27FC236}">
                <a16:creationId xmlns:a16="http://schemas.microsoft.com/office/drawing/2014/main" id="{2CA78840-2AE8-4BA5-8541-9B7DFA2180ED}"/>
              </a:ext>
            </a:extLst>
          </p:cNvPr>
          <p:cNvSpPr>
            <a:spLocks noGrp="1"/>
          </p:cNvSpPr>
          <p:nvPr>
            <p:ph type="sldNum" sz="quarter" idx="12"/>
          </p:nvPr>
        </p:nvSpPr>
        <p:spPr/>
        <p:txBody>
          <a:bodyPr/>
          <a:lstStyle/>
          <a:p>
            <a:fld id="{ED4A31DD-F5E0-4CD9-9A36-20387337682B}" type="slidenum">
              <a:rPr lang="en-US" smtClean="0"/>
              <a:t>‹N›</a:t>
            </a:fld>
            <a:endParaRPr lang="en-US"/>
          </a:p>
        </p:txBody>
      </p:sp>
    </p:spTree>
    <p:extLst>
      <p:ext uri="{BB962C8B-B14F-4D97-AF65-F5344CB8AC3E}">
        <p14:creationId xmlns:p14="http://schemas.microsoft.com/office/powerpoint/2010/main" val="2700249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4ABFCE3-0201-43F4-B809-9F68EB47ACAC}"/>
              </a:ext>
            </a:extLst>
          </p:cNvPr>
          <p:cNvSpPr>
            <a:spLocks noGrp="1"/>
          </p:cNvSpPr>
          <p:nvPr>
            <p:ph type="title"/>
          </p:nvPr>
        </p:nvSpPr>
        <p:spPr/>
        <p:txBody>
          <a:bodyPr/>
          <a:lstStyle/>
          <a:p>
            <a:r>
              <a:rPr lang="it-IT"/>
              <a:t>Fare clic per modificare lo stile del titolo dello schema</a:t>
            </a:r>
            <a:endParaRPr lang="en-US"/>
          </a:p>
        </p:txBody>
      </p:sp>
      <p:sp>
        <p:nvSpPr>
          <p:cNvPr id="3" name="Segnaposto data 2">
            <a:extLst>
              <a:ext uri="{FF2B5EF4-FFF2-40B4-BE49-F238E27FC236}">
                <a16:creationId xmlns:a16="http://schemas.microsoft.com/office/drawing/2014/main" id="{00D86849-9ABD-41BC-81B6-616148532F4B}"/>
              </a:ext>
            </a:extLst>
          </p:cNvPr>
          <p:cNvSpPr>
            <a:spLocks noGrp="1"/>
          </p:cNvSpPr>
          <p:nvPr>
            <p:ph type="dt" sz="half" idx="10"/>
          </p:nvPr>
        </p:nvSpPr>
        <p:spPr/>
        <p:txBody>
          <a:bodyPr/>
          <a:lstStyle/>
          <a:p>
            <a:fld id="{439A1B69-16D3-4736-83EF-9AE7568B59A6}" type="datetimeFigureOut">
              <a:rPr lang="en-US" smtClean="0"/>
              <a:t>2/15/2022</a:t>
            </a:fld>
            <a:endParaRPr lang="en-US"/>
          </a:p>
        </p:txBody>
      </p:sp>
      <p:sp>
        <p:nvSpPr>
          <p:cNvPr id="4" name="Segnaposto piè di pagina 3">
            <a:extLst>
              <a:ext uri="{FF2B5EF4-FFF2-40B4-BE49-F238E27FC236}">
                <a16:creationId xmlns:a16="http://schemas.microsoft.com/office/drawing/2014/main" id="{2EF2FB66-17E4-4824-AC50-D55F7EB60A6D}"/>
              </a:ext>
            </a:extLst>
          </p:cNvPr>
          <p:cNvSpPr>
            <a:spLocks noGrp="1"/>
          </p:cNvSpPr>
          <p:nvPr>
            <p:ph type="ftr" sz="quarter" idx="11"/>
          </p:nvPr>
        </p:nvSpPr>
        <p:spPr/>
        <p:txBody>
          <a:bodyPr/>
          <a:lstStyle/>
          <a:p>
            <a:endParaRPr lang="en-US"/>
          </a:p>
        </p:txBody>
      </p:sp>
      <p:sp>
        <p:nvSpPr>
          <p:cNvPr id="5" name="Segnaposto numero diapositiva 4">
            <a:extLst>
              <a:ext uri="{FF2B5EF4-FFF2-40B4-BE49-F238E27FC236}">
                <a16:creationId xmlns:a16="http://schemas.microsoft.com/office/drawing/2014/main" id="{F68CD7CD-EF48-4DD6-994D-4023255AE7C2}"/>
              </a:ext>
            </a:extLst>
          </p:cNvPr>
          <p:cNvSpPr>
            <a:spLocks noGrp="1"/>
          </p:cNvSpPr>
          <p:nvPr>
            <p:ph type="sldNum" sz="quarter" idx="12"/>
          </p:nvPr>
        </p:nvSpPr>
        <p:spPr/>
        <p:txBody>
          <a:bodyPr/>
          <a:lstStyle/>
          <a:p>
            <a:fld id="{ED4A31DD-F5E0-4CD9-9A36-20387337682B}" type="slidenum">
              <a:rPr lang="en-US" smtClean="0"/>
              <a:t>‹N›</a:t>
            </a:fld>
            <a:endParaRPr lang="en-US"/>
          </a:p>
        </p:txBody>
      </p:sp>
    </p:spTree>
    <p:extLst>
      <p:ext uri="{BB962C8B-B14F-4D97-AF65-F5344CB8AC3E}">
        <p14:creationId xmlns:p14="http://schemas.microsoft.com/office/powerpoint/2010/main" val="3934239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26B91746-BF28-419E-AB67-20EC30C4029A}"/>
              </a:ext>
            </a:extLst>
          </p:cNvPr>
          <p:cNvSpPr>
            <a:spLocks noGrp="1"/>
          </p:cNvSpPr>
          <p:nvPr>
            <p:ph type="dt" sz="half" idx="10"/>
          </p:nvPr>
        </p:nvSpPr>
        <p:spPr/>
        <p:txBody>
          <a:bodyPr/>
          <a:lstStyle/>
          <a:p>
            <a:fld id="{439A1B69-16D3-4736-83EF-9AE7568B59A6}" type="datetimeFigureOut">
              <a:rPr lang="en-US" smtClean="0"/>
              <a:t>2/15/2022</a:t>
            </a:fld>
            <a:endParaRPr lang="en-US"/>
          </a:p>
        </p:txBody>
      </p:sp>
      <p:sp>
        <p:nvSpPr>
          <p:cNvPr id="3" name="Segnaposto piè di pagina 2">
            <a:extLst>
              <a:ext uri="{FF2B5EF4-FFF2-40B4-BE49-F238E27FC236}">
                <a16:creationId xmlns:a16="http://schemas.microsoft.com/office/drawing/2014/main" id="{AFF04942-B094-450F-90C7-3EA01C122439}"/>
              </a:ext>
            </a:extLst>
          </p:cNvPr>
          <p:cNvSpPr>
            <a:spLocks noGrp="1"/>
          </p:cNvSpPr>
          <p:nvPr>
            <p:ph type="ftr" sz="quarter" idx="11"/>
          </p:nvPr>
        </p:nvSpPr>
        <p:spPr/>
        <p:txBody>
          <a:bodyPr/>
          <a:lstStyle/>
          <a:p>
            <a:endParaRPr lang="en-US"/>
          </a:p>
        </p:txBody>
      </p:sp>
      <p:sp>
        <p:nvSpPr>
          <p:cNvPr id="4" name="Segnaposto numero diapositiva 3">
            <a:extLst>
              <a:ext uri="{FF2B5EF4-FFF2-40B4-BE49-F238E27FC236}">
                <a16:creationId xmlns:a16="http://schemas.microsoft.com/office/drawing/2014/main" id="{8E13CAE1-A0D3-4041-B40B-7D19BC2593E7}"/>
              </a:ext>
            </a:extLst>
          </p:cNvPr>
          <p:cNvSpPr>
            <a:spLocks noGrp="1"/>
          </p:cNvSpPr>
          <p:nvPr>
            <p:ph type="sldNum" sz="quarter" idx="12"/>
          </p:nvPr>
        </p:nvSpPr>
        <p:spPr/>
        <p:txBody>
          <a:bodyPr/>
          <a:lstStyle/>
          <a:p>
            <a:fld id="{ED4A31DD-F5E0-4CD9-9A36-20387337682B}" type="slidenum">
              <a:rPr lang="en-US" smtClean="0"/>
              <a:t>‹N›</a:t>
            </a:fld>
            <a:endParaRPr lang="en-US"/>
          </a:p>
        </p:txBody>
      </p:sp>
    </p:spTree>
    <p:extLst>
      <p:ext uri="{BB962C8B-B14F-4D97-AF65-F5344CB8AC3E}">
        <p14:creationId xmlns:p14="http://schemas.microsoft.com/office/powerpoint/2010/main" val="11050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78BE244-6F58-4AA5-A7A4-D5BCC0B00898}"/>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endParaRPr lang="en-US"/>
          </a:p>
        </p:txBody>
      </p:sp>
      <p:sp>
        <p:nvSpPr>
          <p:cNvPr id="3" name="Segnaposto contenuto 2">
            <a:extLst>
              <a:ext uri="{FF2B5EF4-FFF2-40B4-BE49-F238E27FC236}">
                <a16:creationId xmlns:a16="http://schemas.microsoft.com/office/drawing/2014/main" id="{E3ABC0BD-1352-4528-A62A-FCB27C0816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testo 3">
            <a:extLst>
              <a:ext uri="{FF2B5EF4-FFF2-40B4-BE49-F238E27FC236}">
                <a16:creationId xmlns:a16="http://schemas.microsoft.com/office/drawing/2014/main" id="{8555459A-E93F-4DE3-8D0C-32DD1AB245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B641E155-876F-4718-956C-8B53EE31567A}"/>
              </a:ext>
            </a:extLst>
          </p:cNvPr>
          <p:cNvSpPr>
            <a:spLocks noGrp="1"/>
          </p:cNvSpPr>
          <p:nvPr>
            <p:ph type="dt" sz="half" idx="10"/>
          </p:nvPr>
        </p:nvSpPr>
        <p:spPr/>
        <p:txBody>
          <a:bodyPr/>
          <a:lstStyle/>
          <a:p>
            <a:fld id="{439A1B69-16D3-4736-83EF-9AE7568B59A6}" type="datetimeFigureOut">
              <a:rPr lang="en-US" smtClean="0"/>
              <a:t>2/15/2022</a:t>
            </a:fld>
            <a:endParaRPr lang="en-US"/>
          </a:p>
        </p:txBody>
      </p:sp>
      <p:sp>
        <p:nvSpPr>
          <p:cNvPr id="6" name="Segnaposto piè di pagina 5">
            <a:extLst>
              <a:ext uri="{FF2B5EF4-FFF2-40B4-BE49-F238E27FC236}">
                <a16:creationId xmlns:a16="http://schemas.microsoft.com/office/drawing/2014/main" id="{B6818EB8-F508-4A35-A159-E554366612A3}"/>
              </a:ext>
            </a:extLst>
          </p:cNvPr>
          <p:cNvSpPr>
            <a:spLocks noGrp="1"/>
          </p:cNvSpPr>
          <p:nvPr>
            <p:ph type="ftr" sz="quarter" idx="11"/>
          </p:nvPr>
        </p:nvSpPr>
        <p:spPr/>
        <p:txBody>
          <a:bodyPr/>
          <a:lstStyle/>
          <a:p>
            <a:endParaRPr lang="en-US"/>
          </a:p>
        </p:txBody>
      </p:sp>
      <p:sp>
        <p:nvSpPr>
          <p:cNvPr id="7" name="Segnaposto numero diapositiva 6">
            <a:extLst>
              <a:ext uri="{FF2B5EF4-FFF2-40B4-BE49-F238E27FC236}">
                <a16:creationId xmlns:a16="http://schemas.microsoft.com/office/drawing/2014/main" id="{0E428675-C382-4825-BAB3-87034D4E8821}"/>
              </a:ext>
            </a:extLst>
          </p:cNvPr>
          <p:cNvSpPr>
            <a:spLocks noGrp="1"/>
          </p:cNvSpPr>
          <p:nvPr>
            <p:ph type="sldNum" sz="quarter" idx="12"/>
          </p:nvPr>
        </p:nvSpPr>
        <p:spPr/>
        <p:txBody>
          <a:bodyPr/>
          <a:lstStyle/>
          <a:p>
            <a:fld id="{ED4A31DD-F5E0-4CD9-9A36-20387337682B}" type="slidenum">
              <a:rPr lang="en-US" smtClean="0"/>
              <a:t>‹N›</a:t>
            </a:fld>
            <a:endParaRPr lang="en-US"/>
          </a:p>
        </p:txBody>
      </p:sp>
    </p:spTree>
    <p:extLst>
      <p:ext uri="{BB962C8B-B14F-4D97-AF65-F5344CB8AC3E}">
        <p14:creationId xmlns:p14="http://schemas.microsoft.com/office/powerpoint/2010/main" val="2183587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460483A-D4FA-467E-8B1D-E4856EFF01A3}"/>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endParaRPr lang="en-US"/>
          </a:p>
        </p:txBody>
      </p:sp>
      <p:sp>
        <p:nvSpPr>
          <p:cNvPr id="3" name="Segnaposto immagine 2">
            <a:extLst>
              <a:ext uri="{FF2B5EF4-FFF2-40B4-BE49-F238E27FC236}">
                <a16:creationId xmlns:a16="http://schemas.microsoft.com/office/drawing/2014/main" id="{9C03C5F0-1C2B-4C4E-AA34-7167B3818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Segnaposto testo 3">
            <a:extLst>
              <a:ext uri="{FF2B5EF4-FFF2-40B4-BE49-F238E27FC236}">
                <a16:creationId xmlns:a16="http://schemas.microsoft.com/office/drawing/2014/main" id="{5F1E971A-57DF-47E9-B2FA-91D734448F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C3B71F3A-117D-437D-82C1-C76A5E495A9E}"/>
              </a:ext>
            </a:extLst>
          </p:cNvPr>
          <p:cNvSpPr>
            <a:spLocks noGrp="1"/>
          </p:cNvSpPr>
          <p:nvPr>
            <p:ph type="dt" sz="half" idx="10"/>
          </p:nvPr>
        </p:nvSpPr>
        <p:spPr/>
        <p:txBody>
          <a:bodyPr/>
          <a:lstStyle/>
          <a:p>
            <a:fld id="{439A1B69-16D3-4736-83EF-9AE7568B59A6}" type="datetimeFigureOut">
              <a:rPr lang="en-US" smtClean="0"/>
              <a:t>2/15/2022</a:t>
            </a:fld>
            <a:endParaRPr lang="en-US"/>
          </a:p>
        </p:txBody>
      </p:sp>
      <p:sp>
        <p:nvSpPr>
          <p:cNvPr id="6" name="Segnaposto piè di pagina 5">
            <a:extLst>
              <a:ext uri="{FF2B5EF4-FFF2-40B4-BE49-F238E27FC236}">
                <a16:creationId xmlns:a16="http://schemas.microsoft.com/office/drawing/2014/main" id="{D9345574-0F93-4A11-B321-5A8D29B8E125}"/>
              </a:ext>
            </a:extLst>
          </p:cNvPr>
          <p:cNvSpPr>
            <a:spLocks noGrp="1"/>
          </p:cNvSpPr>
          <p:nvPr>
            <p:ph type="ftr" sz="quarter" idx="11"/>
          </p:nvPr>
        </p:nvSpPr>
        <p:spPr/>
        <p:txBody>
          <a:bodyPr/>
          <a:lstStyle/>
          <a:p>
            <a:endParaRPr lang="en-US"/>
          </a:p>
        </p:txBody>
      </p:sp>
      <p:sp>
        <p:nvSpPr>
          <p:cNvPr id="7" name="Segnaposto numero diapositiva 6">
            <a:extLst>
              <a:ext uri="{FF2B5EF4-FFF2-40B4-BE49-F238E27FC236}">
                <a16:creationId xmlns:a16="http://schemas.microsoft.com/office/drawing/2014/main" id="{CE4C0908-3543-49F8-B7FE-A50D22D25C2A}"/>
              </a:ext>
            </a:extLst>
          </p:cNvPr>
          <p:cNvSpPr>
            <a:spLocks noGrp="1"/>
          </p:cNvSpPr>
          <p:nvPr>
            <p:ph type="sldNum" sz="quarter" idx="12"/>
          </p:nvPr>
        </p:nvSpPr>
        <p:spPr/>
        <p:txBody>
          <a:bodyPr/>
          <a:lstStyle/>
          <a:p>
            <a:fld id="{ED4A31DD-F5E0-4CD9-9A36-20387337682B}" type="slidenum">
              <a:rPr lang="en-US" smtClean="0"/>
              <a:t>‹N›</a:t>
            </a:fld>
            <a:endParaRPr lang="en-US"/>
          </a:p>
        </p:txBody>
      </p:sp>
    </p:spTree>
    <p:extLst>
      <p:ext uri="{BB962C8B-B14F-4D97-AF65-F5344CB8AC3E}">
        <p14:creationId xmlns:p14="http://schemas.microsoft.com/office/powerpoint/2010/main" val="1187905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ECB2A02-4BC2-4161-AD88-DC99A574BFD4}"/>
              </a:ext>
            </a:extLst>
          </p:cNvPr>
          <p:cNvSpPr>
            <a:spLocks noGrp="1"/>
          </p:cNvSpPr>
          <p:nvPr>
            <p:ph type="title"/>
          </p:nvPr>
        </p:nvSpPr>
        <p:spPr/>
        <p:txBody>
          <a:bodyPr/>
          <a:lstStyle/>
          <a:p>
            <a:r>
              <a:rPr lang="it-IT"/>
              <a:t>Fare clic per modificare lo stile del titolo dello schema</a:t>
            </a:r>
            <a:endParaRPr lang="en-US"/>
          </a:p>
        </p:txBody>
      </p:sp>
      <p:sp>
        <p:nvSpPr>
          <p:cNvPr id="3" name="Segnaposto testo verticale 2">
            <a:extLst>
              <a:ext uri="{FF2B5EF4-FFF2-40B4-BE49-F238E27FC236}">
                <a16:creationId xmlns:a16="http://schemas.microsoft.com/office/drawing/2014/main" id="{1129A2CB-9DC4-46F6-8D35-EAD3EFCBD080}"/>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data 3">
            <a:extLst>
              <a:ext uri="{FF2B5EF4-FFF2-40B4-BE49-F238E27FC236}">
                <a16:creationId xmlns:a16="http://schemas.microsoft.com/office/drawing/2014/main" id="{B3E542D5-B816-4D81-8B70-E792856AB5DA}"/>
              </a:ext>
            </a:extLst>
          </p:cNvPr>
          <p:cNvSpPr>
            <a:spLocks noGrp="1"/>
          </p:cNvSpPr>
          <p:nvPr>
            <p:ph type="dt" sz="half" idx="10"/>
          </p:nvPr>
        </p:nvSpPr>
        <p:spPr/>
        <p:txBody>
          <a:bodyPr/>
          <a:lstStyle/>
          <a:p>
            <a:fld id="{439A1B69-16D3-4736-83EF-9AE7568B59A6}" type="datetimeFigureOut">
              <a:rPr lang="en-US" smtClean="0"/>
              <a:t>2/15/2022</a:t>
            </a:fld>
            <a:endParaRPr lang="en-US"/>
          </a:p>
        </p:txBody>
      </p:sp>
      <p:sp>
        <p:nvSpPr>
          <p:cNvPr id="5" name="Segnaposto piè di pagina 4">
            <a:extLst>
              <a:ext uri="{FF2B5EF4-FFF2-40B4-BE49-F238E27FC236}">
                <a16:creationId xmlns:a16="http://schemas.microsoft.com/office/drawing/2014/main" id="{F4E6FABE-F2BC-48D1-BEFB-AAF27E8ACF90}"/>
              </a:ext>
            </a:extLst>
          </p:cNvPr>
          <p:cNvSpPr>
            <a:spLocks noGrp="1"/>
          </p:cNvSpPr>
          <p:nvPr>
            <p:ph type="ftr" sz="quarter" idx="11"/>
          </p:nvPr>
        </p:nvSpPr>
        <p:spPr/>
        <p:txBody>
          <a:bodyPr/>
          <a:lstStyle/>
          <a:p>
            <a:endParaRPr lang="en-US"/>
          </a:p>
        </p:txBody>
      </p:sp>
      <p:sp>
        <p:nvSpPr>
          <p:cNvPr id="6" name="Segnaposto numero diapositiva 5">
            <a:extLst>
              <a:ext uri="{FF2B5EF4-FFF2-40B4-BE49-F238E27FC236}">
                <a16:creationId xmlns:a16="http://schemas.microsoft.com/office/drawing/2014/main" id="{C354823A-4459-4B5F-8977-5DC0C35B3460}"/>
              </a:ext>
            </a:extLst>
          </p:cNvPr>
          <p:cNvSpPr>
            <a:spLocks noGrp="1"/>
          </p:cNvSpPr>
          <p:nvPr>
            <p:ph type="sldNum" sz="quarter" idx="12"/>
          </p:nvPr>
        </p:nvSpPr>
        <p:spPr/>
        <p:txBody>
          <a:bodyPr/>
          <a:lstStyle/>
          <a:p>
            <a:fld id="{ED4A31DD-F5E0-4CD9-9A36-20387337682B}" type="slidenum">
              <a:rPr lang="en-US" smtClean="0"/>
              <a:t>‹N›</a:t>
            </a:fld>
            <a:endParaRPr lang="en-US"/>
          </a:p>
        </p:txBody>
      </p:sp>
    </p:spTree>
    <p:extLst>
      <p:ext uri="{BB962C8B-B14F-4D97-AF65-F5344CB8AC3E}">
        <p14:creationId xmlns:p14="http://schemas.microsoft.com/office/powerpoint/2010/main" val="2506520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7B605A56-E409-439F-9DA9-0370225B5EC2}"/>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endParaRPr lang="en-US"/>
          </a:p>
        </p:txBody>
      </p:sp>
      <p:sp>
        <p:nvSpPr>
          <p:cNvPr id="3" name="Segnaposto testo verticale 2">
            <a:extLst>
              <a:ext uri="{FF2B5EF4-FFF2-40B4-BE49-F238E27FC236}">
                <a16:creationId xmlns:a16="http://schemas.microsoft.com/office/drawing/2014/main" id="{C1AD6CD6-7698-49D0-8615-B5225A791C1A}"/>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data 3">
            <a:extLst>
              <a:ext uri="{FF2B5EF4-FFF2-40B4-BE49-F238E27FC236}">
                <a16:creationId xmlns:a16="http://schemas.microsoft.com/office/drawing/2014/main" id="{9F5AD7B9-2DB0-4F3D-A99A-636B01465421}"/>
              </a:ext>
            </a:extLst>
          </p:cNvPr>
          <p:cNvSpPr>
            <a:spLocks noGrp="1"/>
          </p:cNvSpPr>
          <p:nvPr>
            <p:ph type="dt" sz="half" idx="10"/>
          </p:nvPr>
        </p:nvSpPr>
        <p:spPr/>
        <p:txBody>
          <a:bodyPr/>
          <a:lstStyle/>
          <a:p>
            <a:fld id="{439A1B69-16D3-4736-83EF-9AE7568B59A6}" type="datetimeFigureOut">
              <a:rPr lang="en-US" smtClean="0"/>
              <a:t>2/15/2022</a:t>
            </a:fld>
            <a:endParaRPr lang="en-US"/>
          </a:p>
        </p:txBody>
      </p:sp>
      <p:sp>
        <p:nvSpPr>
          <p:cNvPr id="5" name="Segnaposto piè di pagina 4">
            <a:extLst>
              <a:ext uri="{FF2B5EF4-FFF2-40B4-BE49-F238E27FC236}">
                <a16:creationId xmlns:a16="http://schemas.microsoft.com/office/drawing/2014/main" id="{91F3A89C-FAE2-4222-A1CB-4115A4342753}"/>
              </a:ext>
            </a:extLst>
          </p:cNvPr>
          <p:cNvSpPr>
            <a:spLocks noGrp="1"/>
          </p:cNvSpPr>
          <p:nvPr>
            <p:ph type="ftr" sz="quarter" idx="11"/>
          </p:nvPr>
        </p:nvSpPr>
        <p:spPr/>
        <p:txBody>
          <a:bodyPr/>
          <a:lstStyle/>
          <a:p>
            <a:endParaRPr lang="en-US"/>
          </a:p>
        </p:txBody>
      </p:sp>
      <p:sp>
        <p:nvSpPr>
          <p:cNvPr id="6" name="Segnaposto numero diapositiva 5">
            <a:extLst>
              <a:ext uri="{FF2B5EF4-FFF2-40B4-BE49-F238E27FC236}">
                <a16:creationId xmlns:a16="http://schemas.microsoft.com/office/drawing/2014/main" id="{2FDC7114-5C11-4428-AE87-C0E079CD437F}"/>
              </a:ext>
            </a:extLst>
          </p:cNvPr>
          <p:cNvSpPr>
            <a:spLocks noGrp="1"/>
          </p:cNvSpPr>
          <p:nvPr>
            <p:ph type="sldNum" sz="quarter" idx="12"/>
          </p:nvPr>
        </p:nvSpPr>
        <p:spPr/>
        <p:txBody>
          <a:bodyPr/>
          <a:lstStyle/>
          <a:p>
            <a:fld id="{ED4A31DD-F5E0-4CD9-9A36-20387337682B}" type="slidenum">
              <a:rPr lang="en-US" smtClean="0"/>
              <a:t>‹N›</a:t>
            </a:fld>
            <a:endParaRPr lang="en-US"/>
          </a:p>
        </p:txBody>
      </p:sp>
    </p:spTree>
    <p:extLst>
      <p:ext uri="{BB962C8B-B14F-4D97-AF65-F5344CB8AC3E}">
        <p14:creationId xmlns:p14="http://schemas.microsoft.com/office/powerpoint/2010/main" val="4114897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8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16200000" scaled="1"/>
          <a:tileRect/>
        </a:gradFill>
        <a:effectLst/>
      </p:bgPr>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2D528448-7789-4F63-9E2D-93717D2803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endParaRPr lang="en-US"/>
          </a:p>
        </p:txBody>
      </p:sp>
      <p:sp>
        <p:nvSpPr>
          <p:cNvPr id="3" name="Segnaposto testo 2">
            <a:extLst>
              <a:ext uri="{FF2B5EF4-FFF2-40B4-BE49-F238E27FC236}">
                <a16:creationId xmlns:a16="http://schemas.microsoft.com/office/drawing/2014/main" id="{3A84D83D-75BE-45FD-A23E-8C6329E7C6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data 3">
            <a:extLst>
              <a:ext uri="{FF2B5EF4-FFF2-40B4-BE49-F238E27FC236}">
                <a16:creationId xmlns:a16="http://schemas.microsoft.com/office/drawing/2014/main" id="{2D08E8E1-CC45-4258-A23E-982760A8AC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9A1B69-16D3-4736-83EF-9AE7568B59A6}" type="datetimeFigureOut">
              <a:rPr lang="en-US" smtClean="0"/>
              <a:t>2/15/2022</a:t>
            </a:fld>
            <a:endParaRPr lang="en-US"/>
          </a:p>
        </p:txBody>
      </p:sp>
      <p:sp>
        <p:nvSpPr>
          <p:cNvPr id="5" name="Segnaposto piè di pagina 4">
            <a:extLst>
              <a:ext uri="{FF2B5EF4-FFF2-40B4-BE49-F238E27FC236}">
                <a16:creationId xmlns:a16="http://schemas.microsoft.com/office/drawing/2014/main" id="{52CC485F-361F-4E1C-B6EA-178EEE7DAD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egnaposto numero diapositiva 5">
            <a:extLst>
              <a:ext uri="{FF2B5EF4-FFF2-40B4-BE49-F238E27FC236}">
                <a16:creationId xmlns:a16="http://schemas.microsoft.com/office/drawing/2014/main" id="{70B931C7-BDC2-4542-8DA4-DDE22A1523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4A31DD-F5E0-4CD9-9A36-20387337682B}" type="slidenum">
              <a:rPr lang="en-US" smtClean="0"/>
              <a:t>‹N›</a:t>
            </a:fld>
            <a:endParaRPr lang="en-US"/>
          </a:p>
        </p:txBody>
      </p:sp>
    </p:spTree>
    <p:extLst>
      <p:ext uri="{BB962C8B-B14F-4D97-AF65-F5344CB8AC3E}">
        <p14:creationId xmlns:p14="http://schemas.microsoft.com/office/powerpoint/2010/main" val="23785138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0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7"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0.png"/></Relationships>
</file>

<file path=ppt/slides/_rels/slide3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5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8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5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5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650.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56.xml.rels><?xml version="1.0" encoding="UTF-8" standalone="yes"?>
<Relationships xmlns="http://schemas.openxmlformats.org/package/2006/relationships"><Relationship Id="rId2" Type="http://schemas.openxmlformats.org/officeDocument/2006/relationships/image" Target="../media/image68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5" Type="http://schemas.openxmlformats.org/officeDocument/2006/relationships/image" Target="../media/image730.png"/><Relationship Id="rId4" Type="http://schemas.openxmlformats.org/officeDocument/2006/relationships/image" Target="../media/image720.png"/></Relationships>
</file>

<file path=ppt/slides/_rels/slide5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045A57FB-AAF0-4D02-8275-532CEE9084ED}"/>
              </a:ext>
            </a:extLst>
          </p:cNvPr>
          <p:cNvSpPr txBox="1"/>
          <p:nvPr/>
        </p:nvSpPr>
        <p:spPr>
          <a:xfrm>
            <a:off x="2051976" y="1590623"/>
            <a:ext cx="8548683" cy="1446550"/>
          </a:xfrm>
          <a:prstGeom prst="rect">
            <a:avLst/>
          </a:prstGeom>
          <a:noFill/>
        </p:spPr>
        <p:txBody>
          <a:bodyPr wrap="square" rtlCol="0">
            <a:spAutoFit/>
          </a:bodyPr>
          <a:lstStyle/>
          <a:p>
            <a:pPr algn="ctr"/>
            <a:r>
              <a:rPr lang="it-IT" sz="4400" b="1" dirty="0">
                <a:solidFill>
                  <a:schemeClr val="accent1">
                    <a:lumMod val="50000"/>
                  </a:schemeClr>
                </a:solidFill>
                <a:latin typeface="+mj-lt"/>
              </a:rPr>
              <a:t>Quantum </a:t>
            </a:r>
            <a:r>
              <a:rPr lang="it-IT" sz="4400" b="1" dirty="0" err="1">
                <a:solidFill>
                  <a:schemeClr val="accent1">
                    <a:lumMod val="50000"/>
                  </a:schemeClr>
                </a:solidFill>
                <a:latin typeface="+mj-lt"/>
              </a:rPr>
              <a:t>Hopfield</a:t>
            </a:r>
            <a:r>
              <a:rPr lang="it-IT" sz="4400" b="1" dirty="0">
                <a:solidFill>
                  <a:schemeClr val="accent1">
                    <a:lumMod val="50000"/>
                  </a:schemeClr>
                </a:solidFill>
                <a:latin typeface="+mj-lt"/>
              </a:rPr>
              <a:t> </a:t>
            </a:r>
            <a:r>
              <a:rPr lang="it-IT" sz="4400" b="1" dirty="0" err="1">
                <a:solidFill>
                  <a:schemeClr val="accent1">
                    <a:lumMod val="50000"/>
                  </a:schemeClr>
                </a:solidFill>
                <a:latin typeface="+mj-lt"/>
              </a:rPr>
              <a:t>Neural</a:t>
            </a:r>
            <a:r>
              <a:rPr lang="it-IT" sz="4400" b="1" dirty="0">
                <a:solidFill>
                  <a:schemeClr val="accent1">
                    <a:lumMod val="50000"/>
                  </a:schemeClr>
                </a:solidFill>
                <a:latin typeface="+mj-lt"/>
              </a:rPr>
              <a:t> Networks </a:t>
            </a:r>
          </a:p>
          <a:p>
            <a:pPr algn="ctr"/>
            <a:r>
              <a:rPr lang="it-IT" sz="4400" b="1" dirty="0">
                <a:solidFill>
                  <a:schemeClr val="accent1">
                    <a:lumMod val="50000"/>
                  </a:schemeClr>
                </a:solidFill>
                <a:latin typeface="+mj-lt"/>
              </a:rPr>
              <a:t>A brief panorama</a:t>
            </a:r>
            <a:endParaRPr lang="en-US" sz="4400" b="1" dirty="0">
              <a:solidFill>
                <a:schemeClr val="accent1">
                  <a:lumMod val="50000"/>
                </a:schemeClr>
              </a:solidFill>
              <a:latin typeface="+mj-lt"/>
            </a:endParaRPr>
          </a:p>
        </p:txBody>
      </p:sp>
      <p:sp>
        <p:nvSpPr>
          <p:cNvPr id="5" name="CasellaDiTesto 4">
            <a:extLst>
              <a:ext uri="{FF2B5EF4-FFF2-40B4-BE49-F238E27FC236}">
                <a16:creationId xmlns:a16="http://schemas.microsoft.com/office/drawing/2014/main" id="{32F80577-236D-42E6-A0BC-EA994F4CB373}"/>
              </a:ext>
            </a:extLst>
          </p:cNvPr>
          <p:cNvSpPr txBox="1"/>
          <p:nvPr/>
        </p:nvSpPr>
        <p:spPr>
          <a:xfrm>
            <a:off x="1107440" y="3272135"/>
            <a:ext cx="9987280" cy="3139321"/>
          </a:xfrm>
          <a:prstGeom prst="rect">
            <a:avLst/>
          </a:prstGeom>
          <a:noFill/>
        </p:spPr>
        <p:txBody>
          <a:bodyPr wrap="square">
            <a:spAutoFit/>
          </a:bodyPr>
          <a:lstStyle/>
          <a:p>
            <a:pPr algn="ctr"/>
            <a:r>
              <a:rPr lang="en-US" sz="3200" dirty="0"/>
              <a:t>Dimitri Vinci</a:t>
            </a:r>
          </a:p>
          <a:p>
            <a:pPr algn="ctr"/>
            <a:endParaRPr lang="en-US" dirty="0"/>
          </a:p>
          <a:p>
            <a:pPr algn="ctr"/>
            <a:r>
              <a:rPr lang="en-US" dirty="0"/>
              <a:t>Department of Information Engineering and Computer Science, University of Trento</a:t>
            </a:r>
          </a:p>
          <a:p>
            <a:pPr algn="ctr"/>
            <a:endParaRPr lang="en-US" sz="1400" dirty="0"/>
          </a:p>
          <a:p>
            <a:pPr algn="ctr"/>
            <a:endParaRPr lang="en-US" sz="1400" dirty="0"/>
          </a:p>
          <a:p>
            <a:pPr algn="ctr"/>
            <a:endParaRPr lang="en-US" sz="1400" dirty="0"/>
          </a:p>
          <a:p>
            <a:pPr algn="ctr"/>
            <a:endParaRPr lang="en-US" sz="1400" dirty="0"/>
          </a:p>
          <a:p>
            <a:pPr algn="ctr"/>
            <a:endParaRPr lang="en-US" sz="1400" dirty="0"/>
          </a:p>
          <a:p>
            <a:pPr algn="ctr"/>
            <a:endParaRPr lang="en-US" sz="1400" dirty="0"/>
          </a:p>
          <a:p>
            <a:pPr algn="ctr"/>
            <a:r>
              <a:rPr lang="en-US" sz="1400" dirty="0"/>
              <a:t> </a:t>
            </a:r>
          </a:p>
          <a:p>
            <a:pPr algn="ctr"/>
            <a:endParaRPr lang="en-US" dirty="0"/>
          </a:p>
          <a:p>
            <a:pPr algn="ctr"/>
            <a:r>
              <a:rPr lang="en-US" sz="1400" dirty="0"/>
              <a:t>February, 15, 2022</a:t>
            </a:r>
          </a:p>
        </p:txBody>
      </p:sp>
    </p:spTree>
    <p:extLst>
      <p:ext uri="{BB962C8B-B14F-4D97-AF65-F5344CB8AC3E}">
        <p14:creationId xmlns:p14="http://schemas.microsoft.com/office/powerpoint/2010/main" val="3172858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3722772E-F928-4C8B-ABFE-FCDBA4A1D594}"/>
              </a:ext>
            </a:extLst>
          </p:cNvPr>
          <p:cNvSpPr txBox="1"/>
          <p:nvPr/>
        </p:nvSpPr>
        <p:spPr>
          <a:xfrm>
            <a:off x="3752608" y="701857"/>
            <a:ext cx="5289755" cy="769441"/>
          </a:xfrm>
          <a:prstGeom prst="rect">
            <a:avLst/>
          </a:prstGeom>
          <a:noFill/>
        </p:spPr>
        <p:txBody>
          <a:bodyPr wrap="square" rtlCol="0">
            <a:spAutoFit/>
          </a:bodyPr>
          <a:lstStyle/>
          <a:p>
            <a:r>
              <a:rPr lang="it-IT" sz="4400" dirty="0">
                <a:solidFill>
                  <a:schemeClr val="accent1">
                    <a:lumMod val="50000"/>
                  </a:schemeClr>
                </a:solidFill>
                <a:latin typeface="+mj-lt"/>
              </a:rPr>
              <a:t>Presentation </a:t>
            </a:r>
            <a:r>
              <a:rPr lang="it-IT" sz="4400" dirty="0" err="1">
                <a:solidFill>
                  <a:schemeClr val="accent1">
                    <a:lumMod val="50000"/>
                  </a:schemeClr>
                </a:solidFill>
                <a:latin typeface="+mj-lt"/>
              </a:rPr>
              <a:t>Purpose</a:t>
            </a:r>
            <a:endParaRPr lang="en-US" sz="4400" dirty="0">
              <a:solidFill>
                <a:schemeClr val="accent1">
                  <a:lumMod val="50000"/>
                </a:schemeClr>
              </a:solidFill>
              <a:latin typeface="+mj-lt"/>
            </a:endParaRPr>
          </a:p>
        </p:txBody>
      </p:sp>
      <p:sp>
        <p:nvSpPr>
          <p:cNvPr id="6" name="CasellaDiTesto 5">
            <a:extLst>
              <a:ext uri="{FF2B5EF4-FFF2-40B4-BE49-F238E27FC236}">
                <a16:creationId xmlns:a16="http://schemas.microsoft.com/office/drawing/2014/main" id="{BAF8C3A3-16B1-4569-A6FC-2E6CBCE97627}"/>
              </a:ext>
            </a:extLst>
          </p:cNvPr>
          <p:cNvSpPr txBox="1"/>
          <p:nvPr/>
        </p:nvSpPr>
        <p:spPr>
          <a:xfrm>
            <a:off x="602971" y="1899332"/>
            <a:ext cx="11589027" cy="1138773"/>
          </a:xfrm>
          <a:prstGeom prst="rect">
            <a:avLst/>
          </a:prstGeom>
          <a:noFill/>
        </p:spPr>
        <p:txBody>
          <a:bodyPr wrap="square">
            <a:spAutoFit/>
          </a:bodyPr>
          <a:lstStyle/>
          <a:p>
            <a:pPr algn="ctr"/>
            <a:r>
              <a:rPr lang="en-US" dirty="0">
                <a:effectLst/>
                <a:ea typeface="Calibri" panose="020F0502020204030204" pitchFamily="34" charset="0"/>
              </a:rPr>
              <a:t>we try to put forward an analysis that could be able to underline trends of implementation of a quantum neural network architecture: </a:t>
            </a:r>
          </a:p>
          <a:p>
            <a:pPr algn="ctr"/>
            <a:r>
              <a:rPr lang="en-US" sz="3200" dirty="0">
                <a:solidFill>
                  <a:schemeClr val="accent1">
                    <a:lumMod val="50000"/>
                  </a:schemeClr>
                </a:solidFill>
                <a:effectLst/>
                <a:ea typeface="Calibri" panose="020F0502020204030204" pitchFamily="34" charset="0"/>
              </a:rPr>
              <a:t>Hopfield neural network</a:t>
            </a:r>
            <a:endParaRPr lang="en-US" sz="3200" dirty="0">
              <a:solidFill>
                <a:schemeClr val="accent1">
                  <a:lumMod val="50000"/>
                </a:schemeClr>
              </a:solidFill>
            </a:endParaRPr>
          </a:p>
        </p:txBody>
      </p:sp>
      <p:pic>
        <p:nvPicPr>
          <p:cNvPr id="1026" name="Picture 2" descr="PDF) The quest for a Quantum Neural Network">
            <a:extLst>
              <a:ext uri="{FF2B5EF4-FFF2-40B4-BE49-F238E27FC236}">
                <a16:creationId xmlns:a16="http://schemas.microsoft.com/office/drawing/2014/main" id="{41D3A163-EE7D-4639-8229-68C3DF36C8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95" b="54667"/>
          <a:stretch/>
        </p:blipFill>
        <p:spPr bwMode="auto">
          <a:xfrm>
            <a:off x="2819047" y="3630566"/>
            <a:ext cx="8092440" cy="517240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Connettore 2 6">
            <a:extLst>
              <a:ext uri="{FF2B5EF4-FFF2-40B4-BE49-F238E27FC236}">
                <a16:creationId xmlns:a16="http://schemas.microsoft.com/office/drawing/2014/main" id="{B2CD7822-DB19-4E1C-90E7-F7AF27C10740}"/>
              </a:ext>
            </a:extLst>
          </p:cNvPr>
          <p:cNvCxnSpPr>
            <a:cxnSpLocks/>
          </p:cNvCxnSpPr>
          <p:nvPr/>
        </p:nvCxnSpPr>
        <p:spPr>
          <a:xfrm>
            <a:off x="1580321" y="5197373"/>
            <a:ext cx="1928191" cy="17318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0182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67FD2E8A-D8B8-4294-A601-2CD313923D63}"/>
              </a:ext>
            </a:extLst>
          </p:cNvPr>
          <p:cNvSpPr txBox="1"/>
          <p:nvPr/>
        </p:nvSpPr>
        <p:spPr>
          <a:xfrm>
            <a:off x="3451122" y="1150768"/>
            <a:ext cx="5289755" cy="4370427"/>
          </a:xfrm>
          <a:prstGeom prst="rect">
            <a:avLst/>
          </a:prstGeom>
          <a:noFill/>
        </p:spPr>
        <p:txBody>
          <a:bodyPr wrap="square" rtlCol="0">
            <a:spAutoFit/>
          </a:bodyPr>
          <a:lstStyle/>
          <a:p>
            <a:r>
              <a:rPr lang="it-IT" sz="4400" dirty="0">
                <a:solidFill>
                  <a:schemeClr val="accent1">
                    <a:lumMod val="50000"/>
                  </a:schemeClr>
                </a:solidFill>
                <a:latin typeface="+mj-lt"/>
              </a:rPr>
              <a:t>Presentation </a:t>
            </a:r>
            <a:r>
              <a:rPr lang="it-IT" sz="4400" dirty="0" err="1">
                <a:solidFill>
                  <a:schemeClr val="accent1">
                    <a:lumMod val="50000"/>
                  </a:schemeClr>
                </a:solidFill>
                <a:latin typeface="+mj-lt"/>
              </a:rPr>
              <a:t>structure</a:t>
            </a:r>
            <a:endParaRPr lang="it-IT" sz="4400" dirty="0">
              <a:solidFill>
                <a:schemeClr val="accent1">
                  <a:lumMod val="50000"/>
                </a:schemeClr>
              </a:solidFill>
              <a:latin typeface="+mj-lt"/>
            </a:endParaRPr>
          </a:p>
          <a:p>
            <a:endParaRPr lang="it-IT" dirty="0"/>
          </a:p>
          <a:p>
            <a:endParaRPr lang="it-IT" dirty="0"/>
          </a:p>
          <a:p>
            <a:endParaRPr lang="it-IT" dirty="0"/>
          </a:p>
          <a:p>
            <a:endParaRPr lang="it-IT" dirty="0"/>
          </a:p>
          <a:p>
            <a:endParaRPr lang="it-IT" dirty="0"/>
          </a:p>
          <a:p>
            <a:endParaRPr lang="it-IT" dirty="0"/>
          </a:p>
          <a:p>
            <a:endParaRPr lang="it-IT" dirty="0"/>
          </a:p>
          <a:p>
            <a:endParaRPr lang="it-IT" dirty="0"/>
          </a:p>
          <a:p>
            <a:endParaRPr lang="it-IT" dirty="0"/>
          </a:p>
          <a:p>
            <a:endParaRPr lang="it-IT" dirty="0"/>
          </a:p>
          <a:p>
            <a:endParaRPr lang="it-IT" dirty="0"/>
          </a:p>
          <a:p>
            <a:endParaRPr lang="it-IT" dirty="0"/>
          </a:p>
          <a:p>
            <a:endParaRPr lang="en-US" dirty="0"/>
          </a:p>
        </p:txBody>
      </p:sp>
      <p:sp>
        <p:nvSpPr>
          <p:cNvPr id="3" name="CasellaDiTesto 2">
            <a:extLst>
              <a:ext uri="{FF2B5EF4-FFF2-40B4-BE49-F238E27FC236}">
                <a16:creationId xmlns:a16="http://schemas.microsoft.com/office/drawing/2014/main" id="{09C80548-D267-4C0C-AD8F-C53C3FEC9DE9}"/>
              </a:ext>
            </a:extLst>
          </p:cNvPr>
          <p:cNvSpPr txBox="1"/>
          <p:nvPr/>
        </p:nvSpPr>
        <p:spPr>
          <a:xfrm>
            <a:off x="588478" y="2921375"/>
            <a:ext cx="11015042" cy="2062103"/>
          </a:xfrm>
          <a:prstGeom prst="rect">
            <a:avLst/>
          </a:prstGeom>
          <a:noFill/>
        </p:spPr>
        <p:txBody>
          <a:bodyPr wrap="square">
            <a:spAutoFit/>
          </a:bodyPr>
          <a:lstStyle/>
          <a:p>
            <a:pPr marL="342900" indent="-342900" algn="ctr">
              <a:buAutoNum type="arabicPeriod"/>
            </a:pPr>
            <a:r>
              <a:rPr lang="en-US" sz="3200" dirty="0">
                <a:effectLst/>
                <a:ea typeface="Calibri" panose="020F0502020204030204" pitchFamily="34" charset="0"/>
              </a:rPr>
              <a:t>What are Hopfield Neural Networks?</a:t>
            </a:r>
          </a:p>
          <a:p>
            <a:pPr marL="342900" indent="-342900" algn="ctr">
              <a:buAutoNum type="arabicPeriod"/>
            </a:pPr>
            <a:r>
              <a:rPr lang="en-US" sz="3200" dirty="0"/>
              <a:t>The quest for a quantum Hopfield network</a:t>
            </a:r>
          </a:p>
          <a:p>
            <a:pPr marL="342900" indent="-342900" algn="ctr">
              <a:buAutoNum type="arabicPeriod"/>
            </a:pPr>
            <a:r>
              <a:rPr lang="en-US" sz="3200" dirty="0"/>
              <a:t>A quantum circuit implementation</a:t>
            </a:r>
          </a:p>
          <a:p>
            <a:pPr marL="342900" indent="-342900" algn="ctr">
              <a:buAutoNum type="arabicPeriod"/>
            </a:pPr>
            <a:r>
              <a:rPr lang="en-US" sz="3200" dirty="0"/>
              <a:t>AQO and Hopfield</a:t>
            </a:r>
          </a:p>
        </p:txBody>
      </p:sp>
    </p:spTree>
    <p:extLst>
      <p:ext uri="{BB962C8B-B14F-4D97-AF65-F5344CB8AC3E}">
        <p14:creationId xmlns:p14="http://schemas.microsoft.com/office/powerpoint/2010/main" val="1496962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3722772E-F928-4C8B-ABFE-FCDBA4A1D594}"/>
              </a:ext>
            </a:extLst>
          </p:cNvPr>
          <p:cNvSpPr txBox="1"/>
          <p:nvPr/>
        </p:nvSpPr>
        <p:spPr>
          <a:xfrm>
            <a:off x="3971912" y="780382"/>
            <a:ext cx="5289755" cy="769441"/>
          </a:xfrm>
          <a:prstGeom prst="rect">
            <a:avLst/>
          </a:prstGeom>
          <a:noFill/>
        </p:spPr>
        <p:txBody>
          <a:bodyPr wrap="square" rtlCol="0">
            <a:spAutoFit/>
          </a:bodyPr>
          <a:lstStyle/>
          <a:p>
            <a:r>
              <a:rPr lang="it-IT" sz="4400" dirty="0" err="1">
                <a:solidFill>
                  <a:schemeClr val="accent1">
                    <a:lumMod val="50000"/>
                  </a:schemeClr>
                </a:solidFill>
                <a:latin typeface="+mj-lt"/>
              </a:rPr>
              <a:t>Our</a:t>
            </a:r>
            <a:r>
              <a:rPr lang="it-IT" sz="4400" dirty="0">
                <a:solidFill>
                  <a:schemeClr val="accent1">
                    <a:lumMod val="50000"/>
                  </a:schemeClr>
                </a:solidFill>
                <a:latin typeface="+mj-lt"/>
              </a:rPr>
              <a:t> </a:t>
            </a:r>
            <a:r>
              <a:rPr lang="it-IT" sz="4400" dirty="0" err="1">
                <a:solidFill>
                  <a:schemeClr val="accent1">
                    <a:lumMod val="50000"/>
                  </a:schemeClr>
                </a:solidFill>
                <a:latin typeface="+mj-lt"/>
              </a:rPr>
              <a:t>Main</a:t>
            </a:r>
            <a:r>
              <a:rPr lang="it-IT" sz="4400" dirty="0">
                <a:solidFill>
                  <a:schemeClr val="accent1">
                    <a:lumMod val="50000"/>
                  </a:schemeClr>
                </a:solidFill>
                <a:latin typeface="+mj-lt"/>
              </a:rPr>
              <a:t> </a:t>
            </a:r>
            <a:r>
              <a:rPr lang="it-IT" sz="4400" dirty="0" err="1">
                <a:solidFill>
                  <a:schemeClr val="accent1">
                    <a:lumMod val="50000"/>
                  </a:schemeClr>
                </a:solidFill>
                <a:latin typeface="+mj-lt"/>
              </a:rPr>
              <a:t>References</a:t>
            </a:r>
            <a:endParaRPr lang="en-US" sz="4400" dirty="0">
              <a:solidFill>
                <a:schemeClr val="accent1">
                  <a:lumMod val="50000"/>
                </a:schemeClr>
              </a:solidFill>
              <a:latin typeface="+mj-lt"/>
            </a:endParaRPr>
          </a:p>
        </p:txBody>
      </p:sp>
      <p:pic>
        <p:nvPicPr>
          <p:cNvPr id="2050" name="Picture 2" descr="A Quantum Hop eld Neural Network - arXiv .2 Hop eld network using matrix  inversion. Matrix inver-">
            <a:extLst>
              <a:ext uri="{FF2B5EF4-FFF2-40B4-BE49-F238E27FC236}">
                <a16:creationId xmlns:a16="http://schemas.microsoft.com/office/drawing/2014/main" id="{FAA785FA-64E0-4B04-9136-A333F3579E6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485" b="75850"/>
          <a:stretch/>
        </p:blipFill>
        <p:spPr bwMode="auto">
          <a:xfrm>
            <a:off x="0" y="3127027"/>
            <a:ext cx="6436366" cy="219286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DF) Adiabatic Quantum Optimization for Associative Memory Recall">
            <a:extLst>
              <a:ext uri="{FF2B5EF4-FFF2-40B4-BE49-F238E27FC236}">
                <a16:creationId xmlns:a16="http://schemas.microsoft.com/office/drawing/2014/main" id="{E1264084-0E80-45F0-98FB-54DF76F17B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34" r="175" b="62667"/>
          <a:stretch/>
        </p:blipFill>
        <p:spPr bwMode="auto">
          <a:xfrm>
            <a:off x="6280677" y="1913184"/>
            <a:ext cx="6834663" cy="3641232"/>
          </a:xfrm>
          <a:prstGeom prst="rect">
            <a:avLst/>
          </a:prstGeom>
          <a:noFill/>
          <a:extLst>
            <a:ext uri="{909E8E84-426E-40DD-AFC4-6F175D3DCCD1}">
              <a14:hiddenFill xmlns:a14="http://schemas.microsoft.com/office/drawing/2010/main">
                <a:solidFill>
                  <a:srgbClr val="FFFFFF"/>
                </a:solidFill>
              </a14:hiddenFill>
            </a:ext>
          </a:extLst>
        </p:spPr>
      </p:pic>
      <p:sp>
        <p:nvSpPr>
          <p:cNvPr id="2" name="CasellaDiTesto 1">
            <a:extLst>
              <a:ext uri="{FF2B5EF4-FFF2-40B4-BE49-F238E27FC236}">
                <a16:creationId xmlns:a16="http://schemas.microsoft.com/office/drawing/2014/main" id="{3F1C2AEB-BA7B-4A06-9957-65B0F8C0F770}"/>
              </a:ext>
            </a:extLst>
          </p:cNvPr>
          <p:cNvSpPr txBox="1"/>
          <p:nvPr/>
        </p:nvSpPr>
        <p:spPr>
          <a:xfrm>
            <a:off x="2639805" y="2496532"/>
            <a:ext cx="3271520" cy="584775"/>
          </a:xfrm>
          <a:prstGeom prst="rect">
            <a:avLst/>
          </a:prstGeom>
          <a:noFill/>
        </p:spPr>
        <p:txBody>
          <a:bodyPr wrap="square" rtlCol="0">
            <a:spAutoFit/>
          </a:bodyPr>
          <a:lstStyle/>
          <a:p>
            <a:r>
              <a:rPr lang="it-IT" sz="3200" dirty="0">
                <a:solidFill>
                  <a:schemeClr val="accent1">
                    <a:lumMod val="50000"/>
                  </a:schemeClr>
                </a:solidFill>
              </a:rPr>
              <a:t>Circuit</a:t>
            </a:r>
            <a:endParaRPr lang="en-US" sz="3200" dirty="0">
              <a:solidFill>
                <a:schemeClr val="accent1">
                  <a:lumMod val="50000"/>
                </a:schemeClr>
              </a:solidFill>
            </a:endParaRPr>
          </a:p>
        </p:txBody>
      </p:sp>
      <p:sp>
        <p:nvSpPr>
          <p:cNvPr id="6" name="CasellaDiTesto 5">
            <a:extLst>
              <a:ext uri="{FF2B5EF4-FFF2-40B4-BE49-F238E27FC236}">
                <a16:creationId xmlns:a16="http://schemas.microsoft.com/office/drawing/2014/main" id="{BA914336-B8E0-4F7A-BBDF-63EDAD1A66CC}"/>
              </a:ext>
            </a:extLst>
          </p:cNvPr>
          <p:cNvSpPr txBox="1"/>
          <p:nvPr/>
        </p:nvSpPr>
        <p:spPr>
          <a:xfrm>
            <a:off x="8518841" y="2542252"/>
            <a:ext cx="3271520" cy="584775"/>
          </a:xfrm>
          <a:prstGeom prst="rect">
            <a:avLst/>
          </a:prstGeom>
          <a:noFill/>
        </p:spPr>
        <p:txBody>
          <a:bodyPr wrap="square" rtlCol="0">
            <a:spAutoFit/>
          </a:bodyPr>
          <a:lstStyle/>
          <a:p>
            <a:r>
              <a:rPr lang="it-IT" sz="3200" dirty="0">
                <a:solidFill>
                  <a:schemeClr val="accent1">
                    <a:lumMod val="50000"/>
                  </a:schemeClr>
                </a:solidFill>
              </a:rPr>
              <a:t>AQO</a:t>
            </a:r>
            <a:endParaRPr lang="en-US" sz="3200" dirty="0">
              <a:solidFill>
                <a:schemeClr val="accent1">
                  <a:lumMod val="50000"/>
                </a:schemeClr>
              </a:solidFill>
            </a:endParaRPr>
          </a:p>
        </p:txBody>
      </p:sp>
    </p:spTree>
    <p:extLst>
      <p:ext uri="{BB962C8B-B14F-4D97-AF65-F5344CB8AC3E}">
        <p14:creationId xmlns:p14="http://schemas.microsoft.com/office/powerpoint/2010/main" val="2243533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3722772E-F928-4C8B-ABFE-FCDBA4A1D594}"/>
              </a:ext>
            </a:extLst>
          </p:cNvPr>
          <p:cNvSpPr txBox="1"/>
          <p:nvPr/>
        </p:nvSpPr>
        <p:spPr>
          <a:xfrm>
            <a:off x="3951802" y="916284"/>
            <a:ext cx="5289755" cy="769441"/>
          </a:xfrm>
          <a:prstGeom prst="rect">
            <a:avLst/>
          </a:prstGeom>
          <a:noFill/>
        </p:spPr>
        <p:txBody>
          <a:bodyPr wrap="square" rtlCol="0">
            <a:spAutoFit/>
          </a:bodyPr>
          <a:lstStyle/>
          <a:p>
            <a:r>
              <a:rPr lang="it-IT" sz="4400" dirty="0" err="1">
                <a:solidFill>
                  <a:schemeClr val="accent1">
                    <a:lumMod val="50000"/>
                  </a:schemeClr>
                </a:solidFill>
              </a:rPr>
              <a:t>Why</a:t>
            </a:r>
            <a:r>
              <a:rPr lang="it-IT" sz="4400" dirty="0">
                <a:solidFill>
                  <a:schemeClr val="accent1">
                    <a:lumMod val="50000"/>
                  </a:schemeClr>
                </a:solidFill>
              </a:rPr>
              <a:t> </a:t>
            </a:r>
            <a:r>
              <a:rPr lang="it-IT" sz="4400" dirty="0" err="1">
                <a:solidFill>
                  <a:schemeClr val="accent1">
                    <a:lumMod val="50000"/>
                  </a:schemeClr>
                </a:solidFill>
              </a:rPr>
              <a:t>these</a:t>
            </a:r>
            <a:r>
              <a:rPr lang="it-IT" sz="4400" dirty="0">
                <a:solidFill>
                  <a:schemeClr val="accent1">
                    <a:lumMod val="50000"/>
                  </a:schemeClr>
                </a:solidFill>
              </a:rPr>
              <a:t> papers?</a:t>
            </a:r>
            <a:endParaRPr lang="en-US" sz="4400" dirty="0">
              <a:solidFill>
                <a:schemeClr val="accent1">
                  <a:lumMod val="50000"/>
                </a:schemeClr>
              </a:solidFill>
            </a:endParaRPr>
          </a:p>
        </p:txBody>
      </p:sp>
      <p:sp>
        <p:nvSpPr>
          <p:cNvPr id="2" name="CasellaDiTesto 1">
            <a:extLst>
              <a:ext uri="{FF2B5EF4-FFF2-40B4-BE49-F238E27FC236}">
                <a16:creationId xmlns:a16="http://schemas.microsoft.com/office/drawing/2014/main" id="{DE36FE8B-D30A-4589-9C84-047A94F302F6}"/>
              </a:ext>
            </a:extLst>
          </p:cNvPr>
          <p:cNvSpPr txBox="1"/>
          <p:nvPr/>
        </p:nvSpPr>
        <p:spPr>
          <a:xfrm>
            <a:off x="527234" y="2753599"/>
            <a:ext cx="10632559" cy="2062103"/>
          </a:xfrm>
          <a:prstGeom prst="rect">
            <a:avLst/>
          </a:prstGeom>
          <a:noFill/>
        </p:spPr>
        <p:txBody>
          <a:bodyPr wrap="square" rtlCol="0">
            <a:spAutoFit/>
          </a:bodyPr>
          <a:lstStyle/>
          <a:p>
            <a:pPr marL="285750" indent="-285750" algn="ctr">
              <a:buFontTx/>
              <a:buChar char="-"/>
            </a:pPr>
            <a:r>
              <a:rPr lang="it-IT" sz="3200" dirty="0" err="1"/>
              <a:t>Conciseness</a:t>
            </a:r>
            <a:endParaRPr lang="it-IT" sz="3200" dirty="0"/>
          </a:p>
          <a:p>
            <a:pPr marL="285750" indent="-285750" algn="ctr">
              <a:buFontTx/>
              <a:buChar char="-"/>
            </a:pPr>
            <a:r>
              <a:rPr lang="it-IT" sz="3200" dirty="0" err="1"/>
              <a:t>Didactical</a:t>
            </a:r>
            <a:r>
              <a:rPr lang="it-IT" sz="3200" dirty="0"/>
              <a:t>  </a:t>
            </a:r>
            <a:r>
              <a:rPr lang="it-IT" sz="3200" dirty="0" err="1"/>
              <a:t>purpose</a:t>
            </a:r>
            <a:endParaRPr lang="it-IT" sz="3200" dirty="0"/>
          </a:p>
          <a:p>
            <a:pPr marL="285750" indent="-285750" algn="ctr">
              <a:buFontTx/>
              <a:buChar char="-"/>
            </a:pPr>
            <a:r>
              <a:rPr lang="it-IT" sz="3200" dirty="0" err="1"/>
              <a:t>Rapresentativity</a:t>
            </a:r>
            <a:endParaRPr lang="it-IT" sz="3200" dirty="0"/>
          </a:p>
          <a:p>
            <a:pPr marL="285750" indent="-285750" algn="ctr">
              <a:buFontTx/>
              <a:buChar char="-"/>
            </a:pPr>
            <a:r>
              <a:rPr lang="it-IT" sz="3200" dirty="0" err="1"/>
              <a:t>Influence</a:t>
            </a:r>
            <a:endParaRPr lang="en-US" sz="3200" dirty="0"/>
          </a:p>
        </p:txBody>
      </p:sp>
    </p:spTree>
    <p:extLst>
      <p:ext uri="{BB962C8B-B14F-4D97-AF65-F5344CB8AC3E}">
        <p14:creationId xmlns:p14="http://schemas.microsoft.com/office/powerpoint/2010/main" val="1146339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3722772E-F928-4C8B-ABFE-FCDBA4A1D594}"/>
              </a:ext>
            </a:extLst>
          </p:cNvPr>
          <p:cNvSpPr txBox="1"/>
          <p:nvPr/>
        </p:nvSpPr>
        <p:spPr>
          <a:xfrm>
            <a:off x="1920240" y="1200764"/>
            <a:ext cx="10271760" cy="769441"/>
          </a:xfrm>
          <a:prstGeom prst="rect">
            <a:avLst/>
          </a:prstGeom>
          <a:noFill/>
        </p:spPr>
        <p:txBody>
          <a:bodyPr wrap="square" rtlCol="0">
            <a:spAutoFit/>
          </a:bodyPr>
          <a:lstStyle/>
          <a:p>
            <a:r>
              <a:rPr lang="it-IT" sz="4400" dirty="0" err="1">
                <a:solidFill>
                  <a:schemeClr val="accent1">
                    <a:lumMod val="50000"/>
                  </a:schemeClr>
                </a:solidFill>
                <a:latin typeface="+mj-lt"/>
              </a:rPr>
              <a:t>Why</a:t>
            </a:r>
            <a:r>
              <a:rPr lang="it-IT" sz="4400" dirty="0">
                <a:solidFill>
                  <a:schemeClr val="accent1">
                    <a:lumMod val="50000"/>
                  </a:schemeClr>
                </a:solidFill>
                <a:latin typeface="+mj-lt"/>
              </a:rPr>
              <a:t> quantum </a:t>
            </a:r>
            <a:r>
              <a:rPr lang="it-IT" sz="4400" dirty="0" err="1">
                <a:solidFill>
                  <a:schemeClr val="accent1">
                    <a:lumMod val="50000"/>
                  </a:schemeClr>
                </a:solidFill>
                <a:latin typeface="+mj-lt"/>
              </a:rPr>
              <a:t>hopfield</a:t>
            </a:r>
            <a:r>
              <a:rPr lang="it-IT" sz="4400" dirty="0">
                <a:solidFill>
                  <a:schemeClr val="accent1">
                    <a:lumMod val="50000"/>
                  </a:schemeClr>
                </a:solidFill>
                <a:latin typeface="+mj-lt"/>
              </a:rPr>
              <a:t> </a:t>
            </a:r>
            <a:r>
              <a:rPr lang="it-IT" sz="4400" dirty="0" err="1">
                <a:solidFill>
                  <a:schemeClr val="accent1">
                    <a:lumMod val="50000"/>
                  </a:schemeClr>
                </a:solidFill>
                <a:latin typeface="+mj-lt"/>
              </a:rPr>
              <a:t>neural</a:t>
            </a:r>
            <a:r>
              <a:rPr lang="it-IT" sz="4400" dirty="0">
                <a:solidFill>
                  <a:schemeClr val="accent1">
                    <a:lumMod val="50000"/>
                  </a:schemeClr>
                </a:solidFill>
                <a:latin typeface="+mj-lt"/>
              </a:rPr>
              <a:t> network?</a:t>
            </a:r>
            <a:endParaRPr lang="en-US" sz="4400" dirty="0">
              <a:solidFill>
                <a:schemeClr val="accent1">
                  <a:lumMod val="50000"/>
                </a:schemeClr>
              </a:solidFill>
              <a:latin typeface="+mj-lt"/>
            </a:endParaRPr>
          </a:p>
        </p:txBody>
      </p:sp>
      <p:sp>
        <p:nvSpPr>
          <p:cNvPr id="2" name="CasellaDiTesto 1">
            <a:extLst>
              <a:ext uri="{FF2B5EF4-FFF2-40B4-BE49-F238E27FC236}">
                <a16:creationId xmlns:a16="http://schemas.microsoft.com/office/drawing/2014/main" id="{DE36FE8B-D30A-4589-9C84-047A94F302F6}"/>
              </a:ext>
            </a:extLst>
          </p:cNvPr>
          <p:cNvSpPr txBox="1"/>
          <p:nvPr/>
        </p:nvSpPr>
        <p:spPr>
          <a:xfrm>
            <a:off x="527234" y="2753599"/>
            <a:ext cx="10632559" cy="2062103"/>
          </a:xfrm>
          <a:prstGeom prst="rect">
            <a:avLst/>
          </a:prstGeom>
          <a:noFill/>
        </p:spPr>
        <p:txBody>
          <a:bodyPr wrap="square" rtlCol="0">
            <a:spAutoFit/>
          </a:bodyPr>
          <a:lstStyle/>
          <a:p>
            <a:pPr marL="285750" indent="-285750" algn="ctr">
              <a:buFontTx/>
              <a:buChar char="-"/>
            </a:pPr>
            <a:r>
              <a:rPr lang="it-IT" sz="3200" dirty="0"/>
              <a:t>Building </a:t>
            </a:r>
            <a:r>
              <a:rPr lang="it-IT" sz="3200" dirty="0" err="1"/>
              <a:t>block</a:t>
            </a:r>
            <a:endParaRPr lang="it-IT" sz="3200" dirty="0"/>
          </a:p>
          <a:p>
            <a:pPr marL="285750" indent="-285750" algn="ctr">
              <a:buFontTx/>
              <a:buChar char="-"/>
            </a:pPr>
            <a:r>
              <a:rPr lang="it-IT" sz="3200" dirty="0" err="1"/>
              <a:t>Intractable</a:t>
            </a:r>
            <a:endParaRPr lang="it-IT" sz="3200" dirty="0"/>
          </a:p>
          <a:p>
            <a:pPr marL="285750" indent="-285750" algn="ctr">
              <a:buFontTx/>
              <a:buChar char="-"/>
            </a:pPr>
            <a:r>
              <a:rPr lang="it-IT" sz="3200" dirty="0"/>
              <a:t>Local minima</a:t>
            </a:r>
          </a:p>
          <a:p>
            <a:pPr marL="285750" indent="-285750" algn="ctr">
              <a:buFontTx/>
              <a:buChar char="-"/>
            </a:pPr>
            <a:r>
              <a:rPr lang="it-IT" sz="3200" dirty="0" err="1"/>
              <a:t>Complexity</a:t>
            </a:r>
            <a:endParaRPr lang="en-US" sz="3200" dirty="0"/>
          </a:p>
        </p:txBody>
      </p:sp>
    </p:spTree>
    <p:extLst>
      <p:ext uri="{BB962C8B-B14F-4D97-AF65-F5344CB8AC3E}">
        <p14:creationId xmlns:p14="http://schemas.microsoft.com/office/powerpoint/2010/main" val="1676982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EF3572E6-353A-46AA-8FF7-DDE4EA6A5355}"/>
              </a:ext>
            </a:extLst>
          </p:cNvPr>
          <p:cNvSpPr txBox="1"/>
          <p:nvPr/>
        </p:nvSpPr>
        <p:spPr>
          <a:xfrm>
            <a:off x="4259915" y="916063"/>
            <a:ext cx="5289755" cy="769441"/>
          </a:xfrm>
          <a:prstGeom prst="rect">
            <a:avLst/>
          </a:prstGeom>
          <a:noFill/>
        </p:spPr>
        <p:txBody>
          <a:bodyPr wrap="square" rtlCol="0">
            <a:spAutoFit/>
          </a:bodyPr>
          <a:lstStyle/>
          <a:p>
            <a:r>
              <a:rPr lang="it-IT" sz="4400" dirty="0">
                <a:solidFill>
                  <a:schemeClr val="accent1">
                    <a:lumMod val="50000"/>
                  </a:schemeClr>
                </a:solidFill>
                <a:latin typeface="+mj-lt"/>
              </a:rPr>
              <a:t>Basic </a:t>
            </a:r>
            <a:r>
              <a:rPr lang="it-IT" sz="4400" dirty="0" err="1">
                <a:solidFill>
                  <a:schemeClr val="accent1">
                    <a:lumMod val="50000"/>
                  </a:schemeClr>
                </a:solidFill>
                <a:latin typeface="+mj-lt"/>
              </a:rPr>
              <a:t>definitions</a:t>
            </a:r>
            <a:endParaRPr lang="en-US" sz="4400" dirty="0">
              <a:solidFill>
                <a:schemeClr val="accent1">
                  <a:lumMod val="50000"/>
                </a:schemeClr>
              </a:solidFill>
              <a:latin typeface="+mj-lt"/>
            </a:endParaRPr>
          </a:p>
        </p:txBody>
      </p:sp>
      <p:sp>
        <p:nvSpPr>
          <p:cNvPr id="6" name="CasellaDiTesto 5">
            <a:extLst>
              <a:ext uri="{FF2B5EF4-FFF2-40B4-BE49-F238E27FC236}">
                <a16:creationId xmlns:a16="http://schemas.microsoft.com/office/drawing/2014/main" id="{4B2753B6-6586-4180-A8EB-89F92CE4720B}"/>
              </a:ext>
            </a:extLst>
          </p:cNvPr>
          <p:cNvSpPr txBox="1"/>
          <p:nvPr/>
        </p:nvSpPr>
        <p:spPr>
          <a:xfrm>
            <a:off x="2945958" y="2654330"/>
            <a:ext cx="5963479" cy="1077218"/>
          </a:xfrm>
          <a:prstGeom prst="rect">
            <a:avLst/>
          </a:prstGeom>
          <a:noFill/>
        </p:spPr>
        <p:txBody>
          <a:bodyPr wrap="square" rtlCol="0">
            <a:spAutoFit/>
          </a:bodyPr>
          <a:lstStyle/>
          <a:p>
            <a:pPr marL="285750" indent="-285750" algn="ctr">
              <a:buFontTx/>
              <a:buChar char="-"/>
            </a:pPr>
            <a:r>
              <a:rPr lang="it-IT" sz="3200" dirty="0" err="1"/>
              <a:t>Neural</a:t>
            </a:r>
            <a:r>
              <a:rPr lang="it-IT" sz="3200" dirty="0"/>
              <a:t> Network</a:t>
            </a:r>
          </a:p>
          <a:p>
            <a:pPr marL="285750" indent="-285750" algn="ctr">
              <a:buFontTx/>
              <a:buChar char="-"/>
            </a:pPr>
            <a:r>
              <a:rPr lang="it-IT" sz="3200" dirty="0"/>
              <a:t>Quantum </a:t>
            </a:r>
            <a:r>
              <a:rPr lang="it-IT" sz="3200" dirty="0" err="1"/>
              <a:t>Neural</a:t>
            </a:r>
            <a:r>
              <a:rPr lang="it-IT" sz="3200" dirty="0"/>
              <a:t> Network</a:t>
            </a:r>
          </a:p>
        </p:txBody>
      </p:sp>
    </p:spTree>
    <p:extLst>
      <p:ext uri="{BB962C8B-B14F-4D97-AF65-F5344CB8AC3E}">
        <p14:creationId xmlns:p14="http://schemas.microsoft.com/office/powerpoint/2010/main" val="2727789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74ECDFE2-8AE9-4385-AD24-63660D4BE4D0}"/>
              </a:ext>
            </a:extLst>
          </p:cNvPr>
          <p:cNvSpPr txBox="1"/>
          <p:nvPr/>
        </p:nvSpPr>
        <p:spPr>
          <a:xfrm>
            <a:off x="1850064" y="2916688"/>
            <a:ext cx="10257447" cy="769441"/>
          </a:xfrm>
          <a:prstGeom prst="rect">
            <a:avLst/>
          </a:prstGeom>
          <a:noFill/>
        </p:spPr>
        <p:txBody>
          <a:bodyPr wrap="square" rtlCol="0">
            <a:spAutoFit/>
          </a:bodyPr>
          <a:lstStyle/>
          <a:p>
            <a:r>
              <a:rPr lang="it-IT" sz="4400" dirty="0" err="1">
                <a:solidFill>
                  <a:schemeClr val="accent1">
                    <a:lumMod val="50000"/>
                  </a:schemeClr>
                </a:solidFill>
                <a:latin typeface="+mj-lt"/>
              </a:rPr>
              <a:t>What</a:t>
            </a:r>
            <a:r>
              <a:rPr lang="it-IT" sz="4400" dirty="0">
                <a:solidFill>
                  <a:schemeClr val="accent1">
                    <a:lumMod val="50000"/>
                  </a:schemeClr>
                </a:solidFill>
                <a:latin typeface="+mj-lt"/>
              </a:rPr>
              <a:t> are </a:t>
            </a:r>
            <a:r>
              <a:rPr lang="it-IT" sz="4400" dirty="0" err="1">
                <a:solidFill>
                  <a:schemeClr val="accent1">
                    <a:lumMod val="50000"/>
                  </a:schemeClr>
                </a:solidFill>
                <a:latin typeface="+mj-lt"/>
              </a:rPr>
              <a:t>Hopfield</a:t>
            </a:r>
            <a:r>
              <a:rPr lang="it-IT" sz="4400" dirty="0">
                <a:solidFill>
                  <a:schemeClr val="accent1">
                    <a:lumMod val="50000"/>
                  </a:schemeClr>
                </a:solidFill>
                <a:latin typeface="+mj-lt"/>
              </a:rPr>
              <a:t> </a:t>
            </a:r>
            <a:r>
              <a:rPr lang="it-IT" sz="4400" dirty="0" err="1">
                <a:solidFill>
                  <a:schemeClr val="accent1">
                    <a:lumMod val="50000"/>
                  </a:schemeClr>
                </a:solidFill>
                <a:latin typeface="+mj-lt"/>
              </a:rPr>
              <a:t>Neural</a:t>
            </a:r>
            <a:r>
              <a:rPr lang="it-IT" sz="4400" dirty="0">
                <a:solidFill>
                  <a:schemeClr val="accent1">
                    <a:lumMod val="50000"/>
                  </a:schemeClr>
                </a:solidFill>
                <a:latin typeface="+mj-lt"/>
              </a:rPr>
              <a:t> Networks</a:t>
            </a:r>
            <a:endParaRPr lang="en-US" sz="4400" dirty="0">
              <a:solidFill>
                <a:schemeClr val="accent1">
                  <a:lumMod val="50000"/>
                </a:schemeClr>
              </a:solidFill>
              <a:latin typeface="+mj-lt"/>
            </a:endParaRPr>
          </a:p>
        </p:txBody>
      </p:sp>
    </p:spTree>
    <p:extLst>
      <p:ext uri="{BB962C8B-B14F-4D97-AF65-F5344CB8AC3E}">
        <p14:creationId xmlns:p14="http://schemas.microsoft.com/office/powerpoint/2010/main" val="1090919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EFDDA0BD-B9BC-42C5-BAA1-A6E27F24E956}"/>
              </a:ext>
            </a:extLst>
          </p:cNvPr>
          <p:cNvSpPr txBox="1"/>
          <p:nvPr/>
        </p:nvSpPr>
        <p:spPr>
          <a:xfrm>
            <a:off x="3797799" y="876734"/>
            <a:ext cx="5289755" cy="769441"/>
          </a:xfrm>
          <a:prstGeom prst="rect">
            <a:avLst/>
          </a:prstGeom>
          <a:noFill/>
        </p:spPr>
        <p:txBody>
          <a:bodyPr wrap="square" rtlCol="0">
            <a:spAutoFit/>
          </a:bodyPr>
          <a:lstStyle/>
          <a:p>
            <a:r>
              <a:rPr lang="it-IT" sz="4400" dirty="0">
                <a:solidFill>
                  <a:schemeClr val="accent1">
                    <a:lumMod val="50000"/>
                  </a:schemeClr>
                </a:solidFill>
                <a:latin typeface="+mj-lt"/>
              </a:rPr>
              <a:t>Associative Network</a:t>
            </a:r>
            <a:endParaRPr lang="en-US" sz="4400" dirty="0">
              <a:solidFill>
                <a:schemeClr val="accent1">
                  <a:lumMod val="50000"/>
                </a:schemeClr>
              </a:solidFill>
              <a:latin typeface="+mj-lt"/>
            </a:endParaRPr>
          </a:p>
        </p:txBody>
      </p:sp>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DC6EB723-84F2-474F-A307-C5A1D36E476C}"/>
                  </a:ext>
                </a:extLst>
              </p:cNvPr>
              <p:cNvSpPr txBox="1"/>
              <p:nvPr/>
            </p:nvSpPr>
            <p:spPr>
              <a:xfrm>
                <a:off x="2546555" y="2373186"/>
                <a:ext cx="8072284" cy="3168303"/>
              </a:xfrm>
              <a:prstGeom prst="rect">
                <a:avLst/>
              </a:prstGeom>
              <a:noFill/>
            </p:spPr>
            <p:txBody>
              <a:bodyPr wrap="square">
                <a:spAutoFit/>
              </a:bodyPr>
              <a:lstStyle/>
              <a:p>
                <a:pPr marL="342900" lvl="0" indent="-342900">
                  <a:lnSpc>
                    <a:spcPct val="107000"/>
                  </a:lnSpc>
                  <a:spcAft>
                    <a:spcPts val="1200"/>
                  </a:spcAft>
                  <a:buFont typeface="Calibri" panose="020F0502020204030204" pitchFamily="34" charset="0"/>
                  <a:buChar char="-"/>
                </a:pPr>
                <a:r>
                  <a:rPr lang="en-US" sz="3200" dirty="0" err="1">
                    <a:solidFill>
                      <a:schemeClr val="accent1">
                        <a:lumMod val="50000"/>
                      </a:schemeClr>
                    </a:solidFill>
                    <a:effectLst/>
                    <a:ea typeface="Calibri" panose="020F0502020204030204" pitchFamily="34" charset="0"/>
                    <a:cs typeface="Arial" panose="020B0604020202020204" pitchFamily="34" charset="0"/>
                  </a:rPr>
                  <a:t>Heteroassociative</a:t>
                </a:r>
                <a:r>
                  <a:rPr lang="en-US" sz="3200" dirty="0">
                    <a:solidFill>
                      <a:schemeClr val="accent1">
                        <a:lumMod val="50000"/>
                      </a:schemeClr>
                    </a:solidFill>
                    <a:effectLst/>
                    <a:ea typeface="Calibri" panose="020F0502020204030204" pitchFamily="34" charset="0"/>
                    <a:cs typeface="Arial" panose="020B0604020202020204" pitchFamily="34" charset="0"/>
                  </a:rPr>
                  <a:t> networks</a:t>
                </a:r>
                <a:r>
                  <a:rPr lang="en-US" sz="1800" dirty="0">
                    <a:effectLst/>
                    <a:ea typeface="Calibri" panose="020F0502020204030204" pitchFamily="34" charset="0"/>
                    <a:cs typeface="Arial" panose="020B0604020202020204" pitchFamily="34" charset="0"/>
                  </a:rPr>
                  <a:t>, </a:t>
                </a:r>
                <a:br>
                  <a:rPr lang="en-US" sz="1800" dirty="0">
                    <a:effectLst/>
                    <a:ea typeface="Calibri" panose="020F0502020204030204" pitchFamily="34" charset="0"/>
                    <a:cs typeface="Arial" panose="020B0604020202020204" pitchFamily="34" charset="0"/>
                  </a:rPr>
                </a:br>
                <a:r>
                  <a:rPr lang="en-US" sz="1800" dirty="0">
                    <a:effectLst/>
                    <a:ea typeface="Calibri" panose="020F0502020204030204" pitchFamily="34" charset="0"/>
                    <a:cs typeface="Arial" panose="020B0604020202020204" pitchFamily="34" charset="0"/>
                  </a:rPr>
                  <a:t>map m input vectors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1</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sup>
                    </m:sSup>
                  </m:oMath>
                </a14:m>
                <a:r>
                  <a:rPr lang="en-US" sz="1800" dirty="0">
                    <a:effectLst/>
                    <a:ea typeface="Calibri" panose="020F0502020204030204" pitchFamily="34" charset="0"/>
                    <a:cs typeface="Arial" panose="020B0604020202020204" pitchFamily="34" charset="0"/>
                  </a:rPr>
                  <a:t>in n-dimensional space to m output vectors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1</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sup>
                    </m:sSup>
                  </m:oMath>
                </a14:m>
                <a:r>
                  <a:rPr lang="en-US" sz="1800" dirty="0">
                    <a:effectLst/>
                    <a:ea typeface="Calibri" panose="020F0502020204030204" pitchFamily="34" charset="0"/>
                    <a:cs typeface="Arial" panose="020B0604020202020204" pitchFamily="34" charset="0"/>
                  </a:rPr>
                  <a:t>in k dimensional space so that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p>
                    </m:sSup>
                  </m:oMath>
                </a14:m>
                <a:endParaRPr lang="en-US" sz="2800" dirty="0">
                  <a:effectLst/>
                  <a:ea typeface="Calibri" panose="020F0502020204030204" pitchFamily="34" charset="0"/>
                  <a:cs typeface="Arial" panose="020B0604020202020204" pitchFamily="34" charset="0"/>
                </a:endParaRPr>
              </a:p>
              <a:p>
                <a:pPr marL="342900" lvl="0" indent="-342900">
                  <a:lnSpc>
                    <a:spcPct val="107000"/>
                  </a:lnSpc>
                  <a:spcAft>
                    <a:spcPts val="1200"/>
                  </a:spcAft>
                  <a:buFont typeface="Calibri" panose="020F0502020204030204" pitchFamily="34" charset="0"/>
                  <a:buChar char="-"/>
                </a:pPr>
                <a:r>
                  <a:rPr lang="en-US" sz="3200" dirty="0" err="1">
                    <a:solidFill>
                      <a:schemeClr val="accent1">
                        <a:lumMod val="50000"/>
                      </a:schemeClr>
                    </a:solidFill>
                    <a:effectLst/>
                    <a:ea typeface="Calibri" panose="020F0502020204030204" pitchFamily="34" charset="0"/>
                    <a:cs typeface="Arial" panose="020B0604020202020204" pitchFamily="34" charset="0"/>
                  </a:rPr>
                  <a:t>Autoassociative</a:t>
                </a:r>
                <a:r>
                  <a:rPr lang="en-US" sz="3200" dirty="0">
                    <a:solidFill>
                      <a:schemeClr val="accent1">
                        <a:lumMod val="50000"/>
                      </a:schemeClr>
                    </a:solidFill>
                    <a:effectLst/>
                    <a:ea typeface="Calibri" panose="020F0502020204030204" pitchFamily="34" charset="0"/>
                    <a:cs typeface="Arial" panose="020B0604020202020204" pitchFamily="34" charset="0"/>
                  </a:rPr>
                  <a:t> networks</a:t>
                </a:r>
                <a:r>
                  <a:rPr lang="en-US" sz="1800" dirty="0">
                    <a:effectLst/>
                    <a:ea typeface="Calibri" panose="020F0502020204030204" pitchFamily="34" charset="0"/>
                    <a:cs typeface="Arial" panose="020B0604020202020204" pitchFamily="34" charset="0"/>
                  </a:rPr>
                  <a:t>, </a:t>
                </a:r>
                <a:br>
                  <a:rPr lang="en-US" sz="1800" dirty="0">
                    <a:effectLst/>
                    <a:ea typeface="Calibri" panose="020F0502020204030204" pitchFamily="34" charset="0"/>
                    <a:cs typeface="Arial" panose="020B0604020202020204" pitchFamily="34" charset="0"/>
                  </a:rPr>
                </a:br>
                <a:r>
                  <a:rPr lang="en-US" sz="1800" dirty="0">
                    <a:effectLst/>
                    <a:ea typeface="Calibri" panose="020F0502020204030204" pitchFamily="34" charset="0"/>
                    <a:cs typeface="Arial" panose="020B0604020202020204" pitchFamily="34" charset="0"/>
                  </a:rPr>
                  <a:t>vector is associated with itself i.e.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i</m:t>
                        </m:r>
                      </m:sup>
                    </m:sSup>
                  </m:oMath>
                </a14:m>
                <a:r>
                  <a:rPr lang="en-US" sz="1800" dirty="0">
                    <a:effectLst/>
                    <a:ea typeface="Calibri" panose="020F0502020204030204" pitchFamily="34" charset="0"/>
                    <a:cs typeface="Arial" panose="020B0604020202020204" pitchFamily="34" charset="0"/>
                  </a:rPr>
                  <a:t>=</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i</m:t>
                        </m:r>
                      </m:sup>
                    </m:sSup>
                  </m:oMath>
                </a14:m>
                <a:endParaRPr lang="en-US" sz="2800" dirty="0">
                  <a:effectLst/>
                  <a:ea typeface="Calibri" panose="020F0502020204030204" pitchFamily="34" charset="0"/>
                  <a:cs typeface="Arial" panose="020B0604020202020204" pitchFamily="34" charset="0"/>
                </a:endParaRPr>
              </a:p>
              <a:p>
                <a:pPr marL="342900" lvl="0" indent="-342900">
                  <a:lnSpc>
                    <a:spcPct val="107000"/>
                  </a:lnSpc>
                  <a:spcAft>
                    <a:spcPts val="800"/>
                  </a:spcAft>
                  <a:buFont typeface="Calibri" panose="020F0502020204030204" pitchFamily="34" charset="0"/>
                  <a:buChar char="-"/>
                </a:pPr>
                <a:r>
                  <a:rPr lang="en-US" sz="3200" dirty="0">
                    <a:solidFill>
                      <a:schemeClr val="accent1">
                        <a:lumMod val="50000"/>
                      </a:schemeClr>
                    </a:solidFill>
                    <a:effectLst/>
                    <a:ea typeface="Calibri" panose="020F0502020204030204" pitchFamily="34" charset="0"/>
                    <a:cs typeface="Arial" panose="020B0604020202020204" pitchFamily="34" charset="0"/>
                  </a:rPr>
                  <a:t>Pattern recognition networks</a:t>
                </a:r>
                <a:r>
                  <a:rPr lang="en-US" dirty="0">
                    <a:ea typeface="Calibri" panose="020F0502020204030204" pitchFamily="34" charset="0"/>
                    <a:cs typeface="Arial" panose="020B0604020202020204" pitchFamily="34" charset="0"/>
                  </a:rPr>
                  <a:t>, </a:t>
                </a:r>
                <a:br>
                  <a:rPr lang="en-US" dirty="0">
                    <a:ea typeface="Calibri" panose="020F0502020204030204" pitchFamily="34" charset="0"/>
                    <a:cs typeface="Arial" panose="020B0604020202020204" pitchFamily="34" charset="0"/>
                  </a:rPr>
                </a:br>
                <a:r>
                  <a:rPr lang="en-US" dirty="0">
                    <a:ea typeface="Calibri" panose="020F0502020204030204" pitchFamily="34" charset="0"/>
                    <a:cs typeface="Arial" panose="020B0604020202020204" pitchFamily="34" charset="0"/>
                  </a:rPr>
                  <a:t>e</a:t>
                </a:r>
                <a:r>
                  <a:rPr lang="en-US" sz="1800" dirty="0">
                    <a:effectLst/>
                    <a:ea typeface="Calibri" panose="020F0502020204030204" pitchFamily="34" charset="0"/>
                    <a:cs typeface="Arial" panose="020B0604020202020204" pitchFamily="34" charset="0"/>
                  </a:rPr>
                  <a:t>ach vector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i</m:t>
                        </m:r>
                      </m:sup>
                    </m:sSup>
                    <m:r>
                      <a:rPr lang="en-US" sz="1800" i="1">
                        <a:effectLst/>
                        <a:latin typeface="Cambria Math" panose="02040503050406030204" pitchFamily="18" charset="0"/>
                        <a:ea typeface="Calibri" panose="020F0502020204030204" pitchFamily="34" charset="0"/>
                        <a:cs typeface="Calibri Light" panose="020F0302020204030204" pitchFamily="34" charset="0"/>
                      </a:rPr>
                      <m:t> </m:t>
                    </m:r>
                  </m:oMath>
                </a14:m>
                <a:r>
                  <a:rPr lang="en-US" sz="1800" dirty="0">
                    <a:effectLst/>
                    <a:ea typeface="Calibri" panose="020F0502020204030204" pitchFamily="34" charset="0"/>
                    <a:cs typeface="Arial" panose="020B0604020202020204" pitchFamily="34" charset="0"/>
                  </a:rPr>
                  <a:t>is associated with the scalar </a:t>
                </a:r>
                <a:r>
                  <a:rPr lang="en-US" sz="1800" dirty="0" err="1">
                    <a:effectLst/>
                    <a:ea typeface="Calibri" panose="020F0502020204030204" pitchFamily="34" charset="0"/>
                    <a:cs typeface="Arial" panose="020B0604020202020204" pitchFamily="34" charset="0"/>
                  </a:rPr>
                  <a:t>i</a:t>
                </a:r>
                <a:endParaRPr lang="en-US" sz="2800" dirty="0">
                  <a:effectLst/>
                  <a:ea typeface="Calibri" panose="020F0502020204030204" pitchFamily="34" charset="0"/>
                  <a:cs typeface="Arial" panose="020B0604020202020204" pitchFamily="34" charset="0"/>
                </a:endParaRPr>
              </a:p>
            </p:txBody>
          </p:sp>
        </mc:Choice>
        <mc:Fallback xmlns="">
          <p:sp>
            <p:nvSpPr>
              <p:cNvPr id="6" name="CasellaDiTesto 5">
                <a:extLst>
                  <a:ext uri="{FF2B5EF4-FFF2-40B4-BE49-F238E27FC236}">
                    <a16:creationId xmlns:a16="http://schemas.microsoft.com/office/drawing/2014/main" id="{DC6EB723-84F2-474F-A307-C5A1D36E476C}"/>
                  </a:ext>
                </a:extLst>
              </p:cNvPr>
              <p:cNvSpPr txBox="1">
                <a:spLocks noRot="1" noChangeAspect="1" noMove="1" noResize="1" noEditPoints="1" noAdjustHandles="1" noChangeArrowheads="1" noChangeShapeType="1" noTextEdit="1"/>
              </p:cNvSpPr>
              <p:nvPr/>
            </p:nvSpPr>
            <p:spPr>
              <a:xfrm>
                <a:off x="2546555" y="2373186"/>
                <a:ext cx="8072284" cy="3168303"/>
              </a:xfrm>
              <a:prstGeom prst="rect">
                <a:avLst/>
              </a:prstGeom>
              <a:blipFill>
                <a:blip r:embed="rId3"/>
                <a:stretch>
                  <a:fillRect l="-2039" t="-2500" b="-2308"/>
                </a:stretch>
              </a:blipFill>
            </p:spPr>
            <p:txBody>
              <a:bodyPr/>
              <a:lstStyle/>
              <a:p>
                <a:r>
                  <a:rPr lang="en-US">
                    <a:noFill/>
                  </a:rPr>
                  <a:t> </a:t>
                </a:r>
              </a:p>
            </p:txBody>
          </p:sp>
        </mc:Fallback>
      </mc:AlternateContent>
    </p:spTree>
    <p:extLst>
      <p:ext uri="{BB962C8B-B14F-4D97-AF65-F5344CB8AC3E}">
        <p14:creationId xmlns:p14="http://schemas.microsoft.com/office/powerpoint/2010/main" val="2019418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6B078DA0-0265-4211-B1FE-A300CEACEF15}"/>
              </a:ext>
            </a:extLst>
          </p:cNvPr>
          <p:cNvPicPr>
            <a:picLocks noChangeAspect="1"/>
          </p:cNvPicPr>
          <p:nvPr/>
        </p:nvPicPr>
        <p:blipFill rotWithShape="1">
          <a:blip r:embed="rId2"/>
          <a:srcRect b="12699"/>
          <a:stretch/>
        </p:blipFill>
        <p:spPr bwMode="auto">
          <a:xfrm>
            <a:off x="3055178" y="926660"/>
            <a:ext cx="5705366" cy="3126377"/>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B7905367-2365-48CB-A901-E5165D8881A9}"/>
                  </a:ext>
                </a:extLst>
              </p:cNvPr>
              <p:cNvSpPr txBox="1"/>
              <p:nvPr/>
            </p:nvSpPr>
            <p:spPr>
              <a:xfrm>
                <a:off x="334296" y="4368151"/>
                <a:ext cx="11582401" cy="1997406"/>
              </a:xfrm>
              <a:prstGeom prst="rect">
                <a:avLst/>
              </a:prstGeom>
              <a:noFill/>
            </p:spPr>
            <p:txBody>
              <a:bodyPr wrap="square">
                <a:spAutoFit/>
              </a:bodyPr>
              <a:lstStyle/>
              <a:p>
                <a:pPr>
                  <a:spcAft>
                    <a:spcPts val="1200"/>
                  </a:spcAft>
                </a:pPr>
                <a:r>
                  <a:rPr lang="en-US" sz="1800" dirty="0">
                    <a:effectLst/>
                    <a:ea typeface="Calibri" panose="020F0502020204030204" pitchFamily="34" charset="0"/>
                  </a:rPr>
                  <a:t>Let </a:t>
                </a:r>
                <a14:m>
                  <m:oMath xmlns:m="http://schemas.openxmlformats.org/officeDocument/2006/math">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oMath>
                </a14:m>
                <a:r>
                  <a:rPr lang="en-US" sz="1800" dirty="0">
                    <a:effectLst/>
                    <a:ea typeface="Calibri" panose="020F0502020204030204" pitchFamily="34" charset="0"/>
                  </a:rPr>
                  <a:t> denote the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𝑘</m:t>
                    </m:r>
                  </m:oMath>
                </a14:m>
                <a:r>
                  <a:rPr lang="en-US" sz="1800" dirty="0">
                    <a:effectLst/>
                    <a:ea typeface="Calibri" panose="020F0502020204030204" pitchFamily="34" charset="0"/>
                  </a:rPr>
                  <a:t> weight matrix </a:t>
                </a:r>
                <a14:m>
                  <m:oMath xmlns:m="http://schemas.openxmlformats.org/officeDocument/2006/math">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𝑤</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𝑖𝑗</m:t>
                            </m:r>
                          </m:sub>
                        </m:sSub>
                      </m:e>
                    </m:d>
                  </m:oMath>
                </a14:m>
                <a:r>
                  <a:rPr lang="en-US" sz="1800" dirty="0">
                    <a:effectLst/>
                    <a:ea typeface="Calibri" panose="020F0502020204030204" pitchFamily="34" charset="0"/>
                  </a:rPr>
                  <a:t>. </a:t>
                </a:r>
              </a:p>
              <a:p>
                <a:pPr>
                  <a:spcAft>
                    <a:spcPts val="1200"/>
                  </a:spcAft>
                </a:pPr>
                <a:r>
                  <a:rPr lang="en-US" sz="1800" dirty="0">
                    <a:effectLst/>
                    <a:ea typeface="Calibri" panose="020F0502020204030204" pitchFamily="34" charset="0"/>
                  </a:rPr>
                  <a:t>The row vector </a:t>
                </a:r>
                <a14:m>
                  <m:oMath xmlns:m="http://schemas.openxmlformats.org/officeDocument/2006/math">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b>
                        </m:sSub>
                      </m:e>
                    </m:d>
                  </m:oMath>
                </a14:m>
                <a:r>
                  <a:rPr lang="en-US" sz="1800" dirty="0">
                    <a:effectLst/>
                    <a:ea typeface="Calibri" panose="020F0502020204030204" pitchFamily="34" charset="0"/>
                  </a:rPr>
                  <a:t> produces the </a:t>
                </a:r>
                <a:r>
                  <a:rPr lang="en-US" sz="1800" dirty="0">
                    <a:solidFill>
                      <a:schemeClr val="accent1">
                        <a:lumMod val="50000"/>
                      </a:schemeClr>
                    </a:solidFill>
                    <a:effectLst/>
                    <a:ea typeface="Calibri" panose="020F0502020204030204" pitchFamily="34" charset="0"/>
                  </a:rPr>
                  <a:t>excitation vector</a:t>
                </a:r>
                <a:r>
                  <a:rPr lang="en-US" sz="1800" dirty="0">
                    <a:effectLst/>
                    <a:ea typeface="Calibri" panose="020F0502020204030204" pitchFamily="34" charset="0"/>
                  </a:rPr>
                  <a:t> </a:t>
                </a:r>
                <a14:m>
                  <m:oMath xmlns:m="http://schemas.openxmlformats.org/officeDocument/2006/math">
                    <m:r>
                      <a:rPr lang="en-US" sz="1800" b="1" i="1">
                        <a:effectLst/>
                        <a:latin typeface="Cambria Math" panose="02040503050406030204" pitchFamily="18" charset="0"/>
                        <a:ea typeface="Calibri" panose="020F0502020204030204" pitchFamily="34" charset="0"/>
                        <a:cs typeface="Calibri Light" panose="020F0302020204030204" pitchFamily="34" charset="0"/>
                      </a:rPr>
                      <m:t>𝐞</m:t>
                    </m:r>
                  </m:oMath>
                </a14:m>
                <a:r>
                  <a:rPr lang="en-US" sz="1800" dirty="0">
                    <a:effectLst/>
                    <a:ea typeface="Calibri" panose="020F0502020204030204" pitchFamily="34" charset="0"/>
                  </a:rPr>
                  <a:t> through the computation</a:t>
                </a:r>
                <a:endParaRPr lang="en-US" sz="2800" dirty="0">
                  <a:effectLst/>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b="1" i="1">
                          <a:effectLst/>
                          <a:latin typeface="Cambria Math" panose="02040503050406030204" pitchFamily="18" charset="0"/>
                          <a:ea typeface="Calibri" panose="020F0502020204030204" pitchFamily="34" charset="0"/>
                          <a:cs typeface="Calibri Light" panose="020F0302020204030204" pitchFamily="34" charset="0"/>
                        </a:rPr>
                        <m:t>𝐞</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𝐱𝐖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sz="2800" dirty="0">
                  <a:effectLst/>
                  <a:ea typeface="Calibri" panose="020F0502020204030204" pitchFamily="34" charset="0"/>
                </a:endParaRPr>
              </a:p>
              <a:p>
                <a:pPr>
                  <a:spcAft>
                    <a:spcPts val="1200"/>
                  </a:spcAft>
                </a:pPr>
                <a:r>
                  <a:rPr lang="en-US" sz="1800" dirty="0">
                    <a:effectLst/>
                    <a:ea typeface="Calibri" panose="020F0502020204030204" pitchFamily="34" charset="0"/>
                  </a:rPr>
                  <a:t>The activation function is computed next for each unit. In general,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oMath>
                </a14:m>
                <a:r>
                  <a:rPr lang="en-US" sz="1800" dirty="0">
                    <a:effectLst/>
                    <a:ea typeface="Calibri" panose="020F0502020204030204" pitchFamily="34" charset="0"/>
                  </a:rPr>
                  <a:t> different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oMath>
                </a14:m>
                <a:r>
                  <a:rPr lang="en-US" sz="1800" dirty="0">
                    <a:effectLst/>
                    <a:ea typeface="Calibri" panose="020F0502020204030204" pitchFamily="34" charset="0"/>
                  </a:rPr>
                  <a:t>-dimensional row vectors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1</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sup>
                    </m:sSup>
                  </m:oMath>
                </a14:m>
                <a:r>
                  <a:rPr lang="en-US" sz="1800" dirty="0">
                    <a:effectLst/>
                    <a:ea typeface="Calibri" panose="020F0502020204030204" pitchFamily="34" charset="0"/>
                  </a:rPr>
                  <a:t> have to be associated with m k-dimensional row vectors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1</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sup>
                    </m:sSup>
                  </m:oMath>
                </a14:m>
                <a:endParaRPr lang="en-US" sz="2800" dirty="0">
                  <a:effectLst/>
                  <a:ea typeface="Calibri" panose="020F0502020204030204" pitchFamily="34" charset="0"/>
                </a:endParaRPr>
              </a:p>
            </p:txBody>
          </p:sp>
        </mc:Choice>
        <mc:Fallback xmlns="">
          <p:sp>
            <p:nvSpPr>
              <p:cNvPr id="7" name="CasellaDiTesto 6">
                <a:extLst>
                  <a:ext uri="{FF2B5EF4-FFF2-40B4-BE49-F238E27FC236}">
                    <a16:creationId xmlns:a16="http://schemas.microsoft.com/office/drawing/2014/main" id="{B7905367-2365-48CB-A901-E5165D8881A9}"/>
                  </a:ext>
                </a:extLst>
              </p:cNvPr>
              <p:cNvSpPr txBox="1">
                <a:spLocks noRot="1" noChangeAspect="1" noMove="1" noResize="1" noEditPoints="1" noAdjustHandles="1" noChangeArrowheads="1" noChangeShapeType="1" noTextEdit="1"/>
              </p:cNvSpPr>
              <p:nvPr/>
            </p:nvSpPr>
            <p:spPr>
              <a:xfrm>
                <a:off x="334296" y="4368151"/>
                <a:ext cx="11582401" cy="1997406"/>
              </a:xfrm>
              <a:prstGeom prst="rect">
                <a:avLst/>
              </a:prstGeom>
              <a:blipFill>
                <a:blip r:embed="rId4"/>
                <a:stretch>
                  <a:fillRect l="-474" t="-612" b="-3364"/>
                </a:stretch>
              </a:blipFill>
            </p:spPr>
            <p:txBody>
              <a:bodyPr/>
              <a:lstStyle/>
              <a:p>
                <a:r>
                  <a:rPr lang="en-US">
                    <a:noFill/>
                  </a:rPr>
                  <a:t> </a:t>
                </a:r>
              </a:p>
            </p:txBody>
          </p:sp>
        </mc:Fallback>
      </mc:AlternateContent>
    </p:spTree>
    <p:extLst>
      <p:ext uri="{BB962C8B-B14F-4D97-AF65-F5344CB8AC3E}">
        <p14:creationId xmlns:p14="http://schemas.microsoft.com/office/powerpoint/2010/main" val="3623348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140200C7-774F-4A54-A299-E1002AEF3149}"/>
              </a:ext>
            </a:extLst>
          </p:cNvPr>
          <p:cNvSpPr txBox="1"/>
          <p:nvPr/>
        </p:nvSpPr>
        <p:spPr>
          <a:xfrm>
            <a:off x="5250617" y="692463"/>
            <a:ext cx="8190271" cy="769441"/>
          </a:xfrm>
          <a:prstGeom prst="rect">
            <a:avLst/>
          </a:prstGeom>
          <a:noFill/>
        </p:spPr>
        <p:txBody>
          <a:bodyPr wrap="square" rtlCol="0">
            <a:spAutoFit/>
          </a:bodyPr>
          <a:lstStyle/>
          <a:p>
            <a:r>
              <a:rPr lang="it-IT" sz="4400" dirty="0">
                <a:solidFill>
                  <a:schemeClr val="accent1">
                    <a:lumMod val="50000"/>
                  </a:schemeClr>
                </a:solidFill>
                <a:latin typeface="+mj-lt"/>
              </a:rPr>
              <a:t>CAM</a:t>
            </a:r>
            <a:endParaRPr lang="en-US" sz="4400" dirty="0">
              <a:solidFill>
                <a:schemeClr val="accent1">
                  <a:lumMod val="50000"/>
                </a:schemeClr>
              </a:solidFill>
              <a:latin typeface="+mj-lt"/>
            </a:endParaRPr>
          </a:p>
        </p:txBody>
      </p:sp>
      <p:pic>
        <p:nvPicPr>
          <p:cNvPr id="3" name="Immagine 2">
            <a:extLst>
              <a:ext uri="{FF2B5EF4-FFF2-40B4-BE49-F238E27FC236}">
                <a16:creationId xmlns:a16="http://schemas.microsoft.com/office/drawing/2014/main" id="{E1DC6D71-DD59-446E-BE97-5CC43AE65A6A}"/>
              </a:ext>
            </a:extLst>
          </p:cNvPr>
          <p:cNvPicPr>
            <a:picLocks noChangeAspect="1"/>
          </p:cNvPicPr>
          <p:nvPr/>
        </p:nvPicPr>
        <p:blipFill rotWithShape="1">
          <a:blip r:embed="rId2"/>
          <a:srcRect b="12665"/>
          <a:stretch/>
        </p:blipFill>
        <p:spPr bwMode="auto">
          <a:xfrm>
            <a:off x="5165090" y="1906269"/>
            <a:ext cx="6549390" cy="4057427"/>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6206FBF5-7C98-4A2A-8DF4-D103A1D133F2}"/>
                  </a:ext>
                </a:extLst>
              </p:cNvPr>
              <p:cNvSpPr txBox="1"/>
              <p:nvPr/>
            </p:nvSpPr>
            <p:spPr>
              <a:xfrm>
                <a:off x="708660" y="2923018"/>
                <a:ext cx="6720840" cy="1289071"/>
              </a:xfrm>
              <a:prstGeom prst="rect">
                <a:avLst/>
              </a:prstGeom>
              <a:noFill/>
            </p:spPr>
            <p:txBody>
              <a:bodyPr wrap="square">
                <a:spAutoFit/>
              </a:bodyPr>
              <a:lstStyle/>
              <a:p>
                <a:pPr lvl="0">
                  <a:lnSpc>
                    <a:spcPct val="107000"/>
                  </a:lnSpc>
                  <a:spcAft>
                    <a:spcPts val="1200"/>
                  </a:spcAft>
                </a:pPr>
                <a:r>
                  <a:rPr lang="en-US" dirty="0">
                    <a:solidFill>
                      <a:schemeClr val="accent1">
                        <a:lumMod val="50000"/>
                      </a:schemeClr>
                    </a:solidFill>
                    <a:effectLst/>
                    <a:ea typeface="Calibri" panose="020F0502020204030204" pitchFamily="34" charset="0"/>
                    <a:cs typeface="Arial" panose="020B0604020202020204" pitchFamily="34" charset="0"/>
                  </a:rPr>
                  <a:t>Autoassociative networks</a:t>
                </a:r>
                <a:r>
                  <a:rPr lang="en-US" sz="1800" dirty="0">
                    <a:effectLst/>
                    <a:ea typeface="Calibri" panose="020F0502020204030204" pitchFamily="34" charset="0"/>
                    <a:cs typeface="Arial" panose="020B0604020202020204" pitchFamily="34" charset="0"/>
                  </a:rPr>
                  <a:t>, </a:t>
                </a:r>
                <a:br>
                  <a:rPr lang="en-US" sz="1800" dirty="0">
                    <a:effectLst/>
                    <a:ea typeface="Calibri" panose="020F0502020204030204" pitchFamily="34" charset="0"/>
                    <a:cs typeface="Arial" panose="020B0604020202020204" pitchFamily="34" charset="0"/>
                  </a:rPr>
                </a:br>
                <a:r>
                  <a:rPr lang="en-US" sz="1800" dirty="0">
                    <a:effectLst/>
                    <a:ea typeface="Calibri" panose="020F0502020204030204" pitchFamily="34" charset="0"/>
                    <a:cs typeface="Arial" panose="020B0604020202020204" pitchFamily="34" charset="0"/>
                  </a:rPr>
                  <a:t>vector is associated with itself i.e.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i</m:t>
                        </m:r>
                      </m:sup>
                    </m:sSup>
                  </m:oMath>
                </a14:m>
                <a:r>
                  <a:rPr lang="en-US" sz="1800" dirty="0">
                    <a:effectLst/>
                    <a:ea typeface="Calibri" panose="020F0502020204030204" pitchFamily="34" charset="0"/>
                    <a:cs typeface="Arial" panose="020B0604020202020204" pitchFamily="34" charset="0"/>
                  </a:rPr>
                  <a:t>=</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i</m:t>
                        </m:r>
                      </m:sup>
                    </m:sSup>
                  </m:oMath>
                </a14:m>
                <a:endParaRPr lang="en-US" sz="2800" dirty="0">
                  <a:effectLst/>
                  <a:ea typeface="Calibri" panose="020F0502020204030204" pitchFamily="34" charset="0"/>
                  <a:cs typeface="Arial" panose="020B0604020202020204" pitchFamily="34" charset="0"/>
                </a:endParaRPr>
              </a:p>
              <a:p>
                <a:pPr lvl="0">
                  <a:lnSpc>
                    <a:spcPct val="107000"/>
                  </a:lnSpc>
                  <a:spcAft>
                    <a:spcPts val="1200"/>
                  </a:spcAft>
                </a:pPr>
                <a:endParaRPr lang="en-US" sz="2800" dirty="0">
                  <a:effectLst/>
                  <a:ea typeface="Calibri" panose="020F0502020204030204" pitchFamily="34" charset="0"/>
                  <a:cs typeface="Arial" panose="020B0604020202020204" pitchFamily="34" charset="0"/>
                </a:endParaRPr>
              </a:p>
            </p:txBody>
          </p:sp>
        </mc:Choice>
        <mc:Fallback xmlns="">
          <p:sp>
            <p:nvSpPr>
              <p:cNvPr id="5" name="CasellaDiTesto 4">
                <a:extLst>
                  <a:ext uri="{FF2B5EF4-FFF2-40B4-BE49-F238E27FC236}">
                    <a16:creationId xmlns:a16="http://schemas.microsoft.com/office/drawing/2014/main" id="{6206FBF5-7C98-4A2A-8DF4-D103A1D133F2}"/>
                  </a:ext>
                </a:extLst>
              </p:cNvPr>
              <p:cNvSpPr txBox="1">
                <a:spLocks noRot="1" noChangeAspect="1" noMove="1" noResize="1" noEditPoints="1" noAdjustHandles="1" noChangeArrowheads="1" noChangeShapeType="1" noTextEdit="1"/>
              </p:cNvSpPr>
              <p:nvPr/>
            </p:nvSpPr>
            <p:spPr>
              <a:xfrm>
                <a:off x="708660" y="2923018"/>
                <a:ext cx="6720840" cy="1289071"/>
              </a:xfrm>
              <a:prstGeom prst="rect">
                <a:avLst/>
              </a:prstGeom>
              <a:blipFill>
                <a:blip r:embed="rId3"/>
                <a:stretch>
                  <a:fillRect l="-725" t="-1887"/>
                </a:stretch>
              </a:blipFill>
            </p:spPr>
            <p:txBody>
              <a:bodyPr/>
              <a:lstStyle/>
              <a:p>
                <a:r>
                  <a:rPr lang="en-US">
                    <a:noFill/>
                  </a:rPr>
                  <a:t> </a:t>
                </a:r>
              </a:p>
            </p:txBody>
          </p:sp>
        </mc:Fallback>
      </mc:AlternateContent>
      <p:sp>
        <p:nvSpPr>
          <p:cNvPr id="7" name="CasellaDiTesto 6">
            <a:extLst>
              <a:ext uri="{FF2B5EF4-FFF2-40B4-BE49-F238E27FC236}">
                <a16:creationId xmlns:a16="http://schemas.microsoft.com/office/drawing/2014/main" id="{2E54D798-B4A6-4EED-8BD3-C1F19C56F503}"/>
              </a:ext>
            </a:extLst>
          </p:cNvPr>
          <p:cNvSpPr txBox="1"/>
          <p:nvPr/>
        </p:nvSpPr>
        <p:spPr>
          <a:xfrm>
            <a:off x="637540" y="3934982"/>
            <a:ext cx="5326380" cy="923330"/>
          </a:xfrm>
          <a:prstGeom prst="rect">
            <a:avLst/>
          </a:prstGeom>
          <a:noFill/>
        </p:spPr>
        <p:txBody>
          <a:bodyPr wrap="square">
            <a:spAutoFit/>
          </a:bodyPr>
          <a:lstStyle/>
          <a:p>
            <a:r>
              <a:rPr lang="en-US" sz="1800" dirty="0">
                <a:solidFill>
                  <a:schemeClr val="accent1">
                    <a:lumMod val="50000"/>
                  </a:schemeClr>
                </a:solidFill>
                <a:effectLst/>
              </a:rPr>
              <a:t>Content addressable memory (CAM) </a:t>
            </a:r>
          </a:p>
          <a:p>
            <a:r>
              <a:rPr lang="en-US" sz="1800" dirty="0">
                <a:effectLst/>
              </a:rPr>
              <a:t>is a form of </a:t>
            </a:r>
            <a:r>
              <a:rPr lang="en-US" sz="1800" dirty="0" err="1">
                <a:effectLst/>
              </a:rPr>
              <a:t>autoassociative</a:t>
            </a:r>
            <a:r>
              <a:rPr lang="en-US" sz="1800" dirty="0">
                <a:effectLst/>
              </a:rPr>
              <a:t> memory that recalls information by value </a:t>
            </a:r>
            <a:endParaRPr lang="en-US" dirty="0"/>
          </a:p>
        </p:txBody>
      </p:sp>
      <p:sp>
        <p:nvSpPr>
          <p:cNvPr id="2" name="CasellaDiTesto 1">
            <a:extLst>
              <a:ext uri="{FF2B5EF4-FFF2-40B4-BE49-F238E27FC236}">
                <a16:creationId xmlns:a16="http://schemas.microsoft.com/office/drawing/2014/main" id="{BD7164BD-8B8D-4FA0-AEDB-72880B286A47}"/>
              </a:ext>
            </a:extLst>
          </p:cNvPr>
          <p:cNvSpPr txBox="1"/>
          <p:nvPr/>
        </p:nvSpPr>
        <p:spPr>
          <a:xfrm>
            <a:off x="708660" y="5346441"/>
            <a:ext cx="3443462" cy="646331"/>
          </a:xfrm>
          <a:prstGeom prst="rect">
            <a:avLst/>
          </a:prstGeom>
          <a:noFill/>
        </p:spPr>
        <p:txBody>
          <a:bodyPr wrap="square" rtlCol="0">
            <a:spAutoFit/>
          </a:bodyPr>
          <a:lstStyle/>
          <a:p>
            <a:r>
              <a:rPr lang="it-IT" dirty="0">
                <a:solidFill>
                  <a:schemeClr val="accent1"/>
                </a:solidFill>
              </a:rPr>
              <a:t>In general input/output </a:t>
            </a:r>
            <a:r>
              <a:rPr lang="it-IT" dirty="0" err="1">
                <a:solidFill>
                  <a:schemeClr val="accent1"/>
                </a:solidFill>
              </a:rPr>
              <a:t>vector</a:t>
            </a:r>
            <a:r>
              <a:rPr lang="it-IT" dirty="0">
                <a:solidFill>
                  <a:schemeClr val="accent1"/>
                </a:solidFill>
              </a:rPr>
              <a:t> </a:t>
            </a:r>
            <a:r>
              <a:rPr lang="it-IT" dirty="0" err="1">
                <a:solidFill>
                  <a:schemeClr val="accent1"/>
                </a:solidFill>
              </a:rPr>
              <a:t>is</a:t>
            </a:r>
            <a:r>
              <a:rPr lang="it-IT" dirty="0">
                <a:solidFill>
                  <a:schemeClr val="accent1"/>
                </a:solidFill>
              </a:rPr>
              <a:t> </a:t>
            </a:r>
            <a:r>
              <a:rPr lang="it-IT" dirty="0" err="1">
                <a:solidFill>
                  <a:schemeClr val="accent1"/>
                </a:solidFill>
              </a:rPr>
              <a:t>bipolar</a:t>
            </a:r>
            <a:endParaRPr lang="en-US" dirty="0">
              <a:solidFill>
                <a:schemeClr val="accent1"/>
              </a:solidFill>
            </a:endParaRPr>
          </a:p>
        </p:txBody>
      </p:sp>
    </p:spTree>
    <p:extLst>
      <p:ext uri="{BB962C8B-B14F-4D97-AF65-F5344CB8AC3E}">
        <p14:creationId xmlns:p14="http://schemas.microsoft.com/office/powerpoint/2010/main" val="149766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3B0E3468-0902-4222-9B6E-FE85827DB812}"/>
                  </a:ext>
                </a:extLst>
              </p:cNvPr>
              <p:cNvSpPr txBox="1"/>
              <p:nvPr/>
            </p:nvSpPr>
            <p:spPr>
              <a:xfrm>
                <a:off x="363466" y="1162402"/>
                <a:ext cx="11720051" cy="5695598"/>
              </a:xfrm>
              <a:prstGeom prst="rect">
                <a:avLst/>
              </a:prstGeom>
              <a:noFill/>
            </p:spPr>
            <p:txBody>
              <a:bodyPr wrap="square">
                <a:spAutoFit/>
              </a:bodyPr>
              <a:lstStyle/>
              <a:p>
                <a:r>
                  <a:rPr lang="en-US" sz="1600" dirty="0">
                    <a:effectLst/>
                    <a:latin typeface="Calibri Light" panose="020F0302020204030204" pitchFamily="34" charset="0"/>
                    <a:ea typeface="Calibri" panose="020F0502020204030204" pitchFamily="34" charset="0"/>
                  </a:rPr>
                  <a:t> </a:t>
                </a:r>
                <a:endParaRPr lang="en-US" sz="2800" dirty="0">
                  <a:effectLst/>
                  <a:latin typeface="Calibri" panose="020F0502020204030204" pitchFamily="34" charset="0"/>
                  <a:ea typeface="Calibri" panose="020F0502020204030204" pitchFamily="34" charset="0"/>
                </a:endParaRPr>
              </a:p>
              <a:p>
                <a:pPr>
                  <a:spcAft>
                    <a:spcPts val="800"/>
                  </a:spcAft>
                </a:pPr>
                <a:r>
                  <a:rPr lang="en-US" dirty="0">
                    <a:ea typeface="Calibri" panose="020F0502020204030204" pitchFamily="34" charset="0"/>
                  </a:rPr>
                  <a:t>M</a:t>
                </a:r>
                <a:r>
                  <a:rPr lang="en-US" sz="1800" dirty="0">
                    <a:effectLst/>
                    <a:ea typeface="Calibri" panose="020F0502020204030204" pitchFamily="34" charset="0"/>
                  </a:rPr>
                  <a:t>atrix </a:t>
                </a:r>
                <a14:m>
                  <m:oMath xmlns:m="http://schemas.openxmlformats.org/officeDocument/2006/math">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oMath>
                </a14:m>
                <a:r>
                  <a:rPr lang="en-US" sz="1800" dirty="0">
                    <a:effectLst/>
                    <a:ea typeface="Calibri" panose="020F0502020204030204" pitchFamily="34" charset="0"/>
                  </a:rPr>
                  <a:t> has at most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oMath>
                </a14:m>
                <a:r>
                  <a:rPr lang="en-US" sz="1800" dirty="0">
                    <a:effectLst/>
                    <a:ea typeface="Calibri" panose="020F0502020204030204" pitchFamily="34" charset="0"/>
                  </a:rPr>
                  <a:t> linear independent eigenvectors and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oMath>
                </a14:m>
                <a:r>
                  <a:rPr lang="en-US" sz="1800" dirty="0">
                    <a:effectLst/>
                    <a:ea typeface="Calibri" panose="020F0502020204030204" pitchFamily="34" charset="0"/>
                  </a:rPr>
                  <a:t> eigenvalues. </a:t>
                </a:r>
              </a:p>
              <a:p>
                <a:pPr>
                  <a:spcAft>
                    <a:spcPts val="800"/>
                  </a:spcAft>
                </a:pPr>
                <a:r>
                  <a:rPr lang="en-US" sz="1800" dirty="0">
                    <a:effectLst/>
                    <a:ea typeface="Calibri" panose="020F0502020204030204" pitchFamily="34" charset="0"/>
                  </a:rPr>
                  <a:t>The eigenvectors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1</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p>
                  </m:oMath>
                </a14:m>
                <a:r>
                  <a:rPr lang="en-US" sz="1800" dirty="0">
                    <a:effectLst/>
                    <a:ea typeface="Calibri" panose="020F0502020204030204" pitchFamily="34" charset="0"/>
                  </a:rPr>
                  <a:t> satisfy</a:t>
                </a:r>
                <a:endParaRPr lang="en-US" sz="2800" dirty="0">
                  <a:effectLst/>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p>
                      </m:sSup>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𝜆</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p>
                      </m:sSup>
                      <m:box>
                        <m:box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boxPr>
                        <m:e>
                          <m:r>
                            <a:rPr lang="en-US" sz="1800">
                              <a:effectLst/>
                              <a:latin typeface="Cambria Math" panose="02040503050406030204" pitchFamily="18" charset="0"/>
                              <a:ea typeface="Calibri" panose="020F0502020204030204" pitchFamily="34" charset="0"/>
                              <a:cs typeface="Calibri Light" panose="020F0302020204030204" pitchFamily="34" charset="0"/>
                            </a:rPr>
                            <m:t> </m:t>
                          </m:r>
                        </m:e>
                      </m:box>
                      <m:r>
                        <m:rPr>
                          <m:nor/>
                        </m:rPr>
                        <a:rPr lang="en-US" sz="1800" i="1">
                          <a:effectLst/>
                          <a:ea typeface="Calibri" panose="020F0502020204030204" pitchFamily="34" charset="0"/>
                        </a:rPr>
                        <m:t> </m:t>
                      </m:r>
                      <m:r>
                        <m:rPr>
                          <m:nor/>
                        </m:rPr>
                        <a:rPr lang="en-US" sz="1800">
                          <a:effectLst/>
                          <a:ea typeface="Calibri" panose="020F0502020204030204" pitchFamily="34" charset="0"/>
                        </a:rPr>
                        <m:t>for</m:t>
                      </m:r>
                      <m:r>
                        <m:rPr>
                          <m:nor/>
                        </m:rPr>
                        <a:rPr lang="en-US" sz="1800" i="1">
                          <a:effectLst/>
                          <a:ea typeface="Calibri" panose="020F0502020204030204" pitchFamily="34" charset="0"/>
                        </a:rPr>
                        <m:t> </m:t>
                      </m:r>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sz="2800" dirty="0">
                  <a:effectLst/>
                  <a:ea typeface="Calibri" panose="020F0502020204030204" pitchFamily="34" charset="0"/>
                </a:endParaRPr>
              </a:p>
              <a:p>
                <a:pPr>
                  <a:spcAft>
                    <a:spcPts val="1200"/>
                  </a:spcAft>
                </a:pPr>
                <a:r>
                  <a:rPr lang="en-US" sz="1800" dirty="0">
                    <a:effectLst/>
                    <a:ea typeface="Calibri" panose="020F0502020204030204" pitchFamily="34" charset="0"/>
                  </a:rPr>
                  <a:t>where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𝜆</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𝜆</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b>
                    </m:sSub>
                  </m:oMath>
                </a14:m>
                <a:r>
                  <a:rPr lang="en-US" sz="1800" dirty="0">
                    <a:effectLst/>
                    <a:ea typeface="Calibri" panose="020F0502020204030204" pitchFamily="34" charset="0"/>
                  </a:rPr>
                  <a:t> are the matrix eigenvalues.</a:t>
                </a:r>
              </a:p>
              <a:p>
                <a:pPr>
                  <a:spcAft>
                    <a:spcPts val="1200"/>
                  </a:spcAft>
                </a:pPr>
                <a:br>
                  <a:rPr lang="en-US" sz="1800" dirty="0">
                    <a:effectLst/>
                    <a:ea typeface="Calibri" panose="020F0502020204030204" pitchFamily="34" charset="0"/>
                  </a:rPr>
                </a:br>
                <a:r>
                  <a:rPr lang="en-US" sz="1800" dirty="0">
                    <a:effectLst/>
                    <a:ea typeface="Calibri" panose="020F0502020204030204" pitchFamily="34" charset="0"/>
                  </a:rPr>
                  <a:t>Assume </a:t>
                </a:r>
                <a14:m>
                  <m:oMath xmlns:m="http://schemas.openxmlformats.org/officeDocument/2006/math">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𝜆</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e>
                    </m:d>
                    <m:r>
                      <a:rPr lang="en-US" sz="1800">
                        <a:effectLst/>
                        <a:latin typeface="Cambria Math" panose="02040503050406030204" pitchFamily="18" charset="0"/>
                        <a:ea typeface="Calibri" panose="020F0502020204030204" pitchFamily="34" charset="0"/>
                        <a:cs typeface="Calibri Light" panose="020F0302020204030204" pitchFamily="34" charset="0"/>
                      </a:rPr>
                      <m:t>&gt;</m:t>
                    </m:r>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𝜆</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e>
                    </m:d>
                  </m:oMath>
                </a14:m>
                <a:r>
                  <a:rPr lang="en-US" sz="1800" dirty="0">
                    <a:effectLst/>
                    <a:ea typeface="Calibri" panose="020F0502020204030204" pitchFamily="34" charset="0"/>
                  </a:rPr>
                  <a:t> for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oMath>
                </a14:m>
                <a:r>
                  <a:rPr lang="en-US" sz="1800" dirty="0">
                    <a:effectLst/>
                    <a:ea typeface="Calibri" panose="020F0502020204030204" pitchFamily="34" charset="0"/>
                  </a:rPr>
                  <a:t>. Let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𝜆</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&gt;0</m:t>
                    </m:r>
                  </m:oMath>
                </a14:m>
                <a:r>
                  <a:rPr lang="en-US" sz="1800" dirty="0">
                    <a:effectLst/>
                    <a:ea typeface="Calibri" panose="020F0502020204030204" pitchFamily="34" charset="0"/>
                  </a:rPr>
                  <a:t> and pick randomly a non-zero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oMath>
                </a14:m>
                <a:r>
                  <a:rPr lang="en-US" sz="1800" dirty="0">
                    <a:effectLst/>
                    <a:ea typeface="Calibri" panose="020F0502020204030204" pitchFamily="34" charset="0"/>
                  </a:rPr>
                  <a:t>-dimensional vector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𝐚</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0</m:t>
                        </m:r>
                      </m:sub>
                    </m:sSub>
                  </m:oMath>
                </a14:m>
                <a:r>
                  <a:rPr lang="en-US" sz="1800" dirty="0">
                    <a:effectLst/>
                    <a:ea typeface="Calibri" panose="020F0502020204030204" pitchFamily="34" charset="0"/>
                  </a:rPr>
                  <a:t>. This vector can be expressed as a linear combination of the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oMath>
                </a14:m>
                <a:r>
                  <a:rPr lang="en-US" sz="1800" dirty="0">
                    <a:effectLst/>
                    <a:ea typeface="Calibri" panose="020F0502020204030204" pitchFamily="34" charset="0"/>
                  </a:rPr>
                  <a:t> eigenvectors of the matrix </a:t>
                </a:r>
                <a14:m>
                  <m:oMath xmlns:m="http://schemas.openxmlformats.org/officeDocument/2006/math">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oMath>
                </a14:m>
                <a:r>
                  <a:rPr lang="en-US" sz="1800" dirty="0">
                    <a:effectLst/>
                    <a:ea typeface="Calibri" panose="020F0502020204030204" pitchFamily="34" charset="0"/>
                  </a:rPr>
                  <a:t> :</a:t>
                </a:r>
                <a:endParaRPr lang="en-US" sz="2800" dirty="0">
                  <a:effectLst/>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𝐚</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0</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𝛼</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1</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𝛼</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𝛼</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b>
                      </m:sSub>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sz="2800" dirty="0">
                  <a:effectLst/>
                  <a:ea typeface="Calibri" panose="020F0502020204030204" pitchFamily="34" charset="0"/>
                </a:endParaRPr>
              </a:p>
              <a:p>
                <a:pPr>
                  <a:spcAft>
                    <a:spcPts val="1200"/>
                  </a:spcAft>
                </a:pPr>
                <a:r>
                  <a:rPr lang="en-US" sz="1800" dirty="0">
                    <a:effectLst/>
                    <a:ea typeface="Calibri" panose="020F0502020204030204" pitchFamily="34" charset="0"/>
                  </a:rPr>
                  <a:t>Assume that all constants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𝛼</m:t>
                    </m:r>
                  </m:oMath>
                </a14:m>
                <a:r>
                  <a:rPr lang="en-US" sz="1800" dirty="0">
                    <a:effectLst/>
                    <a:ea typeface="Calibri" panose="020F0502020204030204" pitchFamily="34" charset="0"/>
                  </a:rPr>
                  <a:t> are non-zero. After the first iteration with the weight matrix </a:t>
                </a:r>
                <a14:m>
                  <m:oMath xmlns:m="http://schemas.openxmlformats.org/officeDocument/2006/math">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oMath>
                </a14:m>
                <a:r>
                  <a:rPr lang="en-US" sz="1800" dirty="0">
                    <a:effectLst/>
                    <a:ea typeface="Calibri" panose="020F0502020204030204" pitchFamily="34" charset="0"/>
                  </a:rPr>
                  <a:t> we get</a:t>
                </a:r>
                <a:endParaRPr lang="en-US" sz="2800" dirty="0">
                  <a:effectLst/>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mPr>
                        <m:m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𝐚</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e>
                          <m:e>
                            <m:r>
                              <a:rPr lang="en-US" sz="1800" i="1">
                                <a:effectLst/>
                                <a:latin typeface="Cambria Math" panose="02040503050406030204" pitchFamily="18" charset="0"/>
                                <a:ea typeface="Calibri" panose="020F0502020204030204" pitchFamily="34" charset="0"/>
                                <a:cs typeface="Calibri Light" panose="020F0302020204030204" pitchFamily="34" charset="0"/>
                              </a:rPr>
                              <m:t> </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𝐚</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0</m:t>
                                </m:r>
                              </m:sub>
                            </m:sSub>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e>
                        </m:mr>
                        <m:mr>
                          <m:e/>
                          <m:e>
                            <m:r>
                              <a:rPr lang="en-US" sz="1800" i="1">
                                <a:effectLst/>
                                <a:latin typeface="Cambria Math" panose="02040503050406030204" pitchFamily="18" charset="0"/>
                                <a:ea typeface="Calibri" panose="020F0502020204030204" pitchFamily="34" charset="0"/>
                                <a:cs typeface="Calibri Light" panose="020F0302020204030204" pitchFamily="34" charset="0"/>
                              </a:rPr>
                              <m:t> </m:t>
                            </m:r>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𝛼</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1</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𝛼</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𝛼</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b>
                                </m:sSub>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p>
                              </m:e>
                            </m:d>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e>
                        </m:mr>
                        <m:mr>
                          <m:e/>
                          <m:e>
                            <m:r>
                              <a:rPr lang="en-US" sz="1800" i="1">
                                <a:effectLst/>
                                <a:latin typeface="Cambria Math" panose="02040503050406030204" pitchFamily="18" charset="0"/>
                                <a:ea typeface="Calibri" panose="020F0502020204030204" pitchFamily="34" charset="0"/>
                                <a:cs typeface="Calibri Light" panose="020F0302020204030204" pitchFamily="34" charset="0"/>
                              </a:rPr>
                              <m:t> </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𝛼</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𝜆</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1</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𝛼</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𝜆</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𝛼</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b>
                            </m:s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𝜆</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b>
                            </m:sSub>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e>
                        </m:mr>
                      </m:m>
                    </m:oMath>
                  </m:oMathPara>
                </a14:m>
                <a:endParaRPr lang="en-US" sz="2800" dirty="0">
                  <a:effectLst/>
                  <a:ea typeface="Calibri" panose="020F0502020204030204" pitchFamily="34" charset="0"/>
                </a:endParaRPr>
              </a:p>
              <a:p>
                <a:pPr>
                  <a:spcAft>
                    <a:spcPts val="1200"/>
                  </a:spcAft>
                </a:pPr>
                <a:r>
                  <a:rPr lang="en-US" sz="1800" dirty="0">
                    <a:effectLst/>
                    <a:ea typeface="Calibri" panose="020F0502020204030204" pitchFamily="34" charset="0"/>
                  </a:rPr>
                  <a:t>After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oMath>
                </a14:m>
                <a:r>
                  <a:rPr lang="en-US" sz="1800" dirty="0">
                    <a:effectLst/>
                    <a:ea typeface="Calibri" panose="020F0502020204030204" pitchFamily="34" charset="0"/>
                  </a:rPr>
                  <a:t> iterations the result is</a:t>
                </a:r>
                <a:endParaRPr lang="en-US" sz="2800" dirty="0">
                  <a:effectLst/>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𝐚</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𝛼</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𝜆</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sup>
                      </m:sSubSup>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1</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𝛼</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𝜆</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sup>
                      </m:sSubSup>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𝛼</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b>
                      </m:sSub>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𝜆</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sup>
                      </m:sSubSup>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sz="2800" dirty="0">
                  <a:effectLst/>
                  <a:ea typeface="Calibri" panose="020F0502020204030204" pitchFamily="34" charset="0"/>
                </a:endParaRPr>
              </a:p>
            </p:txBody>
          </p:sp>
        </mc:Choice>
        <mc:Fallback xmlns="">
          <p:sp>
            <p:nvSpPr>
              <p:cNvPr id="5" name="CasellaDiTesto 4">
                <a:extLst>
                  <a:ext uri="{FF2B5EF4-FFF2-40B4-BE49-F238E27FC236}">
                    <a16:creationId xmlns:a16="http://schemas.microsoft.com/office/drawing/2014/main" id="{3B0E3468-0902-4222-9B6E-FE85827DB812}"/>
                  </a:ext>
                </a:extLst>
              </p:cNvPr>
              <p:cNvSpPr txBox="1">
                <a:spLocks noRot="1" noChangeAspect="1" noMove="1" noResize="1" noEditPoints="1" noAdjustHandles="1" noChangeArrowheads="1" noChangeShapeType="1" noTextEdit="1"/>
              </p:cNvSpPr>
              <p:nvPr/>
            </p:nvSpPr>
            <p:spPr>
              <a:xfrm>
                <a:off x="363466" y="1162402"/>
                <a:ext cx="11720051" cy="5695598"/>
              </a:xfrm>
              <a:prstGeom prst="rect">
                <a:avLst/>
              </a:prstGeom>
              <a:blipFill>
                <a:blip r:embed="rId3"/>
                <a:stretch>
                  <a:fillRect l="-468"/>
                </a:stretch>
              </a:blipFill>
            </p:spPr>
            <p:txBody>
              <a:bodyPr/>
              <a:lstStyle/>
              <a:p>
                <a:r>
                  <a:rPr lang="en-US">
                    <a:noFill/>
                  </a:rPr>
                  <a:t> </a:t>
                </a:r>
              </a:p>
            </p:txBody>
          </p:sp>
        </mc:Fallback>
      </mc:AlternateContent>
      <p:sp>
        <p:nvSpPr>
          <p:cNvPr id="3" name="CasellaDiTesto 2">
            <a:extLst>
              <a:ext uri="{FF2B5EF4-FFF2-40B4-BE49-F238E27FC236}">
                <a16:creationId xmlns:a16="http://schemas.microsoft.com/office/drawing/2014/main" id="{D6871975-7BEC-48D2-B980-27C73FA86D7B}"/>
              </a:ext>
            </a:extLst>
          </p:cNvPr>
          <p:cNvSpPr txBox="1"/>
          <p:nvPr/>
        </p:nvSpPr>
        <p:spPr>
          <a:xfrm>
            <a:off x="2000864" y="392961"/>
            <a:ext cx="8190271" cy="769441"/>
          </a:xfrm>
          <a:prstGeom prst="rect">
            <a:avLst/>
          </a:prstGeom>
          <a:noFill/>
        </p:spPr>
        <p:txBody>
          <a:bodyPr wrap="square" rtlCol="0">
            <a:spAutoFit/>
          </a:bodyPr>
          <a:lstStyle/>
          <a:p>
            <a:pPr algn="ctr"/>
            <a:r>
              <a:rPr lang="it-IT" sz="4400" dirty="0" err="1">
                <a:solidFill>
                  <a:schemeClr val="accent1">
                    <a:lumMod val="50000"/>
                  </a:schemeClr>
                </a:solidFill>
                <a:latin typeface="+mj-lt"/>
              </a:rPr>
              <a:t>Attractor</a:t>
            </a:r>
            <a:r>
              <a:rPr lang="it-IT" sz="4400" dirty="0">
                <a:solidFill>
                  <a:schemeClr val="accent1">
                    <a:lumMod val="50000"/>
                  </a:schemeClr>
                </a:solidFill>
                <a:latin typeface="+mj-lt"/>
              </a:rPr>
              <a:t> Dynamic</a:t>
            </a:r>
            <a:endParaRPr lang="en-US" sz="4400" dirty="0">
              <a:solidFill>
                <a:schemeClr val="accent1">
                  <a:lumMod val="50000"/>
                </a:schemeClr>
              </a:solidFill>
              <a:latin typeface="+mj-lt"/>
            </a:endParaRPr>
          </a:p>
        </p:txBody>
      </p:sp>
    </p:spTree>
    <p:extLst>
      <p:ext uri="{BB962C8B-B14F-4D97-AF65-F5344CB8AC3E}">
        <p14:creationId xmlns:p14="http://schemas.microsoft.com/office/powerpoint/2010/main" val="2057384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EE0F6B5D-B567-4EA7-A6FB-9962F835255F}"/>
                  </a:ext>
                </a:extLst>
              </p:cNvPr>
              <p:cNvSpPr txBox="1"/>
              <p:nvPr/>
            </p:nvSpPr>
            <p:spPr>
              <a:xfrm>
                <a:off x="1056640" y="5043607"/>
                <a:ext cx="9814560" cy="1099532"/>
              </a:xfrm>
              <a:prstGeom prst="rect">
                <a:avLst/>
              </a:prstGeom>
              <a:noFill/>
            </p:spPr>
            <p:txBody>
              <a:bodyPr wrap="square">
                <a:spAutoFit/>
              </a:bodyPr>
              <a:lstStyle/>
              <a:p>
                <a:r>
                  <a:rPr lang="en-US" sz="1800" dirty="0">
                    <a:effectLst/>
                    <a:ea typeface="Calibri" panose="020F0502020204030204" pitchFamily="34" charset="0"/>
                  </a:rPr>
                  <a:t>During learning, the weight update is given by</a:t>
                </a:r>
                <a:endParaRPr lang="en-US" sz="2800" dirty="0">
                  <a:effectLst/>
                  <a:ea typeface="Calibri" panose="020F0502020204030204" pitchFamily="34" charset="0"/>
                </a:endParaRPr>
              </a:p>
              <a:p>
                <a:pPr>
                  <a:spcAft>
                    <a:spcPts val="1200"/>
                  </a:spcAft>
                </a:pPr>
                <a14:m>
                  <m:oMathPara xmlns:m="http://schemas.openxmlformats.org/officeDocument/2006/math">
                    <m:oMathParaPr>
                      <m:jc m:val="center"/>
                    </m:oMathParaPr>
                    <m:oMath xmlns:m="http://schemas.openxmlformats.org/officeDocument/2006/math">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Δ</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𝑤</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𝑖𝑗</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𝛾</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sz="2800" dirty="0">
                  <a:effectLst/>
                  <a:ea typeface="Calibri" panose="020F0502020204030204" pitchFamily="34" charset="0"/>
                </a:endParaRPr>
              </a:p>
              <a:p>
                <a:pPr>
                  <a:spcAft>
                    <a:spcPts val="1200"/>
                  </a:spcAft>
                </a:pPr>
                <a:r>
                  <a:rPr lang="en-US" sz="1800" dirty="0">
                    <a:effectLst/>
                    <a:ea typeface="Calibri" panose="020F0502020204030204" pitchFamily="34" charset="0"/>
                  </a:rPr>
                  <a:t>The factor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𝛾</m:t>
                    </m:r>
                  </m:oMath>
                </a14:m>
                <a:r>
                  <a:rPr lang="en-US" sz="1800" dirty="0">
                    <a:effectLst/>
                    <a:ea typeface="Calibri" panose="020F0502020204030204" pitchFamily="34" charset="0"/>
                  </a:rPr>
                  <a:t> is a learning constant in this equation. </a:t>
                </a:r>
                <a:endParaRPr lang="en-US" sz="2800" dirty="0">
                  <a:effectLst/>
                  <a:ea typeface="Calibri" panose="020F0502020204030204" pitchFamily="34" charset="0"/>
                </a:endParaRPr>
              </a:p>
            </p:txBody>
          </p:sp>
        </mc:Choice>
        <mc:Fallback xmlns="">
          <p:sp>
            <p:nvSpPr>
              <p:cNvPr id="5" name="CasellaDiTesto 4">
                <a:extLst>
                  <a:ext uri="{FF2B5EF4-FFF2-40B4-BE49-F238E27FC236}">
                    <a16:creationId xmlns:a16="http://schemas.microsoft.com/office/drawing/2014/main" id="{EE0F6B5D-B567-4EA7-A6FB-9962F835255F}"/>
                  </a:ext>
                </a:extLst>
              </p:cNvPr>
              <p:cNvSpPr txBox="1">
                <a:spLocks noRot="1" noChangeAspect="1" noMove="1" noResize="1" noEditPoints="1" noAdjustHandles="1" noChangeArrowheads="1" noChangeShapeType="1" noTextEdit="1"/>
              </p:cNvSpPr>
              <p:nvPr/>
            </p:nvSpPr>
            <p:spPr>
              <a:xfrm>
                <a:off x="1056640" y="5043607"/>
                <a:ext cx="9814560" cy="1099532"/>
              </a:xfrm>
              <a:prstGeom prst="rect">
                <a:avLst/>
              </a:prstGeom>
              <a:blipFill>
                <a:blip r:embed="rId2"/>
                <a:stretch>
                  <a:fillRect l="-497" t="-2762" b="-7735"/>
                </a:stretch>
              </a:blipFill>
            </p:spPr>
            <p:txBody>
              <a:bodyPr/>
              <a:lstStyle/>
              <a:p>
                <a:r>
                  <a:rPr lang="en-US">
                    <a:noFill/>
                  </a:rPr>
                  <a:t> </a:t>
                </a:r>
              </a:p>
            </p:txBody>
          </p:sp>
        </mc:Fallback>
      </mc:AlternateContent>
      <p:pic>
        <p:nvPicPr>
          <p:cNvPr id="3" name="Immagine 2">
            <a:extLst>
              <a:ext uri="{FF2B5EF4-FFF2-40B4-BE49-F238E27FC236}">
                <a16:creationId xmlns:a16="http://schemas.microsoft.com/office/drawing/2014/main" id="{D296B68B-BF13-42D1-9362-3E5FDEBD0A90}"/>
              </a:ext>
            </a:extLst>
          </p:cNvPr>
          <p:cNvPicPr>
            <a:picLocks noChangeAspect="1"/>
          </p:cNvPicPr>
          <p:nvPr/>
        </p:nvPicPr>
        <p:blipFill rotWithShape="1">
          <a:blip r:embed="rId3"/>
          <a:srcRect b="21420"/>
          <a:stretch/>
        </p:blipFill>
        <p:spPr bwMode="auto">
          <a:xfrm>
            <a:off x="2738437" y="1921798"/>
            <a:ext cx="6030874" cy="2080260"/>
          </a:xfrm>
          <a:prstGeom prst="rect">
            <a:avLst/>
          </a:prstGeom>
          <a:ln>
            <a:noFill/>
          </a:ln>
          <a:extLst>
            <a:ext uri="{53640926-AAD7-44D8-BBD7-CCE9431645EC}">
              <a14:shadowObscured xmlns:a14="http://schemas.microsoft.com/office/drawing/2010/main"/>
            </a:ext>
          </a:extLst>
        </p:spPr>
      </p:pic>
      <p:sp>
        <p:nvSpPr>
          <p:cNvPr id="4" name="CasellaDiTesto 3">
            <a:extLst>
              <a:ext uri="{FF2B5EF4-FFF2-40B4-BE49-F238E27FC236}">
                <a16:creationId xmlns:a16="http://schemas.microsoft.com/office/drawing/2014/main" id="{C1BF9FDA-59E6-4C06-BD9C-AC2A1365F8D3}"/>
              </a:ext>
            </a:extLst>
          </p:cNvPr>
          <p:cNvSpPr txBox="1"/>
          <p:nvPr/>
        </p:nvSpPr>
        <p:spPr>
          <a:xfrm>
            <a:off x="3915628" y="714861"/>
            <a:ext cx="4360743" cy="769441"/>
          </a:xfrm>
          <a:prstGeom prst="rect">
            <a:avLst/>
          </a:prstGeom>
          <a:noFill/>
        </p:spPr>
        <p:txBody>
          <a:bodyPr wrap="square" rtlCol="0">
            <a:spAutoFit/>
          </a:bodyPr>
          <a:lstStyle/>
          <a:p>
            <a:r>
              <a:rPr lang="it-IT" sz="4400" dirty="0" err="1">
                <a:solidFill>
                  <a:schemeClr val="accent1">
                    <a:lumMod val="50000"/>
                  </a:schemeClr>
                </a:solidFill>
                <a:latin typeface="+mj-lt"/>
              </a:rPr>
              <a:t>Hebbian</a:t>
            </a:r>
            <a:r>
              <a:rPr lang="it-IT" sz="4400" dirty="0">
                <a:solidFill>
                  <a:schemeClr val="accent1">
                    <a:lumMod val="50000"/>
                  </a:schemeClr>
                </a:solidFill>
                <a:latin typeface="+mj-lt"/>
              </a:rPr>
              <a:t> Learning</a:t>
            </a:r>
            <a:endParaRPr lang="en-US" sz="4400" dirty="0">
              <a:solidFill>
                <a:schemeClr val="accent1">
                  <a:lumMod val="50000"/>
                </a:schemeClr>
              </a:solidFill>
              <a:latin typeface="+mj-lt"/>
            </a:endParaRPr>
          </a:p>
        </p:txBody>
      </p:sp>
    </p:spTree>
    <p:extLst>
      <p:ext uri="{BB962C8B-B14F-4D97-AF65-F5344CB8AC3E}">
        <p14:creationId xmlns:p14="http://schemas.microsoft.com/office/powerpoint/2010/main" val="4101906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5A9ECB26-57C6-4741-BE48-DEF297D88158}"/>
                  </a:ext>
                </a:extLst>
              </p:cNvPr>
              <p:cNvSpPr txBox="1"/>
              <p:nvPr/>
            </p:nvSpPr>
            <p:spPr>
              <a:xfrm>
                <a:off x="1006168" y="1919878"/>
                <a:ext cx="9956144" cy="4684103"/>
              </a:xfrm>
              <a:prstGeom prst="rect">
                <a:avLst/>
              </a:prstGeom>
              <a:noFill/>
            </p:spPr>
            <p:txBody>
              <a:bodyPr wrap="square">
                <a:spAutoFit/>
              </a:bodyPr>
              <a:lstStyle/>
              <a:p>
                <a:pPr>
                  <a:spcAft>
                    <a:spcPts val="1200"/>
                  </a:spcAft>
                </a:pPr>
                <a:r>
                  <a:rPr lang="en-US" sz="1800" dirty="0">
                    <a:effectLst/>
                    <a:ea typeface="Calibri" panose="020F0502020204030204" pitchFamily="34" charset="0"/>
                  </a:rPr>
                  <a:t>In general, if we want to associate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𝑚𝑛</m:t>
                    </m:r>
                  </m:oMath>
                </a14:m>
                <a:r>
                  <a:rPr lang="en-US" sz="1800" dirty="0">
                    <a:effectLst/>
                    <a:ea typeface="Calibri" panose="020F0502020204030204" pitchFamily="34" charset="0"/>
                  </a:rPr>
                  <a:t>-dimensional non-zero vectors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1</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sup>
                    </m:sSup>
                  </m:oMath>
                </a14:m>
                <a:r>
                  <a:rPr lang="en-US" sz="1800" dirty="0">
                    <a:effectLst/>
                    <a:ea typeface="Calibri" panose="020F0502020204030204" pitchFamily="34" charset="0"/>
                  </a:rPr>
                  <a:t> with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𝑚𝑘</m:t>
                    </m:r>
                  </m:oMath>
                </a14:m>
                <a:r>
                  <a:rPr lang="en-US" sz="1800" dirty="0">
                    <a:effectLst/>
                    <a:ea typeface="Calibri" panose="020F0502020204030204" pitchFamily="34" charset="0"/>
                  </a:rPr>
                  <a:t>-dimensional vectors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1</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sup>
                    </m:sSup>
                  </m:oMath>
                </a14:m>
                <a:r>
                  <a:rPr lang="en-US" sz="1800" dirty="0">
                    <a:effectLst/>
                    <a:ea typeface="Calibri" panose="020F0502020204030204" pitchFamily="34" charset="0"/>
                  </a:rPr>
                  <a:t>, we apply Hebbian learning to each input-output pair and the resulting weight matrix is</a:t>
                </a:r>
                <a:endParaRPr lang="en-US" sz="2800" dirty="0">
                  <a:effectLst/>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1</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sz="2800" dirty="0">
                  <a:effectLst/>
                  <a:ea typeface="Calibri" panose="020F0502020204030204" pitchFamily="34" charset="0"/>
                </a:endParaRPr>
              </a:p>
              <a:p>
                <a:pPr>
                  <a:spcAft>
                    <a:spcPts val="1200"/>
                  </a:spcAft>
                </a:pPr>
                <a:r>
                  <a:rPr lang="en-US" sz="1800" dirty="0">
                    <a:effectLst/>
                    <a:ea typeface="Calibri" panose="020F0502020204030204" pitchFamily="34" charset="0"/>
                  </a:rPr>
                  <a:t>where each matrix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𝓁</m:t>
                        </m:r>
                      </m:sup>
                    </m:sSup>
                  </m:oMath>
                </a14:m>
                <a:r>
                  <a:rPr lang="en-US" sz="1800" dirty="0">
                    <a:effectLst/>
                    <a:ea typeface="Calibri" panose="020F0502020204030204" pitchFamily="34" charset="0"/>
                  </a:rPr>
                  <a:t> is the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𝑘</m:t>
                    </m:r>
                  </m:oMath>
                </a14:m>
                <a:r>
                  <a:rPr lang="en-US" sz="1800" dirty="0">
                    <a:effectLst/>
                    <a:ea typeface="Calibri" panose="020F0502020204030204" pitchFamily="34" charset="0"/>
                  </a:rPr>
                  <a:t> correlation matrix of the vectors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𝓁</m:t>
                        </m:r>
                      </m:sup>
                    </m:sSup>
                  </m:oMath>
                </a14:m>
                <a:r>
                  <a:rPr lang="en-US" sz="1800" dirty="0">
                    <a:effectLst/>
                    <a:ea typeface="Calibri" panose="020F0502020204030204" pitchFamily="34" charset="0"/>
                  </a:rPr>
                  <a:t> and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𝓁</m:t>
                        </m:r>
                      </m:sup>
                    </m:sSup>
                  </m:oMath>
                </a14:m>
                <a:r>
                  <a:rPr lang="en-US" sz="1800" dirty="0">
                    <a:effectLst/>
                    <a:ea typeface="Calibri" panose="020F0502020204030204" pitchFamily="34" charset="0"/>
                  </a:rPr>
                  <a:t>, i.e.,</a:t>
                </a:r>
                <a:endParaRPr lang="en-US" sz="2800" dirty="0">
                  <a:effectLst/>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𝓁</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𝓁</m:t>
                                  </m:r>
                                </m:sup>
                              </m:sSubSup>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𝑦</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𝓁</m:t>
                                  </m:r>
                                </m:sup>
                              </m:sSubSup>
                            </m:e>
                          </m:d>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𝑘</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sz="2800" dirty="0">
                  <a:effectLst/>
                  <a:ea typeface="Calibri" panose="020F0502020204030204" pitchFamily="34" charset="0"/>
                </a:endParaRPr>
              </a:p>
              <a:p>
                <a:pPr>
                  <a:spcAft>
                    <a:spcPts val="1200"/>
                  </a:spcAft>
                </a:pPr>
                <a:r>
                  <a:rPr lang="en-US" sz="1800" dirty="0">
                    <a:effectLst/>
                    <a:ea typeface="Calibri" panose="020F0502020204030204" pitchFamily="34" charset="0"/>
                  </a:rPr>
                  <a:t>If the input to the network is the vector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𝑝</m:t>
                        </m:r>
                      </m:sup>
                    </m:sSup>
                  </m:oMath>
                </a14:m>
                <a:r>
                  <a:rPr lang="en-US" sz="1800" dirty="0">
                    <a:effectLst/>
                    <a:ea typeface="Calibri" panose="020F0502020204030204" pitchFamily="34" charset="0"/>
                  </a:rPr>
                  <a:t>, the vector of unit excitations is</a:t>
                </a:r>
                <a:endParaRPr lang="en-US" sz="2800" dirty="0">
                  <a:effectLst/>
                  <a:ea typeface="Calibri" panose="020F0502020204030204" pitchFamily="34" charset="0"/>
                </a:endParaRPr>
              </a:p>
              <a:p>
                <a:r>
                  <a:rPr lang="en-US" sz="1800" dirty="0">
                    <a:effectLst/>
                    <a:ea typeface="Calibri" panose="020F0502020204030204" pitchFamily="34" charset="0"/>
                  </a:rPr>
                  <a:t> </a:t>
                </a:r>
                <a:endParaRPr lang="en-US" sz="2800" dirty="0">
                  <a:effectLst/>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mPr>
                        <m:mr>
                          <m:e>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𝑝</m:t>
                                </m:r>
                              </m:sup>
                            </m:sSup>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e>
                          <m:e>
                            <m:r>
                              <a:rPr lang="en-US" sz="1800" i="1">
                                <a:effectLst/>
                                <a:latin typeface="Cambria Math" panose="02040503050406030204" pitchFamily="18" charset="0"/>
                                <a:ea typeface="Calibri" panose="020F0502020204030204" pitchFamily="34" charset="0"/>
                                <a:cs typeface="Calibri Light" panose="020F0302020204030204" pitchFamily="34" charset="0"/>
                              </a:rPr>
                              <m:t> </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𝑝</m:t>
                                </m:r>
                              </m:sup>
                            </m:sSup>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1</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sup>
                                </m:sSup>
                              </m:e>
                            </m:d>
                          </m:e>
                        </m:mr>
                        <m:mr>
                          <m:e/>
                          <m:e>
                            <m:r>
                              <a:rPr lang="en-US" sz="1800" i="1">
                                <a:effectLst/>
                                <a:latin typeface="Cambria Math" panose="02040503050406030204" pitchFamily="18" charset="0"/>
                                <a:ea typeface="Calibri" panose="020F0502020204030204" pitchFamily="34" charset="0"/>
                                <a:cs typeface="Calibri Light" panose="020F0302020204030204" pitchFamily="34" charset="0"/>
                              </a:rPr>
                              <m:t> </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𝑝</m:t>
                                </m:r>
                              </m:sup>
                            </m:sSup>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𝑝</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𝓁</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𝑝</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𝑝</m:t>
                                </m:r>
                              </m:sup>
                            </m:sSup>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𝓁</m:t>
                                </m:r>
                              </m:sup>
                            </m:sSup>
                          </m:e>
                        </m:mr>
                        <m:mr>
                          <m:e/>
                          <m:e>
                            <m:r>
                              <a:rPr lang="en-US" sz="1800" i="1">
                                <a:effectLst/>
                                <a:latin typeface="Cambria Math" panose="02040503050406030204" pitchFamily="18" charset="0"/>
                                <a:ea typeface="Calibri" panose="020F0502020204030204" pitchFamily="34" charset="0"/>
                                <a:cs typeface="Calibri Light" panose="020F0302020204030204" pitchFamily="34" charset="0"/>
                              </a:rPr>
                              <m:t> </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𝑝</m:t>
                                </m:r>
                              </m:sup>
                            </m:sSup>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𝑝</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𝑝</m:t>
                                    </m:r>
                                  </m:sup>
                                </m:sSup>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𝓁</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𝑝</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𝓁</m:t>
                                </m:r>
                              </m:sup>
                            </m:sSup>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𝓁</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𝑝</m:t>
                                    </m:r>
                                  </m:sup>
                                </m:sSup>
                              </m:e>
                            </m:d>
                          </m:e>
                        </m:mr>
                      </m:m>
                    </m:oMath>
                  </m:oMathPara>
                </a14:m>
                <a:endParaRPr lang="en-US" sz="2800" dirty="0">
                  <a:effectLst/>
                  <a:ea typeface="Calibri" panose="020F0502020204030204" pitchFamily="34" charset="0"/>
                </a:endParaRPr>
              </a:p>
              <a:p>
                <a:r>
                  <a:rPr lang="en-US" sz="1800" dirty="0">
                    <a:effectLst/>
                    <a:ea typeface="Calibri" panose="020F0502020204030204" pitchFamily="34" charset="0"/>
                  </a:rPr>
                  <a:t>Having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𝑝</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𝑝</m:t>
                        </m:r>
                      </m:sup>
                    </m:sSup>
                  </m:oMath>
                </a14:m>
                <a:r>
                  <a:rPr lang="en-US" sz="1800" dirty="0">
                    <a:effectLst/>
                    <a:ea typeface="Calibri" panose="020F0502020204030204" pitchFamily="34" charset="0"/>
                  </a:rPr>
                  <a:t>&gt;0 then </a:t>
                </a:r>
                <a:r>
                  <a:rPr lang="en-US" sz="1800" dirty="0" err="1">
                    <a:effectLst/>
                    <a:ea typeface="Calibri" panose="020F0502020204030204" pitchFamily="34" charset="0"/>
                  </a:rPr>
                  <a:t>sgn</a:t>
                </a:r>
                <a:r>
                  <a:rPr lang="en-US" sz="1800" dirty="0">
                    <a:effectLst/>
                    <a:ea typeface="Calibri" panose="020F0502020204030204" pitchFamily="34" charset="0"/>
                  </a:rPr>
                  <a:t>(</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𝑝</m:t>
                        </m:r>
                      </m:sup>
                    </m:sSup>
                  </m:oMath>
                </a14:m>
                <a:r>
                  <a:rPr lang="en-US" sz="1800" dirty="0">
                    <a:effectLst/>
                    <a:ea typeface="Calibri" panose="020F0502020204030204" pitchFamily="34" charset="0"/>
                  </a:rPr>
                  <a:t>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𝑝</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𝑝</m:t>
                        </m:r>
                      </m:sup>
                    </m:sSup>
                  </m:oMath>
                </a14:m>
                <a:r>
                  <a:rPr lang="en-US" sz="1800" dirty="0">
                    <a:effectLst/>
                    <a:ea typeface="Calibri" panose="020F0502020204030204" pitchFamily="34" charset="0"/>
                  </a:rPr>
                  <a:t>))=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𝑝</m:t>
                        </m:r>
                      </m:sup>
                    </m:sSup>
                  </m:oMath>
                </a14:m>
                <a:r>
                  <a:rPr lang="en-US" sz="1800" dirty="0">
                    <a:effectLst/>
                    <a:ea typeface="Calibri" panose="020F0502020204030204" pitchFamily="34" charset="0"/>
                  </a:rPr>
                  <a:t> and the contribution on the right is called </a:t>
                </a:r>
                <a:r>
                  <a:rPr lang="en-US" sz="1800" dirty="0">
                    <a:solidFill>
                      <a:schemeClr val="accent1">
                        <a:lumMod val="50000"/>
                      </a:schemeClr>
                    </a:solidFill>
                    <a:effectLst/>
                    <a:ea typeface="Calibri" panose="020F0502020204030204" pitchFamily="34" charset="0"/>
                  </a:rPr>
                  <a:t>crosstalk</a:t>
                </a:r>
                <a:r>
                  <a:rPr lang="en-US" sz="1800" dirty="0">
                    <a:effectLst/>
                    <a:ea typeface="Calibri" panose="020F0502020204030204" pitchFamily="34" charset="0"/>
                  </a:rPr>
                  <a:t>.  </a:t>
                </a:r>
                <a:endParaRPr lang="en-US" sz="2800" dirty="0">
                  <a:effectLst/>
                  <a:ea typeface="Calibri" panose="020F0502020204030204" pitchFamily="34" charset="0"/>
                </a:endParaRPr>
              </a:p>
            </p:txBody>
          </p:sp>
        </mc:Choice>
        <mc:Fallback xmlns="">
          <p:sp>
            <p:nvSpPr>
              <p:cNvPr id="5" name="CasellaDiTesto 4">
                <a:extLst>
                  <a:ext uri="{FF2B5EF4-FFF2-40B4-BE49-F238E27FC236}">
                    <a16:creationId xmlns:a16="http://schemas.microsoft.com/office/drawing/2014/main" id="{5A9ECB26-57C6-4741-BE48-DEF297D88158}"/>
                  </a:ext>
                </a:extLst>
              </p:cNvPr>
              <p:cNvSpPr txBox="1">
                <a:spLocks noRot="1" noChangeAspect="1" noMove="1" noResize="1" noEditPoints="1" noAdjustHandles="1" noChangeArrowheads="1" noChangeShapeType="1" noTextEdit="1"/>
              </p:cNvSpPr>
              <p:nvPr/>
            </p:nvSpPr>
            <p:spPr>
              <a:xfrm>
                <a:off x="1006168" y="1919878"/>
                <a:ext cx="9956144" cy="4684103"/>
              </a:xfrm>
              <a:prstGeom prst="rect">
                <a:avLst/>
              </a:prstGeom>
              <a:blipFill>
                <a:blip r:embed="rId3"/>
                <a:stretch>
                  <a:fillRect l="-490" t="-781" r="-61"/>
                </a:stretch>
              </a:blipFill>
            </p:spPr>
            <p:txBody>
              <a:bodyPr/>
              <a:lstStyle/>
              <a:p>
                <a:r>
                  <a:rPr lang="en-US">
                    <a:noFill/>
                  </a:rPr>
                  <a:t> </a:t>
                </a:r>
              </a:p>
            </p:txBody>
          </p:sp>
        </mc:Fallback>
      </mc:AlternateContent>
      <p:sp>
        <p:nvSpPr>
          <p:cNvPr id="6" name="CasellaDiTesto 5">
            <a:extLst>
              <a:ext uri="{FF2B5EF4-FFF2-40B4-BE49-F238E27FC236}">
                <a16:creationId xmlns:a16="http://schemas.microsoft.com/office/drawing/2014/main" id="{04DFE84E-1F45-4F51-9CF4-480F999BAAC7}"/>
              </a:ext>
            </a:extLst>
          </p:cNvPr>
          <p:cNvSpPr txBox="1"/>
          <p:nvPr/>
        </p:nvSpPr>
        <p:spPr>
          <a:xfrm>
            <a:off x="4326057" y="763583"/>
            <a:ext cx="4360743" cy="769441"/>
          </a:xfrm>
          <a:prstGeom prst="rect">
            <a:avLst/>
          </a:prstGeom>
          <a:noFill/>
        </p:spPr>
        <p:txBody>
          <a:bodyPr wrap="square" rtlCol="0">
            <a:spAutoFit/>
          </a:bodyPr>
          <a:lstStyle/>
          <a:p>
            <a:r>
              <a:rPr lang="it-IT" sz="4400" dirty="0" err="1">
                <a:solidFill>
                  <a:schemeClr val="accent1">
                    <a:lumMod val="50000"/>
                  </a:schemeClr>
                </a:solidFill>
                <a:latin typeface="+mj-lt"/>
              </a:rPr>
              <a:t>Crosstalk</a:t>
            </a:r>
            <a:r>
              <a:rPr lang="it-IT" sz="4400" dirty="0">
                <a:solidFill>
                  <a:schemeClr val="accent1">
                    <a:lumMod val="50000"/>
                  </a:schemeClr>
                </a:solidFill>
                <a:latin typeface="+mj-lt"/>
              </a:rPr>
              <a:t> </a:t>
            </a:r>
            <a:r>
              <a:rPr lang="it-IT" sz="4400" dirty="0" err="1">
                <a:solidFill>
                  <a:schemeClr val="accent1">
                    <a:lumMod val="50000"/>
                  </a:schemeClr>
                </a:solidFill>
                <a:latin typeface="+mj-lt"/>
              </a:rPr>
              <a:t>Problem</a:t>
            </a:r>
            <a:endParaRPr lang="en-US" sz="4400" dirty="0">
              <a:solidFill>
                <a:schemeClr val="accent1">
                  <a:lumMod val="50000"/>
                </a:schemeClr>
              </a:solidFill>
              <a:latin typeface="+mj-lt"/>
            </a:endParaRPr>
          </a:p>
        </p:txBody>
      </p:sp>
    </p:spTree>
    <p:extLst>
      <p:ext uri="{BB962C8B-B14F-4D97-AF65-F5344CB8AC3E}">
        <p14:creationId xmlns:p14="http://schemas.microsoft.com/office/powerpoint/2010/main" val="2958211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140200C7-774F-4A54-A299-E1002AEF3149}"/>
              </a:ext>
            </a:extLst>
          </p:cNvPr>
          <p:cNvSpPr txBox="1"/>
          <p:nvPr/>
        </p:nvSpPr>
        <p:spPr>
          <a:xfrm>
            <a:off x="4078626" y="433841"/>
            <a:ext cx="8190271" cy="769441"/>
          </a:xfrm>
          <a:prstGeom prst="rect">
            <a:avLst/>
          </a:prstGeom>
          <a:noFill/>
        </p:spPr>
        <p:txBody>
          <a:bodyPr wrap="square" rtlCol="0">
            <a:spAutoFit/>
          </a:bodyPr>
          <a:lstStyle/>
          <a:p>
            <a:r>
              <a:rPr lang="it-IT" sz="4400" dirty="0" err="1">
                <a:solidFill>
                  <a:schemeClr val="accent1">
                    <a:lumMod val="50000"/>
                  </a:schemeClr>
                </a:solidFill>
                <a:latin typeface="+mj-lt"/>
              </a:rPr>
              <a:t>Resonance</a:t>
            </a:r>
            <a:r>
              <a:rPr lang="it-IT" sz="4400" dirty="0">
                <a:solidFill>
                  <a:schemeClr val="accent1">
                    <a:lumMod val="50000"/>
                  </a:schemeClr>
                </a:solidFill>
                <a:latin typeface="+mj-lt"/>
              </a:rPr>
              <a:t> network</a:t>
            </a:r>
            <a:endParaRPr lang="en-US" sz="4400" dirty="0">
              <a:solidFill>
                <a:schemeClr val="accent1">
                  <a:lumMod val="50000"/>
                </a:schemeClr>
              </a:solidFill>
              <a:latin typeface="+mj-lt"/>
            </a:endParaRPr>
          </a:p>
        </p:txBody>
      </p:sp>
      <p:pic>
        <p:nvPicPr>
          <p:cNvPr id="3" name="Immagine 2">
            <a:extLst>
              <a:ext uri="{FF2B5EF4-FFF2-40B4-BE49-F238E27FC236}">
                <a16:creationId xmlns:a16="http://schemas.microsoft.com/office/drawing/2014/main" id="{1A08B91F-DF3A-4211-A5AB-31463ECD4934}"/>
              </a:ext>
            </a:extLst>
          </p:cNvPr>
          <p:cNvPicPr>
            <a:picLocks noChangeAspect="1"/>
          </p:cNvPicPr>
          <p:nvPr/>
        </p:nvPicPr>
        <p:blipFill rotWithShape="1">
          <a:blip r:embed="rId2"/>
          <a:srcRect b="10106"/>
          <a:stretch/>
        </p:blipFill>
        <p:spPr bwMode="auto">
          <a:xfrm>
            <a:off x="3521110" y="1467211"/>
            <a:ext cx="5149779" cy="3053855"/>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446C8972-A2CE-446C-AE6A-1F3D6AF95C7F}"/>
                  </a:ext>
                </a:extLst>
              </p:cNvPr>
              <p:cNvSpPr txBox="1"/>
              <p:nvPr/>
            </p:nvSpPr>
            <p:spPr>
              <a:xfrm>
                <a:off x="253017" y="4143924"/>
                <a:ext cx="12192000" cy="2714076"/>
              </a:xfrm>
              <a:prstGeom prst="rect">
                <a:avLst/>
              </a:prstGeom>
              <a:noFill/>
            </p:spPr>
            <p:txBody>
              <a:bodyPr wrap="square">
                <a:spAutoFit/>
              </a:bodyPr>
              <a:lstStyle/>
              <a:p>
                <a:pPr>
                  <a:spcAft>
                    <a:spcPts val="1200"/>
                  </a:spcAft>
                </a:pPr>
                <a:endParaRPr lang="en-US" sz="2800" dirty="0">
                  <a:effectLst/>
                  <a:latin typeface="Calibri" panose="020F0502020204030204" pitchFamily="34" charset="0"/>
                  <a:ea typeface="Calibri" panose="020F0502020204030204" pitchFamily="34" charset="0"/>
                </a:endParaRPr>
              </a:p>
              <a:p>
                <a:r>
                  <a:rPr lang="en-US" sz="1800" dirty="0">
                    <a:effectLst/>
                    <a:latin typeface="Calibri Light" panose="020F0302020204030204" pitchFamily="34" charset="0"/>
                    <a:ea typeface="Calibri" panose="020F0502020204030204" pitchFamily="34" charset="0"/>
                  </a:rPr>
                  <a:t> </a:t>
                </a:r>
                <a:endParaRPr lang="en-US" sz="2800" dirty="0">
                  <a:effectLst/>
                  <a:latin typeface="Calibri" panose="020F0502020204030204" pitchFamily="34" charset="0"/>
                  <a:ea typeface="Calibri" panose="020F0502020204030204" pitchFamily="34" charset="0"/>
                </a:endParaRPr>
              </a:p>
              <a:p>
                <a:pPr>
                  <a:spcAft>
                    <a:spcPts val="1200"/>
                  </a:spcAft>
                </a:pPr>
                <a:r>
                  <a:rPr lang="en-US" sz="1800" dirty="0">
                    <a:effectLst/>
                    <a:latin typeface="Calibri Light" panose="020F0302020204030204" pitchFamily="34" charset="0"/>
                    <a:ea typeface="Calibri" panose="020F0502020204030204" pitchFamily="34" charset="0"/>
                  </a:rPr>
                  <a:t>After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oMath>
                </a14:m>
                <a:r>
                  <a:rPr lang="en-US" sz="1800" dirty="0">
                    <a:effectLst/>
                    <a:latin typeface="Calibri Light" panose="020F0302020204030204" pitchFamily="34" charset="0"/>
                    <a:ea typeface="Calibri" panose="020F0502020204030204" pitchFamily="34" charset="0"/>
                  </a:rPr>
                  <a:t> iterations the system has computed a set of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oMath>
                </a14:m>
                <a:r>
                  <a:rPr lang="en-US" sz="1800" dirty="0">
                    <a:effectLst/>
                    <a:latin typeface="Calibri Light" panose="020F0302020204030204" pitchFamily="34" charset="0"/>
                    <a:ea typeface="Calibri" panose="020F0502020204030204" pitchFamily="34" charset="0"/>
                  </a:rPr>
                  <a:t> vector pairs </a:t>
                </a:r>
                <a14:m>
                  <m:oMath xmlns:m="http://schemas.openxmlformats.org/officeDocument/2006/math">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0</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0</m:t>
                            </m:r>
                          </m:sub>
                        </m:sSub>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sub>
                        </m:sSub>
                      </m:e>
                    </m:d>
                  </m:oMath>
                </a14:m>
                <a:r>
                  <a:rPr lang="en-US" sz="1800" dirty="0">
                    <a:effectLst/>
                    <a:latin typeface="Calibri Light" panose="020F0302020204030204" pitchFamily="34" charset="0"/>
                    <a:ea typeface="Calibri" panose="020F0502020204030204" pitchFamily="34" charset="0"/>
                  </a:rPr>
                  <a:t> which fulfill the conditions</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sgn</m:t>
                      </m:r>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e>
                      </m:d>
                    </m:oMath>
                  </m:oMathPara>
                </a14:m>
                <a:endParaRPr lang="en-US" sz="2800" dirty="0">
                  <a:effectLst/>
                  <a:latin typeface="Calibri" panose="020F0502020204030204" pitchFamily="34" charset="0"/>
                  <a:ea typeface="Calibri" panose="020F0502020204030204" pitchFamily="34" charset="0"/>
                </a:endParaRPr>
              </a:p>
              <a:p>
                <a:pPr>
                  <a:spcAft>
                    <a:spcPts val="1200"/>
                  </a:spcAft>
                </a:pPr>
                <a:r>
                  <a:rPr lang="en-US" sz="1800" dirty="0">
                    <a:effectLst/>
                    <a:latin typeface="Calibri Light" panose="020F0302020204030204" pitchFamily="34" charset="0"/>
                    <a:ea typeface="Calibri" panose="020F0502020204030204" pitchFamily="34" charset="0"/>
                  </a:rPr>
                  <a:t>and</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sgn</m:t>
                      </m:r>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bSup>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sz="2800" dirty="0">
                  <a:effectLst/>
                  <a:latin typeface="Calibri" panose="020F0502020204030204" pitchFamily="34" charset="0"/>
                  <a:ea typeface="Calibri" panose="020F0502020204030204" pitchFamily="34" charset="0"/>
                </a:endParaRPr>
              </a:p>
            </p:txBody>
          </p:sp>
        </mc:Choice>
        <mc:Fallback xmlns="">
          <p:sp>
            <p:nvSpPr>
              <p:cNvPr id="5" name="CasellaDiTesto 4">
                <a:extLst>
                  <a:ext uri="{FF2B5EF4-FFF2-40B4-BE49-F238E27FC236}">
                    <a16:creationId xmlns:a16="http://schemas.microsoft.com/office/drawing/2014/main" id="{446C8972-A2CE-446C-AE6A-1F3D6AF95C7F}"/>
                  </a:ext>
                </a:extLst>
              </p:cNvPr>
              <p:cNvSpPr txBox="1">
                <a:spLocks noRot="1" noChangeAspect="1" noMove="1" noResize="1" noEditPoints="1" noAdjustHandles="1" noChangeArrowheads="1" noChangeShapeType="1" noTextEdit="1"/>
              </p:cNvSpPr>
              <p:nvPr/>
            </p:nvSpPr>
            <p:spPr>
              <a:xfrm>
                <a:off x="253017" y="4143924"/>
                <a:ext cx="12192000" cy="2714076"/>
              </a:xfrm>
              <a:prstGeom prst="rect">
                <a:avLst/>
              </a:prstGeom>
              <a:blipFill>
                <a:blip r:embed="rId4"/>
                <a:stretch>
                  <a:fillRect l="-450"/>
                </a:stretch>
              </a:blipFill>
            </p:spPr>
            <p:txBody>
              <a:bodyPr/>
              <a:lstStyle/>
              <a:p>
                <a:r>
                  <a:rPr lang="en-US">
                    <a:noFill/>
                  </a:rPr>
                  <a:t> </a:t>
                </a:r>
              </a:p>
            </p:txBody>
          </p:sp>
        </mc:Fallback>
      </mc:AlternateContent>
    </p:spTree>
    <p:extLst>
      <p:ext uri="{BB962C8B-B14F-4D97-AF65-F5344CB8AC3E}">
        <p14:creationId xmlns:p14="http://schemas.microsoft.com/office/powerpoint/2010/main" val="17465513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CC594814-331F-496F-9523-F4D89846EC63}"/>
                  </a:ext>
                </a:extLst>
              </p:cNvPr>
              <p:cNvSpPr txBox="1"/>
              <p:nvPr/>
            </p:nvSpPr>
            <p:spPr>
              <a:xfrm>
                <a:off x="383457" y="1168384"/>
                <a:ext cx="11887200" cy="3506922"/>
              </a:xfrm>
              <a:prstGeom prst="rect">
                <a:avLst/>
              </a:prstGeom>
              <a:noFill/>
            </p:spPr>
            <p:txBody>
              <a:bodyPr wrap="square">
                <a:spAutoFit/>
              </a:bodyPr>
              <a:lstStyle/>
              <a:p>
                <a:pPr>
                  <a:spcAft>
                    <a:spcPts val="1200"/>
                  </a:spcAft>
                </a:pPr>
                <a:r>
                  <a:rPr lang="en-US" dirty="0">
                    <a:ea typeface="Calibri" panose="020F0502020204030204" pitchFamily="34" charset="0"/>
                  </a:rPr>
                  <a:t>Attractor</a:t>
                </a:r>
                <a:r>
                  <a:rPr lang="en-US" sz="1800" dirty="0">
                    <a:effectLst/>
                    <a:ea typeface="Calibri" panose="020F0502020204030204" pitchFamily="34" charset="0"/>
                  </a:rPr>
                  <a:t> </a:t>
                </a:r>
                <a14:m>
                  <m:oMath xmlns:m="http://schemas.openxmlformats.org/officeDocument/2006/math">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ea typeface="Calibri" panose="020F0502020204030204" pitchFamily="34" charset="0"/>
                  </a:rPr>
                  <a:t> :</a:t>
                </a:r>
                <a:endParaRPr lang="en-US" sz="2800" dirty="0">
                  <a:effectLst/>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sgn</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𝐱𝐖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box>
                        <m:box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boxPr>
                        <m:e>
                          <m:r>
                            <a:rPr lang="en-US" sz="1800">
                              <a:effectLst/>
                              <a:latin typeface="Cambria Math" panose="02040503050406030204" pitchFamily="18" charset="0"/>
                              <a:ea typeface="Calibri" panose="020F0502020204030204" pitchFamily="34" charset="0"/>
                              <a:cs typeface="Calibri Light" panose="020F0302020204030204" pitchFamily="34" charset="0"/>
                            </a:rPr>
                            <m:t> </m:t>
                          </m:r>
                        </m:e>
                      </m:box>
                      <m:r>
                        <m:rPr>
                          <m:nor/>
                        </m:rPr>
                        <a:rPr lang="en-US" sz="1800" i="1">
                          <a:effectLst/>
                          <a:ea typeface="Calibri" panose="020F0502020204030204" pitchFamily="34" charset="0"/>
                        </a:rPr>
                        <m:t> </m:t>
                      </m:r>
                      <m:r>
                        <m:rPr>
                          <m:nor/>
                        </m:rPr>
                        <a:rPr lang="en-US" sz="1800">
                          <a:effectLst/>
                          <a:ea typeface="Calibri" panose="020F0502020204030204" pitchFamily="34" charset="0"/>
                        </a:rPr>
                        <m:t>and</m:t>
                      </m:r>
                      <m:r>
                        <m:rPr>
                          <m:nor/>
                        </m:rPr>
                        <a:rPr lang="en-US" sz="1800" i="1">
                          <a:effectLst/>
                          <a:ea typeface="Calibri" panose="020F0502020204030204" pitchFamily="34" charset="0"/>
                        </a:rPr>
                        <m:t> </m:t>
                      </m:r>
                      <m:box>
                        <m:box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boxPr>
                        <m:e>
                          <m:r>
                            <a:rPr lang="en-US" sz="1800">
                              <a:effectLst/>
                              <a:latin typeface="Cambria Math" panose="02040503050406030204" pitchFamily="18" charset="0"/>
                              <a:ea typeface="Calibri" panose="020F0502020204030204" pitchFamily="34" charset="0"/>
                              <a:cs typeface="Calibri Light" panose="020F0302020204030204" pitchFamily="34" charset="0"/>
                            </a:rPr>
                            <m:t> </m:t>
                          </m:r>
                        </m:e>
                      </m:box>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sgn</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p>
                        </m:e>
                      </m:d>
                    </m:oMath>
                  </m:oMathPara>
                </a14:m>
                <a:endParaRPr lang="en-US" sz="2800" dirty="0">
                  <a:effectLst/>
                  <a:ea typeface="Calibri" panose="020F0502020204030204" pitchFamily="34" charset="0"/>
                </a:endParaRPr>
              </a:p>
              <a:p>
                <a:pPr>
                  <a:spcAft>
                    <a:spcPts val="1200"/>
                  </a:spcAft>
                </a:pPr>
                <a:r>
                  <a:rPr lang="en-US" sz="1800" dirty="0">
                    <a:effectLst/>
                    <a:ea typeface="Calibri" panose="020F0502020204030204" pitchFamily="34" charset="0"/>
                  </a:rPr>
                  <a:t>Via Hebb learning compute a matrix </a:t>
                </a:r>
                <a14:m>
                  <m:oMath xmlns:m="http://schemas.openxmlformats.org/officeDocument/2006/math">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r>
                      <a:rPr lang="it-IT" sz="1800" b="1" i="1" smtClean="0">
                        <a:effectLst/>
                        <a:latin typeface="Cambria Math" panose="02040503050406030204" pitchFamily="18" charset="0"/>
                        <a:ea typeface="Calibri" panose="020F0502020204030204" pitchFamily="34" charset="0"/>
                        <a:cs typeface="Calibri Light" panose="020F0302020204030204" pitchFamily="34" charset="0"/>
                      </a:rPr>
                      <m:t> </m:t>
                    </m:r>
                  </m:oMath>
                </a14:m>
                <a:r>
                  <a:rPr lang="en-US" sz="1800" dirty="0">
                    <a:effectLst/>
                    <a:ea typeface="Calibri" panose="020F0502020204030204" pitchFamily="34" charset="0"/>
                  </a:rPr>
                  <a:t>defined as </a:t>
                </a:r>
                <a14:m>
                  <m:oMath xmlns:m="http://schemas.openxmlformats.org/officeDocument/2006/math">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p>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oMath>
                </a14:m>
                <a:endParaRPr lang="en-US" sz="2800" dirty="0">
                  <a:effectLst/>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sgn</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𝐱𝐖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sgn</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p>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sgn</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p>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oMath>
                  </m:oMathPara>
                </a14:m>
                <a:endParaRPr lang="en-US" sz="2800" dirty="0">
                  <a:effectLst/>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sgn</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p>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sgn</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p>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p>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sgn</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p>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sz="2800" dirty="0">
                  <a:effectLst/>
                  <a:ea typeface="Calibri" panose="020F0502020204030204" pitchFamily="34" charset="0"/>
                </a:endParaRPr>
              </a:p>
              <a:p>
                <a:pPr>
                  <a:spcAft>
                    <a:spcPts val="1200"/>
                  </a:spcAft>
                </a:pPr>
                <a:r>
                  <a:rPr lang="en-US" sz="1800" dirty="0">
                    <a:effectLst/>
                    <a:ea typeface="Calibri" panose="020F0502020204030204" pitchFamily="34" charset="0"/>
                  </a:rPr>
                  <a:t>For a set of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oMath>
                </a14:m>
                <a:r>
                  <a:rPr lang="en-US" sz="1800" dirty="0">
                    <a:effectLst/>
                    <a:ea typeface="Calibri" panose="020F0502020204030204" pitchFamily="34" charset="0"/>
                  </a:rPr>
                  <a:t> vector pairs</a:t>
                </a:r>
                <a:endParaRPr lang="en-US" sz="2800" dirty="0">
                  <a:effectLst/>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bSup>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bSup>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sub>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bSup>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sz="2800" dirty="0">
                  <a:effectLst/>
                  <a:ea typeface="Calibri" panose="020F0502020204030204" pitchFamily="34" charset="0"/>
                </a:endParaRPr>
              </a:p>
              <a:p>
                <a:r>
                  <a:rPr lang="en-US" sz="1800" dirty="0">
                    <a:effectLst/>
                    <a:ea typeface="Calibri" panose="020F0502020204030204" pitchFamily="34" charset="0"/>
                  </a:rPr>
                  <a:t> </a:t>
                </a:r>
                <a:endParaRPr lang="en-US" sz="2800" dirty="0">
                  <a:effectLst/>
                  <a:ea typeface="Calibri" panose="020F0502020204030204" pitchFamily="34" charset="0"/>
                </a:endParaRPr>
              </a:p>
            </p:txBody>
          </p:sp>
        </mc:Choice>
        <mc:Fallback xmlns="">
          <p:sp>
            <p:nvSpPr>
              <p:cNvPr id="5" name="CasellaDiTesto 4">
                <a:extLst>
                  <a:ext uri="{FF2B5EF4-FFF2-40B4-BE49-F238E27FC236}">
                    <a16:creationId xmlns:a16="http://schemas.microsoft.com/office/drawing/2014/main" id="{CC594814-331F-496F-9523-F4D89846EC63}"/>
                  </a:ext>
                </a:extLst>
              </p:cNvPr>
              <p:cNvSpPr txBox="1">
                <a:spLocks noRot="1" noChangeAspect="1" noMove="1" noResize="1" noEditPoints="1" noAdjustHandles="1" noChangeArrowheads="1" noChangeShapeType="1" noTextEdit="1"/>
              </p:cNvSpPr>
              <p:nvPr/>
            </p:nvSpPr>
            <p:spPr>
              <a:xfrm>
                <a:off x="383457" y="1168384"/>
                <a:ext cx="11887200" cy="3506922"/>
              </a:xfrm>
              <a:prstGeom prst="rect">
                <a:avLst/>
              </a:prstGeom>
              <a:blipFill>
                <a:blip r:embed="rId3"/>
                <a:stretch>
                  <a:fillRect l="-462" t="-1043"/>
                </a:stretch>
              </a:blipFill>
            </p:spPr>
            <p:txBody>
              <a:bodyPr/>
              <a:lstStyle/>
              <a:p>
                <a:r>
                  <a:rPr lang="en-US">
                    <a:noFill/>
                  </a:rPr>
                  <a:t> </a:t>
                </a:r>
              </a:p>
            </p:txBody>
          </p:sp>
        </mc:Fallback>
      </mc:AlternateContent>
      <p:sp>
        <p:nvSpPr>
          <p:cNvPr id="3" name="CasellaDiTesto 2">
            <a:extLst>
              <a:ext uri="{FF2B5EF4-FFF2-40B4-BE49-F238E27FC236}">
                <a16:creationId xmlns:a16="http://schemas.microsoft.com/office/drawing/2014/main" id="{E36BA794-A11B-44BE-9296-7758CB0E3120}"/>
              </a:ext>
            </a:extLst>
          </p:cNvPr>
          <p:cNvSpPr txBox="1"/>
          <p:nvPr/>
        </p:nvSpPr>
        <p:spPr>
          <a:xfrm>
            <a:off x="2231921" y="185583"/>
            <a:ext cx="8190271" cy="769441"/>
          </a:xfrm>
          <a:prstGeom prst="rect">
            <a:avLst/>
          </a:prstGeom>
          <a:noFill/>
        </p:spPr>
        <p:txBody>
          <a:bodyPr wrap="square" rtlCol="0">
            <a:spAutoFit/>
          </a:bodyPr>
          <a:lstStyle/>
          <a:p>
            <a:pPr algn="ctr"/>
            <a:r>
              <a:rPr lang="it-IT" sz="4400" dirty="0" err="1">
                <a:solidFill>
                  <a:schemeClr val="accent1">
                    <a:lumMod val="50000"/>
                  </a:schemeClr>
                </a:solidFill>
                <a:latin typeface="+mj-lt"/>
              </a:rPr>
              <a:t>Attractor</a:t>
            </a:r>
            <a:endParaRPr lang="en-US" sz="4400" dirty="0">
              <a:solidFill>
                <a:schemeClr val="accent1">
                  <a:lumMod val="50000"/>
                </a:schemeClr>
              </a:solidFill>
              <a:latin typeface="+mj-lt"/>
            </a:endParaRPr>
          </a:p>
        </p:txBody>
      </p:sp>
      <p:pic>
        <p:nvPicPr>
          <p:cNvPr id="4" name="Immagine 3">
            <a:extLst>
              <a:ext uri="{FF2B5EF4-FFF2-40B4-BE49-F238E27FC236}">
                <a16:creationId xmlns:a16="http://schemas.microsoft.com/office/drawing/2014/main" id="{978F1B67-5803-4441-B4F9-2EB240C575B8}"/>
              </a:ext>
            </a:extLst>
          </p:cNvPr>
          <p:cNvPicPr>
            <a:picLocks noChangeAspect="1"/>
          </p:cNvPicPr>
          <p:nvPr/>
        </p:nvPicPr>
        <p:blipFill rotWithShape="1">
          <a:blip r:embed="rId4"/>
          <a:srcRect b="10106"/>
          <a:stretch/>
        </p:blipFill>
        <p:spPr bwMode="auto">
          <a:xfrm>
            <a:off x="3799840" y="4494813"/>
            <a:ext cx="3966809" cy="235234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63170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F39D3406-BCF5-4523-A577-32CEBF0C3484}"/>
                  </a:ext>
                </a:extLst>
              </p:cNvPr>
              <p:cNvSpPr txBox="1"/>
              <p:nvPr/>
            </p:nvSpPr>
            <p:spPr>
              <a:xfrm>
                <a:off x="226142" y="1577487"/>
                <a:ext cx="11739716" cy="4168192"/>
              </a:xfrm>
              <a:prstGeom prst="rect">
                <a:avLst/>
              </a:prstGeom>
              <a:noFill/>
            </p:spPr>
            <p:txBody>
              <a:bodyPr wrap="square">
                <a:spAutoFit/>
              </a:bodyPr>
              <a:lstStyle/>
              <a:p>
                <a:pPr>
                  <a:spcAft>
                    <a:spcPts val="1200"/>
                  </a:spcAft>
                </a:pPr>
                <a:r>
                  <a:rPr lang="en-US" sz="1800" dirty="0">
                    <a:effectLst/>
                    <a:ea typeface="Calibri" panose="020F0502020204030204" pitchFamily="34" charset="0"/>
                  </a:rPr>
                  <a:t>For a vector pair </a:t>
                </a:r>
                <a14:m>
                  <m:oMath xmlns:m="http://schemas.openxmlformats.org/officeDocument/2006/math">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0</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0</m:t>
                            </m:r>
                          </m:sub>
                        </m:sSub>
                      </m:e>
                    </m:d>
                  </m:oMath>
                </a14:m>
                <a:r>
                  <a:rPr lang="en-US" sz="2800" dirty="0">
                    <a:ea typeface="Calibri" panose="020F0502020204030204" pitchFamily="34" charset="0"/>
                  </a:rPr>
                  <a:t>, </a:t>
                </a:r>
                <a:r>
                  <a:rPr lang="en-US" dirty="0">
                    <a:ea typeface="Calibri" panose="020F0502020204030204" pitchFamily="34" charset="0"/>
                  </a:rPr>
                  <a:t>t</a:t>
                </a:r>
                <a:r>
                  <a:rPr lang="en-US" sz="1800" dirty="0">
                    <a:effectLst/>
                    <a:ea typeface="Calibri" panose="020F0502020204030204" pitchFamily="34" charset="0"/>
                  </a:rPr>
                  <a:t>he product</a:t>
                </a:r>
                <a:endParaRPr lang="en-US" sz="2800" dirty="0">
                  <a:effectLst/>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𝐸</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0</m:t>
                          </m:r>
                        </m:sub>
                      </m:sSub>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𝐞</m:t>
                          </m:r>
                        </m:e>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0</m:t>
                          </m:r>
                        </m:sub>
                      </m:sSub>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0</m:t>
                          </m:r>
                        </m:sub>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bSup>
                    </m:oMath>
                  </m:oMathPara>
                </a14:m>
                <a:endParaRPr lang="en-US" sz="2800" dirty="0">
                  <a:effectLst/>
                  <a:ea typeface="Calibri" panose="020F0502020204030204" pitchFamily="34" charset="0"/>
                </a:endParaRPr>
              </a:p>
              <a:p>
                <a:pPr>
                  <a:spcAft>
                    <a:spcPts val="1200"/>
                  </a:spcAft>
                </a:pPr>
                <a:r>
                  <a:rPr lang="en-US" sz="1800" dirty="0">
                    <a:effectLst/>
                    <a:ea typeface="Calibri" panose="020F0502020204030204" pitchFamily="34" charset="0"/>
                  </a:rPr>
                  <a:t>is smaller if the vector </a:t>
                </a:r>
                <a14:m>
                  <m:oMath xmlns:m="http://schemas.openxmlformats.org/officeDocument/2006/math">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0</m:t>
                        </m:r>
                      </m:sub>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bSup>
                  </m:oMath>
                </a14:m>
                <a:r>
                  <a:rPr lang="en-US" sz="1800" dirty="0">
                    <a:effectLst/>
                    <a:ea typeface="Calibri" panose="020F0502020204030204" pitchFamily="34" charset="0"/>
                  </a:rPr>
                  <a:t> lies closer to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0</m:t>
                        </m:r>
                      </m:sub>
                    </m:sSub>
                  </m:oMath>
                </a14:m>
                <a:r>
                  <a:rPr lang="en-US" sz="1800" dirty="0">
                    <a:effectLst/>
                    <a:ea typeface="Calibri" panose="020F0502020204030204" pitchFamily="34" charset="0"/>
                  </a:rPr>
                  <a:t>. </a:t>
                </a:r>
              </a:p>
              <a:p>
                <a:pPr>
                  <a:spcAft>
                    <a:spcPts val="1200"/>
                  </a:spcAft>
                </a:pPr>
                <a:r>
                  <a:rPr lang="en-US" sz="1800" dirty="0">
                    <a:effectLst/>
                    <a:ea typeface="Calibri" panose="020F0502020204030204" pitchFamily="34" charset="0"/>
                  </a:rPr>
                  <a:t>We call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𝐸</m:t>
                    </m:r>
                  </m:oMath>
                </a14:m>
                <a:r>
                  <a:rPr lang="en-US" sz="1800" dirty="0">
                    <a:effectLst/>
                    <a:ea typeface="Calibri" panose="020F0502020204030204" pitchFamily="34" charset="0"/>
                  </a:rPr>
                  <a:t> the </a:t>
                </a:r>
                <a:r>
                  <a:rPr lang="en-US" sz="1800" dirty="0">
                    <a:solidFill>
                      <a:schemeClr val="accent1">
                        <a:lumMod val="50000"/>
                      </a:schemeClr>
                    </a:solidFill>
                    <a:effectLst/>
                    <a:ea typeface="Calibri" panose="020F0502020204030204" pitchFamily="34" charset="0"/>
                  </a:rPr>
                  <a:t>energy function </a:t>
                </a:r>
                <a:r>
                  <a:rPr lang="en-US" sz="1800" dirty="0">
                    <a:effectLst/>
                    <a:ea typeface="Calibri" panose="020F0502020204030204" pitchFamily="34" charset="0"/>
                  </a:rPr>
                  <a:t>of the network.</a:t>
                </a:r>
                <a:endParaRPr lang="en-US" sz="2800" dirty="0">
                  <a:effectLst/>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𝐸</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a:effectLst/>
                              <a:latin typeface="Cambria Math" panose="02040503050406030204" pitchFamily="18" charset="0"/>
                              <a:ea typeface="Calibri" panose="020F0502020204030204" pitchFamily="34" charset="0"/>
                              <a:cs typeface="Calibri Light" panose="020F0302020204030204" pitchFamily="34" charset="0"/>
                            </a:rPr>
                            <m:t>2</m:t>
                          </m:r>
                        </m:den>
                      </m:f>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bSup>
                    </m:oMath>
                  </m:oMathPara>
                </a14:m>
                <a:endParaRPr lang="en-US" sz="2800" dirty="0">
                  <a:effectLst/>
                  <a:ea typeface="Calibri" panose="020F0502020204030204" pitchFamily="34" charset="0"/>
                </a:endParaRPr>
              </a:p>
              <a:p>
                <a:r>
                  <a:rPr lang="en-US" sz="1800" dirty="0">
                    <a:effectLst/>
                    <a:ea typeface="Calibri" panose="020F0502020204030204" pitchFamily="34" charset="0"/>
                  </a:rPr>
                  <a:t> </a:t>
                </a:r>
                <a:endParaRPr lang="en-US" sz="2800" dirty="0">
                  <a:effectLst/>
                  <a:ea typeface="Calibri" panose="020F0502020204030204" pitchFamily="34" charset="0"/>
                </a:endParaRPr>
              </a:p>
              <a:p>
                <a:r>
                  <a:rPr lang="en-US" sz="1800" dirty="0">
                    <a:effectLst/>
                    <a:ea typeface="Calibri" panose="020F0502020204030204" pitchFamily="34" charset="0"/>
                  </a:rPr>
                  <a:t>Adding thresholds</a:t>
                </a:r>
                <a:endParaRPr lang="en-US" sz="2800" dirty="0">
                  <a:effectLst/>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𝐸</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a:effectLst/>
                              <a:latin typeface="Cambria Math" panose="02040503050406030204" pitchFamily="18" charset="0"/>
                              <a:ea typeface="Calibri" panose="020F0502020204030204" pitchFamily="34" charset="0"/>
                              <a:cs typeface="Calibri Light" panose="020F0302020204030204" pitchFamily="34" charset="0"/>
                            </a:rPr>
                            <m:t>2</m:t>
                          </m:r>
                        </m:den>
                      </m:f>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r>
                        <a:rPr lang="en-US" sz="1800" b="1" i="1">
                          <a:effectLst/>
                          <a:latin typeface="Cambria Math" panose="02040503050406030204" pitchFamily="18" charset="0"/>
                          <a:ea typeface="Calibri" panose="020F0502020204030204" pitchFamily="34" charset="0"/>
                          <a:cs typeface="Calibri Light" panose="020F0302020204030204" pitchFamily="34" charset="0"/>
                        </a:rPr>
                        <m:t>𝐖</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a:effectLst/>
                              <a:latin typeface="Cambria Math" panose="02040503050406030204" pitchFamily="18" charset="0"/>
                              <a:ea typeface="Calibri" panose="020F0502020204030204" pitchFamily="34" charset="0"/>
                              <a:cs typeface="Calibri Light" panose="020F0302020204030204" pitchFamily="34" charset="0"/>
                            </a:rPr>
                            <m:t>2</m:t>
                          </m:r>
                        </m:den>
                      </m:f>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𝜃</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sub>
                      </m:sSub>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a:effectLst/>
                              <a:latin typeface="Cambria Math" panose="02040503050406030204" pitchFamily="18" charset="0"/>
                              <a:ea typeface="Calibri" panose="020F0502020204030204" pitchFamily="34" charset="0"/>
                              <a:cs typeface="Calibri Light" panose="020F0302020204030204" pitchFamily="34" charset="0"/>
                            </a:rPr>
                            <m:t>2</m:t>
                          </m:r>
                        </m:den>
                      </m:f>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𝜃</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𝓁</m:t>
                          </m:r>
                        </m:sub>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sz="2800" dirty="0">
                  <a:effectLst/>
                  <a:ea typeface="Calibri" panose="020F0502020204030204" pitchFamily="34" charset="0"/>
                </a:endParaRPr>
              </a:p>
              <a:p>
                <a:r>
                  <a:rPr lang="en-US" sz="1800" dirty="0">
                    <a:effectLst/>
                    <a:latin typeface="Calibri Light" panose="020F0302020204030204" pitchFamily="34" charset="0"/>
                    <a:ea typeface="Calibri" panose="020F0502020204030204" pitchFamily="34" charset="0"/>
                  </a:rPr>
                  <a:t> </a:t>
                </a:r>
                <a:endParaRPr lang="en-US" sz="2800" dirty="0">
                  <a:effectLst/>
                  <a:latin typeface="Calibri" panose="020F0502020204030204" pitchFamily="34" charset="0"/>
                  <a:ea typeface="Calibri" panose="020F0502020204030204" pitchFamily="34" charset="0"/>
                </a:endParaRPr>
              </a:p>
            </p:txBody>
          </p:sp>
        </mc:Choice>
        <mc:Fallback xmlns="">
          <p:sp>
            <p:nvSpPr>
              <p:cNvPr id="5" name="CasellaDiTesto 4">
                <a:extLst>
                  <a:ext uri="{FF2B5EF4-FFF2-40B4-BE49-F238E27FC236}">
                    <a16:creationId xmlns:a16="http://schemas.microsoft.com/office/drawing/2014/main" id="{F39D3406-BCF5-4523-A577-32CEBF0C3484}"/>
                  </a:ext>
                </a:extLst>
              </p:cNvPr>
              <p:cNvSpPr txBox="1">
                <a:spLocks noRot="1" noChangeAspect="1" noMove="1" noResize="1" noEditPoints="1" noAdjustHandles="1" noChangeArrowheads="1" noChangeShapeType="1" noTextEdit="1"/>
              </p:cNvSpPr>
              <p:nvPr/>
            </p:nvSpPr>
            <p:spPr>
              <a:xfrm>
                <a:off x="226142" y="1577487"/>
                <a:ext cx="11739716" cy="4168192"/>
              </a:xfrm>
              <a:prstGeom prst="rect">
                <a:avLst/>
              </a:prstGeom>
              <a:blipFill>
                <a:blip r:embed="rId3"/>
                <a:stretch>
                  <a:fillRect l="-415" t="-1462"/>
                </a:stretch>
              </a:blipFill>
            </p:spPr>
            <p:txBody>
              <a:bodyPr/>
              <a:lstStyle/>
              <a:p>
                <a:r>
                  <a:rPr lang="en-US">
                    <a:noFill/>
                  </a:rPr>
                  <a:t> </a:t>
                </a:r>
              </a:p>
            </p:txBody>
          </p:sp>
        </mc:Fallback>
      </mc:AlternateContent>
      <p:sp>
        <p:nvSpPr>
          <p:cNvPr id="6" name="CasellaDiTesto 5">
            <a:extLst>
              <a:ext uri="{FF2B5EF4-FFF2-40B4-BE49-F238E27FC236}">
                <a16:creationId xmlns:a16="http://schemas.microsoft.com/office/drawing/2014/main" id="{280C6624-00DE-477D-83D4-284FD4FA659D}"/>
              </a:ext>
            </a:extLst>
          </p:cNvPr>
          <p:cNvSpPr txBox="1"/>
          <p:nvPr/>
        </p:nvSpPr>
        <p:spPr>
          <a:xfrm>
            <a:off x="2107380" y="254416"/>
            <a:ext cx="8190271" cy="769441"/>
          </a:xfrm>
          <a:prstGeom prst="rect">
            <a:avLst/>
          </a:prstGeom>
          <a:noFill/>
        </p:spPr>
        <p:txBody>
          <a:bodyPr wrap="square" rtlCol="0">
            <a:spAutoFit/>
          </a:bodyPr>
          <a:lstStyle/>
          <a:p>
            <a:pPr algn="ctr"/>
            <a:r>
              <a:rPr lang="it-IT" sz="4400" dirty="0">
                <a:solidFill>
                  <a:schemeClr val="accent1">
                    <a:lumMod val="50000"/>
                  </a:schemeClr>
                </a:solidFill>
                <a:latin typeface="+mj-lt"/>
              </a:rPr>
              <a:t>Energy </a:t>
            </a:r>
            <a:r>
              <a:rPr lang="it-IT" sz="4400" dirty="0" err="1">
                <a:solidFill>
                  <a:schemeClr val="accent1">
                    <a:lumMod val="50000"/>
                  </a:schemeClr>
                </a:solidFill>
                <a:latin typeface="+mj-lt"/>
              </a:rPr>
              <a:t>function</a:t>
            </a:r>
            <a:r>
              <a:rPr lang="it-IT" sz="4400" dirty="0">
                <a:solidFill>
                  <a:schemeClr val="accent1">
                    <a:lumMod val="50000"/>
                  </a:schemeClr>
                </a:solidFill>
                <a:latin typeface="+mj-lt"/>
              </a:rPr>
              <a:t> </a:t>
            </a:r>
            <a:endParaRPr lang="en-US" sz="4400" dirty="0">
              <a:solidFill>
                <a:schemeClr val="accent1">
                  <a:lumMod val="50000"/>
                </a:schemeClr>
              </a:solidFill>
              <a:latin typeface="+mj-lt"/>
            </a:endParaRPr>
          </a:p>
        </p:txBody>
      </p:sp>
    </p:spTree>
    <p:extLst>
      <p:ext uri="{BB962C8B-B14F-4D97-AF65-F5344CB8AC3E}">
        <p14:creationId xmlns:p14="http://schemas.microsoft.com/office/powerpoint/2010/main" val="2775927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D9A32021-22C6-465C-BDFF-6C8523CBFFF9}"/>
                  </a:ext>
                </a:extLst>
              </p:cNvPr>
              <p:cNvSpPr txBox="1"/>
              <p:nvPr/>
            </p:nvSpPr>
            <p:spPr>
              <a:xfrm>
                <a:off x="2025117" y="2247337"/>
                <a:ext cx="9340646" cy="3251852"/>
              </a:xfrm>
              <a:prstGeom prst="rect">
                <a:avLst/>
              </a:prstGeom>
              <a:noFill/>
            </p:spPr>
            <p:txBody>
              <a:bodyPr wrap="square">
                <a:spAutoFit/>
              </a:bodyPr>
              <a:lstStyle/>
              <a:p>
                <a:r>
                  <a:rPr lang="en-US" sz="1800" dirty="0">
                    <a:effectLst/>
                    <a:ea typeface="Calibri" panose="020F0502020204030204" pitchFamily="34" charset="0"/>
                  </a:rPr>
                  <a:t>the energy function can be written in the two equivalent forms</a:t>
                </a:r>
                <a:endParaRPr lang="en-US" sz="2800" dirty="0">
                  <a:effectLst/>
                  <a:ea typeface="Calibri" panose="020F0502020204030204" pitchFamily="34" charset="0"/>
                </a:endParaRPr>
              </a:p>
              <a:p>
                <a:pPr algn="ctr">
                  <a:spcAft>
                    <a:spcPts val="1200"/>
                  </a:spcAft>
                </a:pP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𝐸</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a:effectLst/>
                            <a:latin typeface="Cambria Math" panose="02040503050406030204" pitchFamily="18" charset="0"/>
                            <a:ea typeface="Calibri" panose="020F0502020204030204" pitchFamily="34" charset="0"/>
                            <a:cs typeface="Calibri Light" panose="020F0302020204030204" pitchFamily="34" charset="0"/>
                          </a:rPr>
                          <m:t>2</m:t>
                        </m:r>
                      </m:den>
                    </m:f>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𝑘</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𝑒</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𝑦</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box>
                      <m:box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boxPr>
                      <m:e>
                        <m:r>
                          <a:rPr lang="en-US" sz="1800">
                            <a:effectLst/>
                            <a:latin typeface="Cambria Math" panose="02040503050406030204" pitchFamily="18" charset="0"/>
                            <a:ea typeface="Calibri" panose="020F0502020204030204" pitchFamily="34" charset="0"/>
                            <a:cs typeface="Calibri Light" panose="020F0302020204030204" pitchFamily="34" charset="0"/>
                          </a:rPr>
                          <m:t> </m:t>
                        </m:r>
                      </m:e>
                    </m:box>
                  </m:oMath>
                </a14:m>
                <a:r>
                  <a:rPr lang="en-US" sz="1800" dirty="0">
                    <a:effectLst/>
                    <a:ea typeface="Calibri" panose="020F0502020204030204" pitchFamily="34" charset="0"/>
                  </a:rPr>
                  <a:t> and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𝐸</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a:effectLst/>
                            <a:latin typeface="Cambria Math" panose="02040503050406030204" pitchFamily="18" charset="0"/>
                            <a:ea typeface="Calibri" panose="020F0502020204030204" pitchFamily="34" charset="0"/>
                            <a:cs typeface="Calibri Light" panose="020F0302020204030204" pitchFamily="34" charset="0"/>
                          </a:rPr>
                          <m:t>2</m:t>
                        </m:r>
                      </m:den>
                    </m:f>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𝑔</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oMath>
                </a14:m>
                <a:endParaRPr lang="en-US" sz="2800" dirty="0">
                  <a:effectLst/>
                  <a:ea typeface="Calibri" panose="020F0502020204030204" pitchFamily="34" charset="0"/>
                </a:endParaRPr>
              </a:p>
              <a:p>
                <a:r>
                  <a:rPr lang="en-US" sz="1800" dirty="0">
                    <a:effectLst/>
                    <a:ea typeface="Calibri" panose="020F0502020204030204" pitchFamily="34" charset="0"/>
                  </a:rPr>
                  <a:t> </a:t>
                </a:r>
                <a:endParaRPr lang="en-US" sz="2800" dirty="0">
                  <a:effectLst/>
                  <a:ea typeface="Calibri" panose="020F0502020204030204" pitchFamily="34" charset="0"/>
                </a:endParaRPr>
              </a:p>
              <a:p>
                <a:pPr>
                  <a:spcAft>
                    <a:spcPts val="1200"/>
                  </a:spcAft>
                </a:pPr>
                <a:r>
                  <a:rPr lang="en-US" sz="1800" dirty="0">
                    <a:effectLst/>
                    <a:ea typeface="Calibri" panose="020F0502020204030204" pitchFamily="34" charset="0"/>
                  </a:rPr>
                  <a:t>the difference between the previous energy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𝐸</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ea typeface="Calibri" panose="020F0502020204030204" pitchFamily="34" charset="0"/>
                  </a:rPr>
                  <a:t> and the new energy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𝐸</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d>
                  </m:oMath>
                </a14:m>
                <a:r>
                  <a:rPr lang="en-US" sz="1800" dirty="0">
                    <a:effectLst/>
                    <a:ea typeface="Calibri" panose="020F0502020204030204" pitchFamily="34" charset="0"/>
                  </a:rPr>
                  <a:t> is</a:t>
                </a:r>
                <a:endParaRPr lang="en-US" sz="2800" dirty="0">
                  <a:effectLst/>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𝐸</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𝐸</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a:effectLst/>
                              <a:latin typeface="Cambria Math" panose="02040503050406030204" pitchFamily="18" charset="0"/>
                              <a:ea typeface="Calibri" panose="020F0502020204030204" pitchFamily="34" charset="0"/>
                              <a:cs typeface="Calibri Light" panose="020F0302020204030204" pitchFamily="34" charset="0"/>
                            </a:rPr>
                            <m:t>2</m:t>
                          </m:r>
                        </m:den>
                      </m:f>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𝑔</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r>
                            <a:rPr lang="en-US" sz="1800" i="1">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m:t>
                              </m:r>
                            </m:sup>
                          </m:sSubSup>
                        </m:e>
                      </m:d>
                    </m:oMath>
                  </m:oMathPara>
                </a14:m>
                <a:endParaRPr lang="en-US" sz="2800" dirty="0">
                  <a:effectLst/>
                  <a:ea typeface="Calibri" panose="020F0502020204030204" pitchFamily="34" charset="0"/>
                </a:endParaRPr>
              </a:p>
              <a:p>
                <a:pPr>
                  <a:spcAft>
                    <a:spcPts val="1200"/>
                  </a:spcAft>
                </a:pPr>
                <a:r>
                  <a:rPr lang="en-US" sz="1800" dirty="0">
                    <a:effectLst/>
                    <a:ea typeface="Calibri" panose="020F0502020204030204" pitchFamily="34" charset="0"/>
                  </a:rPr>
                  <a:t>Since both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oMath>
                </a14:m>
                <a:r>
                  <a:rPr lang="en-US" sz="1800" dirty="0">
                    <a:effectLst/>
                    <a:ea typeface="Calibri" panose="020F0502020204030204" pitchFamily="34" charset="0"/>
                  </a:rPr>
                  <a:t> and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oMath>
                </a14:m>
                <a:r>
                  <a:rPr lang="en-US" sz="1800" dirty="0">
                    <a:effectLst/>
                    <a:ea typeface="Calibri" panose="020F0502020204030204" pitchFamily="34" charset="0"/>
                  </a:rPr>
                  <a:t> have a different sign than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𝑔</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oMath>
                </a14:m>
                <a:r>
                  <a:rPr lang="en-US" sz="1800" dirty="0">
                    <a:effectLst/>
                    <a:ea typeface="Calibri" panose="020F0502020204030204" pitchFamily="34" charset="0"/>
                  </a:rPr>
                  <a:t> it follows that</a:t>
                </a:r>
                <a:endParaRPr lang="en-US" sz="2800" dirty="0">
                  <a:effectLst/>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𝐸</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𝐸</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𝐱</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𝐲</m:t>
                          </m:r>
                        </m:e>
                      </m:d>
                      <m:r>
                        <a:rPr lang="en-US" sz="1800">
                          <a:effectLst/>
                          <a:latin typeface="Cambria Math" panose="02040503050406030204" pitchFamily="18" charset="0"/>
                          <a:ea typeface="Calibri" panose="020F0502020204030204" pitchFamily="34" charset="0"/>
                          <a:cs typeface="Calibri Light" panose="020F0302020204030204" pitchFamily="34" charset="0"/>
                        </a:rPr>
                        <m:t>&gt;0.</m:t>
                      </m:r>
                    </m:oMath>
                  </m:oMathPara>
                </a14:m>
                <a:endParaRPr lang="en-US" dirty="0"/>
              </a:p>
            </p:txBody>
          </p:sp>
        </mc:Choice>
        <mc:Fallback xmlns="">
          <p:sp>
            <p:nvSpPr>
              <p:cNvPr id="5" name="CasellaDiTesto 4">
                <a:extLst>
                  <a:ext uri="{FF2B5EF4-FFF2-40B4-BE49-F238E27FC236}">
                    <a16:creationId xmlns:a16="http://schemas.microsoft.com/office/drawing/2014/main" id="{D9A32021-22C6-465C-BDFF-6C8523CBFFF9}"/>
                  </a:ext>
                </a:extLst>
              </p:cNvPr>
              <p:cNvSpPr txBox="1">
                <a:spLocks noRot="1" noChangeAspect="1" noMove="1" noResize="1" noEditPoints="1" noAdjustHandles="1" noChangeArrowheads="1" noChangeShapeType="1" noTextEdit="1"/>
              </p:cNvSpPr>
              <p:nvPr/>
            </p:nvSpPr>
            <p:spPr>
              <a:xfrm>
                <a:off x="2025117" y="2247337"/>
                <a:ext cx="9340646" cy="3251852"/>
              </a:xfrm>
              <a:prstGeom prst="rect">
                <a:avLst/>
              </a:prstGeom>
              <a:blipFill>
                <a:blip r:embed="rId3"/>
                <a:stretch>
                  <a:fillRect l="-522" t="-1126"/>
                </a:stretch>
              </a:blipFill>
            </p:spPr>
            <p:txBody>
              <a:bodyPr/>
              <a:lstStyle/>
              <a:p>
                <a:r>
                  <a:rPr lang="en-US">
                    <a:noFill/>
                  </a:rPr>
                  <a:t> </a:t>
                </a:r>
              </a:p>
            </p:txBody>
          </p:sp>
        </mc:Fallback>
      </mc:AlternateContent>
      <p:sp>
        <p:nvSpPr>
          <p:cNvPr id="6" name="CasellaDiTesto 5">
            <a:extLst>
              <a:ext uri="{FF2B5EF4-FFF2-40B4-BE49-F238E27FC236}">
                <a16:creationId xmlns:a16="http://schemas.microsoft.com/office/drawing/2014/main" id="{0280F377-3622-40BF-B8CC-E00513F25C74}"/>
              </a:ext>
            </a:extLst>
          </p:cNvPr>
          <p:cNvSpPr txBox="1"/>
          <p:nvPr/>
        </p:nvSpPr>
        <p:spPr>
          <a:xfrm>
            <a:off x="2178500" y="684717"/>
            <a:ext cx="8190271" cy="769441"/>
          </a:xfrm>
          <a:prstGeom prst="rect">
            <a:avLst/>
          </a:prstGeom>
          <a:noFill/>
        </p:spPr>
        <p:txBody>
          <a:bodyPr wrap="square" rtlCol="0">
            <a:spAutoFit/>
          </a:bodyPr>
          <a:lstStyle/>
          <a:p>
            <a:pPr algn="ctr"/>
            <a:r>
              <a:rPr lang="it-IT" sz="4400" dirty="0">
                <a:solidFill>
                  <a:schemeClr val="accent1">
                    <a:lumMod val="50000"/>
                  </a:schemeClr>
                </a:solidFill>
                <a:latin typeface="+mj-lt"/>
              </a:rPr>
              <a:t>Energy </a:t>
            </a:r>
            <a:r>
              <a:rPr lang="it-IT" sz="4400" dirty="0" err="1">
                <a:solidFill>
                  <a:schemeClr val="accent1">
                    <a:lumMod val="50000"/>
                  </a:schemeClr>
                </a:solidFill>
                <a:latin typeface="+mj-lt"/>
              </a:rPr>
              <a:t>function</a:t>
            </a:r>
            <a:r>
              <a:rPr lang="it-IT" sz="4400" dirty="0">
                <a:solidFill>
                  <a:schemeClr val="accent1">
                    <a:lumMod val="50000"/>
                  </a:schemeClr>
                </a:solidFill>
                <a:latin typeface="+mj-lt"/>
              </a:rPr>
              <a:t> -2</a:t>
            </a:r>
            <a:endParaRPr lang="en-US" sz="4400" dirty="0">
              <a:solidFill>
                <a:schemeClr val="accent1">
                  <a:lumMod val="50000"/>
                </a:schemeClr>
              </a:solidFill>
              <a:latin typeface="+mj-lt"/>
            </a:endParaRPr>
          </a:p>
        </p:txBody>
      </p:sp>
    </p:spTree>
    <p:extLst>
      <p:ext uri="{BB962C8B-B14F-4D97-AF65-F5344CB8AC3E}">
        <p14:creationId xmlns:p14="http://schemas.microsoft.com/office/powerpoint/2010/main" val="11047903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140200C7-774F-4A54-A299-E1002AEF3149}"/>
              </a:ext>
            </a:extLst>
          </p:cNvPr>
          <p:cNvSpPr txBox="1"/>
          <p:nvPr/>
        </p:nvSpPr>
        <p:spPr>
          <a:xfrm>
            <a:off x="4407644" y="451264"/>
            <a:ext cx="8190271" cy="769441"/>
          </a:xfrm>
          <a:prstGeom prst="rect">
            <a:avLst/>
          </a:prstGeom>
          <a:noFill/>
        </p:spPr>
        <p:txBody>
          <a:bodyPr wrap="square" rtlCol="0">
            <a:spAutoFit/>
          </a:bodyPr>
          <a:lstStyle/>
          <a:p>
            <a:r>
              <a:rPr lang="it-IT" sz="4400" dirty="0" err="1">
                <a:solidFill>
                  <a:schemeClr val="accent1">
                    <a:lumMod val="50000"/>
                  </a:schemeClr>
                </a:solidFill>
                <a:latin typeface="+mj-lt"/>
              </a:rPr>
              <a:t>Hopfield</a:t>
            </a:r>
            <a:r>
              <a:rPr lang="it-IT" sz="4400" dirty="0">
                <a:solidFill>
                  <a:schemeClr val="accent1">
                    <a:lumMod val="50000"/>
                  </a:schemeClr>
                </a:solidFill>
                <a:latin typeface="+mj-lt"/>
              </a:rPr>
              <a:t> model</a:t>
            </a:r>
            <a:endParaRPr lang="en-US" sz="4400" dirty="0">
              <a:solidFill>
                <a:schemeClr val="accent1">
                  <a:lumMod val="50000"/>
                </a:schemeClr>
              </a:solidFill>
              <a:latin typeface="+mj-lt"/>
            </a:endParaRPr>
          </a:p>
        </p:txBody>
      </p:sp>
      <p:pic>
        <p:nvPicPr>
          <p:cNvPr id="3" name="Immagine 2">
            <a:extLst>
              <a:ext uri="{FF2B5EF4-FFF2-40B4-BE49-F238E27FC236}">
                <a16:creationId xmlns:a16="http://schemas.microsoft.com/office/drawing/2014/main" id="{92B51192-3F16-4335-8D43-21F026A2D06A}"/>
              </a:ext>
            </a:extLst>
          </p:cNvPr>
          <p:cNvPicPr>
            <a:picLocks noChangeAspect="1"/>
          </p:cNvPicPr>
          <p:nvPr/>
        </p:nvPicPr>
        <p:blipFill rotWithShape="1">
          <a:blip r:embed="rId2"/>
          <a:srcRect b="11004"/>
          <a:stretch/>
        </p:blipFill>
        <p:spPr bwMode="auto">
          <a:xfrm>
            <a:off x="0" y="1520292"/>
            <a:ext cx="5660055" cy="3309415"/>
          </a:xfrm>
          <a:prstGeom prst="rect">
            <a:avLst/>
          </a:prstGeom>
          <a:ln>
            <a:noFill/>
          </a:ln>
          <a:extLst>
            <a:ext uri="{53640926-AAD7-44D8-BBD7-CCE9431645EC}">
              <a14:shadowObscured xmlns:a14="http://schemas.microsoft.com/office/drawing/2010/main"/>
            </a:ext>
          </a:extLst>
        </p:spPr>
      </p:pic>
      <p:sp>
        <p:nvSpPr>
          <p:cNvPr id="5" name="CasellaDiTesto 4">
            <a:extLst>
              <a:ext uri="{FF2B5EF4-FFF2-40B4-BE49-F238E27FC236}">
                <a16:creationId xmlns:a16="http://schemas.microsoft.com/office/drawing/2014/main" id="{9513D092-AA0F-4A2A-963B-7D0E742685FF}"/>
              </a:ext>
            </a:extLst>
          </p:cNvPr>
          <p:cNvSpPr txBox="1"/>
          <p:nvPr/>
        </p:nvSpPr>
        <p:spPr>
          <a:xfrm>
            <a:off x="709930" y="5241986"/>
            <a:ext cx="10772140" cy="646331"/>
          </a:xfrm>
          <a:prstGeom prst="rect">
            <a:avLst/>
          </a:prstGeom>
          <a:noFill/>
        </p:spPr>
        <p:txBody>
          <a:bodyPr wrap="square">
            <a:spAutoFit/>
          </a:bodyPr>
          <a:lstStyle/>
          <a:p>
            <a:r>
              <a:rPr lang="en-US" sz="1800" dirty="0">
                <a:solidFill>
                  <a:schemeClr val="accent1">
                    <a:lumMod val="50000"/>
                  </a:schemeClr>
                </a:solidFill>
                <a:effectLst/>
              </a:rPr>
              <a:t>Hopfield network (HNN)</a:t>
            </a:r>
            <a:r>
              <a:rPr lang="en-US" sz="1800" dirty="0">
                <a:effectLst/>
              </a:rPr>
              <a:t> is a bidirectional associative memory of interconnected neurons each of which is a bipolar threshold unit</a:t>
            </a:r>
            <a:endParaRPr lang="en-US" dirty="0"/>
          </a:p>
        </p:txBody>
      </p:sp>
      <p:pic>
        <p:nvPicPr>
          <p:cNvPr id="7" name="Immagine 6">
            <a:extLst>
              <a:ext uri="{FF2B5EF4-FFF2-40B4-BE49-F238E27FC236}">
                <a16:creationId xmlns:a16="http://schemas.microsoft.com/office/drawing/2014/main" id="{E4EE3DDD-EACC-41C9-BC01-961D147A6055}"/>
              </a:ext>
            </a:extLst>
          </p:cNvPr>
          <p:cNvPicPr>
            <a:picLocks noChangeAspect="1"/>
          </p:cNvPicPr>
          <p:nvPr/>
        </p:nvPicPr>
        <p:blipFill>
          <a:blip r:embed="rId3"/>
          <a:stretch>
            <a:fillRect/>
          </a:stretch>
        </p:blipFill>
        <p:spPr>
          <a:xfrm>
            <a:off x="7091225" y="1426845"/>
            <a:ext cx="3432707" cy="3309415"/>
          </a:xfrm>
          <a:prstGeom prst="rect">
            <a:avLst/>
          </a:prstGeom>
        </p:spPr>
      </p:pic>
    </p:spTree>
    <p:extLst>
      <p:ext uri="{BB962C8B-B14F-4D97-AF65-F5344CB8AC3E}">
        <p14:creationId xmlns:p14="http://schemas.microsoft.com/office/powerpoint/2010/main" val="36910120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ACC9EFFB-78CF-40DB-88BC-87495ECE270F}"/>
              </a:ext>
            </a:extLst>
          </p:cNvPr>
          <p:cNvSpPr txBox="1"/>
          <p:nvPr/>
        </p:nvSpPr>
        <p:spPr>
          <a:xfrm>
            <a:off x="4407644" y="451264"/>
            <a:ext cx="8190271" cy="769441"/>
          </a:xfrm>
          <a:prstGeom prst="rect">
            <a:avLst/>
          </a:prstGeom>
          <a:noFill/>
        </p:spPr>
        <p:txBody>
          <a:bodyPr wrap="square" rtlCol="0">
            <a:spAutoFit/>
          </a:bodyPr>
          <a:lstStyle/>
          <a:p>
            <a:r>
              <a:rPr lang="it-IT" sz="4400" dirty="0">
                <a:solidFill>
                  <a:schemeClr val="accent1">
                    <a:lumMod val="50000"/>
                  </a:schemeClr>
                </a:solidFill>
                <a:latin typeface="+mj-lt"/>
              </a:rPr>
              <a:t>Core concepts</a:t>
            </a:r>
            <a:endParaRPr lang="en-US" sz="4400" dirty="0">
              <a:solidFill>
                <a:schemeClr val="accent1">
                  <a:lumMod val="50000"/>
                </a:schemeClr>
              </a:solidFill>
              <a:latin typeface="+mj-lt"/>
            </a:endParaRPr>
          </a:p>
        </p:txBody>
      </p:sp>
      <p:sp>
        <p:nvSpPr>
          <p:cNvPr id="5" name="CasellaDiTesto 4">
            <a:extLst>
              <a:ext uri="{FF2B5EF4-FFF2-40B4-BE49-F238E27FC236}">
                <a16:creationId xmlns:a16="http://schemas.microsoft.com/office/drawing/2014/main" id="{2098C91A-1BAC-4C9E-9BF1-3AC4D5856B06}"/>
              </a:ext>
            </a:extLst>
          </p:cNvPr>
          <p:cNvSpPr txBox="1"/>
          <p:nvPr/>
        </p:nvSpPr>
        <p:spPr>
          <a:xfrm>
            <a:off x="4055706" y="2519733"/>
            <a:ext cx="8033657" cy="1077218"/>
          </a:xfrm>
          <a:prstGeom prst="rect">
            <a:avLst/>
          </a:prstGeom>
          <a:noFill/>
        </p:spPr>
        <p:txBody>
          <a:bodyPr wrap="square" rtlCol="0">
            <a:spAutoFit/>
          </a:bodyPr>
          <a:lstStyle/>
          <a:p>
            <a:pPr marL="457200" indent="-457200">
              <a:buFontTx/>
              <a:buChar char="-"/>
            </a:pPr>
            <a:r>
              <a:rPr lang="it-IT" sz="3200" dirty="0"/>
              <a:t>Radius of </a:t>
            </a:r>
            <a:r>
              <a:rPr lang="it-IT" sz="3200" dirty="0" err="1"/>
              <a:t>attraction</a:t>
            </a:r>
            <a:endParaRPr lang="it-IT" sz="3200" dirty="0"/>
          </a:p>
          <a:p>
            <a:pPr marL="457200" indent="-457200">
              <a:buFontTx/>
              <a:buChar char="-"/>
            </a:pPr>
            <a:r>
              <a:rPr lang="it-IT" sz="3200" dirty="0" err="1"/>
              <a:t>Capacity</a:t>
            </a:r>
            <a:endParaRPr lang="en-US" sz="3200" dirty="0"/>
          </a:p>
        </p:txBody>
      </p:sp>
    </p:spTree>
    <p:extLst>
      <p:ext uri="{BB962C8B-B14F-4D97-AF65-F5344CB8AC3E}">
        <p14:creationId xmlns:p14="http://schemas.microsoft.com/office/powerpoint/2010/main" val="40753135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9DB29C97-4DC1-4EC4-83F9-D4960BA36CBB}"/>
              </a:ext>
            </a:extLst>
          </p:cNvPr>
          <p:cNvSpPr txBox="1"/>
          <p:nvPr/>
        </p:nvSpPr>
        <p:spPr>
          <a:xfrm>
            <a:off x="3633204" y="0"/>
            <a:ext cx="8190271" cy="769441"/>
          </a:xfrm>
          <a:prstGeom prst="rect">
            <a:avLst/>
          </a:prstGeom>
          <a:noFill/>
        </p:spPr>
        <p:txBody>
          <a:bodyPr wrap="square" rtlCol="0">
            <a:spAutoFit/>
          </a:bodyPr>
          <a:lstStyle/>
          <a:p>
            <a:r>
              <a:rPr lang="it-IT" sz="4400" dirty="0" err="1">
                <a:solidFill>
                  <a:schemeClr val="accent1">
                    <a:lumMod val="50000"/>
                  </a:schemeClr>
                </a:solidFill>
                <a:latin typeface="+mj-lt"/>
              </a:rPr>
              <a:t>Another</a:t>
            </a:r>
            <a:r>
              <a:rPr lang="it-IT" sz="4400" dirty="0">
                <a:solidFill>
                  <a:schemeClr val="accent1">
                    <a:lumMod val="50000"/>
                  </a:schemeClr>
                </a:solidFill>
                <a:latin typeface="+mj-lt"/>
              </a:rPr>
              <a:t> </a:t>
            </a:r>
            <a:r>
              <a:rPr lang="it-IT" sz="4400" dirty="0" err="1">
                <a:solidFill>
                  <a:schemeClr val="accent1">
                    <a:lumMod val="50000"/>
                  </a:schemeClr>
                </a:solidFill>
                <a:latin typeface="+mj-lt"/>
              </a:rPr>
              <a:t>formulation</a:t>
            </a:r>
            <a:endParaRPr lang="en-US" sz="4400" dirty="0">
              <a:solidFill>
                <a:schemeClr val="accent1">
                  <a:lumMod val="50000"/>
                </a:schemeClr>
              </a:solidFill>
              <a:latin typeface="+mj-lt"/>
            </a:endParaRPr>
          </a:p>
        </p:txBody>
      </p:sp>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4ADF3BF0-4456-4588-B098-0EBC058E4A5B}"/>
                  </a:ext>
                </a:extLst>
              </p:cNvPr>
              <p:cNvSpPr txBox="1"/>
              <p:nvPr/>
            </p:nvSpPr>
            <p:spPr>
              <a:xfrm>
                <a:off x="111967" y="769441"/>
                <a:ext cx="12192000" cy="6205801"/>
              </a:xfrm>
              <a:prstGeom prst="rect">
                <a:avLst/>
              </a:prstGeom>
              <a:noFill/>
            </p:spPr>
            <p:txBody>
              <a:bodyPr wrap="square">
                <a:spAutoFit/>
              </a:bodyPr>
              <a:lstStyle/>
              <a:p>
                <a:pPr>
                  <a:spcAft>
                    <a:spcPts val="1200"/>
                  </a:spcAft>
                </a:pPr>
                <a:r>
                  <a:rPr lang="en-US" dirty="0">
                    <a:effectLst/>
                    <a:ea typeface="Calibri" panose="020F0502020204030204" pitchFamily="34" charset="0"/>
                  </a:rPr>
                  <a:t>With incomplete data, we only know the values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𝑙</m:t>
                    </m:r>
                    <m:r>
                      <a:rPr lang="en-US">
                        <a:effectLst/>
                        <a:latin typeface="Cambria Math" panose="02040503050406030204" pitchFamily="18" charset="0"/>
                        <a:ea typeface="Calibri" panose="020F0502020204030204" pitchFamily="34" charset="0"/>
                        <a:cs typeface="Calibri Light" panose="020F0302020204030204" pitchFamily="34" charset="0"/>
                      </a:rPr>
                      <m:t>&lt;</m:t>
                    </m:r>
                    <m:r>
                      <a:rPr lang="en-US" i="1">
                        <a:effectLst/>
                        <a:latin typeface="Cambria Math" panose="02040503050406030204" pitchFamily="18" charset="0"/>
                        <a:ea typeface="Calibri" panose="020F0502020204030204" pitchFamily="34" charset="0"/>
                        <a:cs typeface="Calibri Light" panose="020F0302020204030204" pitchFamily="34" charset="0"/>
                      </a:rPr>
                      <m:t>𝑑</m:t>
                    </m:r>
                  </m:oMath>
                </a14:m>
                <a:r>
                  <a:rPr lang="en-US" dirty="0">
                    <a:effectLst/>
                    <a:ea typeface="Calibri" panose="020F0502020204030204" pitchFamily="34" charset="0"/>
                  </a:rPr>
                  <a:t> neurons with labels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ℒ</m:t>
                    </m:r>
                    <m:r>
                      <a:rPr lang="en-US">
                        <a:effectLst/>
                        <a:latin typeface="Cambria Math" panose="02040503050406030204" pitchFamily="18" charset="0"/>
                        <a:ea typeface="Calibri" panose="020F0502020204030204" pitchFamily="34" charset="0"/>
                        <a:cs typeface="Calibri Light" panose="020F0302020204030204" pitchFamily="34" charset="0"/>
                      </a:rPr>
                      <m:t>⊂{1,2,…,</m:t>
                    </m:r>
                    <m:r>
                      <a:rPr lang="en-US" i="1">
                        <a:effectLst/>
                        <a:latin typeface="Cambria Math" panose="02040503050406030204" pitchFamily="18" charset="0"/>
                        <a:ea typeface="Calibri" panose="020F0502020204030204" pitchFamily="34" charset="0"/>
                        <a:cs typeface="Calibri Light" panose="020F0302020204030204" pitchFamily="34" charset="0"/>
                      </a:rPr>
                      <m:t>𝑑</m:t>
                    </m:r>
                    <m:r>
                      <a:rPr lang="en-US">
                        <a:effectLst/>
                        <a:latin typeface="Cambria Math" panose="02040503050406030204" pitchFamily="18" charset="0"/>
                        <a:ea typeface="Calibri" panose="020F0502020204030204" pitchFamily="34" charset="0"/>
                        <a:cs typeface="Calibri Light" panose="020F0302020204030204" pitchFamily="34" charset="0"/>
                      </a:rPr>
                      <m:t>}</m:t>
                    </m:r>
                  </m:oMath>
                </a14:m>
                <a:r>
                  <a:rPr lang="en-US" dirty="0">
                    <a:effectLst/>
                    <a:ea typeface="Calibri" panose="020F0502020204030204" pitchFamily="34" charset="0"/>
                  </a:rPr>
                  <a:t>.  We can initialize our activation pattern to be </a:t>
                </a:r>
                <a14:m>
                  <m:oMath xmlns:m="http://schemas.openxmlformats.org/officeDocument/2006/math">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b="1" i="1">
                            <a:effectLst/>
                            <a:latin typeface="Cambria Math" panose="02040503050406030204" pitchFamily="18" charset="0"/>
                            <a:ea typeface="Calibri" panose="020F0502020204030204" pitchFamily="34" charset="0"/>
                            <a:cs typeface="Calibri Light" panose="020F0302020204030204" pitchFamily="34" charset="0"/>
                          </a:rPr>
                          <m:t>𝒙</m:t>
                        </m:r>
                      </m:e>
                      <m:sup>
                        <m:r>
                          <a:rPr lang="en-US">
                            <a:effectLst/>
                            <a:latin typeface="Cambria Math" panose="02040503050406030204" pitchFamily="18" charset="0"/>
                            <a:ea typeface="Calibri" panose="020F0502020204030204" pitchFamily="34" charset="0"/>
                            <a:cs typeface="Calibri Light" panose="020F0302020204030204" pitchFamily="34" charset="0"/>
                          </a:rPr>
                          <m:t>(</m:t>
                        </m:r>
                        <m:r>
                          <m:rPr>
                            <m:nor/>
                          </m:rPr>
                          <a:rPr lang="en-US">
                            <a:effectLst/>
                            <a:ea typeface="Calibri" panose="020F0502020204030204" pitchFamily="34" charset="0"/>
                          </a:rPr>
                          <m:t>inc</m:t>
                        </m:r>
                        <m:r>
                          <m:rPr>
                            <m:nor/>
                          </m:rPr>
                          <a:rPr lang="en-US" i="1">
                            <a:effectLst/>
                            <a:ea typeface="Calibri" panose="020F0502020204030204" pitchFamily="34" charset="0"/>
                          </a:rPr>
                          <m:t> </m:t>
                        </m:r>
                        <m:r>
                          <a:rPr lang="en-US">
                            <a:effectLst/>
                            <a:latin typeface="Cambria Math" panose="02040503050406030204" pitchFamily="18" charset="0"/>
                            <a:ea typeface="Calibri" panose="020F0502020204030204" pitchFamily="34" charset="0"/>
                            <a:cs typeface="Calibri Light" panose="020F0302020204030204" pitchFamily="34" charset="0"/>
                          </a:rPr>
                          <m:t>)</m:t>
                        </m:r>
                      </m:sup>
                    </m:sSup>
                    <m:r>
                      <a:rPr lang="en-US">
                        <a:effectLst/>
                        <a:latin typeface="Cambria Math" panose="02040503050406030204" pitchFamily="18" charset="0"/>
                        <a:ea typeface="Calibri" panose="020F0502020204030204" pitchFamily="34" charset="0"/>
                        <a:cs typeface="Calibri Light" panose="020F0302020204030204" pitchFamily="34" charset="0"/>
                      </a:rPr>
                      <m:t>:=</m:t>
                    </m:r>
                  </m:oMath>
                </a14:m>
                <a:r>
                  <a:rPr lang="en-US" dirty="0">
                    <a:effectLst/>
                    <a:ea typeface="Calibri" panose="020F0502020204030204" pitchFamily="34" charset="0"/>
                  </a:rPr>
                  <a:t> </a:t>
                </a:r>
                <a14:m>
                  <m:oMath xmlns:m="http://schemas.openxmlformats.org/officeDocument/2006/math">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d>
                          <m:dPr>
                            <m:begChr m:val="{"/>
                            <m:end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a:effectLst/>
                                    <a:latin typeface="Cambria Math" panose="02040503050406030204" pitchFamily="18" charset="0"/>
                                    <a:ea typeface="Calibri" panose="020F0502020204030204" pitchFamily="34" charset="0"/>
                                    <a:cs typeface="Calibri Light" panose="020F0302020204030204" pitchFamily="34" charset="0"/>
                                  </a:rPr>
                                  <m:t>1</m:t>
                                </m:r>
                              </m:sub>
                              <m:sup>
                                <m:r>
                                  <a:rPr lang="en-US">
                                    <a:effectLst/>
                                    <a:latin typeface="Cambria Math" panose="02040503050406030204" pitchFamily="18" charset="0"/>
                                    <a:ea typeface="Calibri" panose="020F0502020204030204" pitchFamily="34" charset="0"/>
                                    <a:cs typeface="Calibri Light" panose="020F0302020204030204" pitchFamily="34" charset="0"/>
                                  </a:rPr>
                                  <m:t>(</m:t>
                                </m:r>
                                <m:r>
                                  <m:rPr>
                                    <m:nor/>
                                  </m:rPr>
                                  <a:rPr lang="en-US">
                                    <a:effectLst/>
                                    <a:ea typeface="Calibri" panose="020F0502020204030204" pitchFamily="34" charset="0"/>
                                  </a:rPr>
                                  <m:t>inc</m:t>
                                </m:r>
                                <m:r>
                                  <m:rPr>
                                    <m:nor/>
                                  </m:rPr>
                                  <a:rPr lang="en-US" i="1">
                                    <a:effectLst/>
                                    <a:ea typeface="Calibri" panose="020F0502020204030204" pitchFamily="34" charset="0"/>
                                  </a:rPr>
                                  <m:t> </m:t>
                                </m:r>
                                <m:r>
                                  <a:rPr lang="en-US">
                                    <a:effectLst/>
                                    <a:latin typeface="Cambria Math" panose="02040503050406030204" pitchFamily="18" charset="0"/>
                                    <a:ea typeface="Calibri" panose="020F0502020204030204" pitchFamily="34" charset="0"/>
                                    <a:cs typeface="Calibri Light" panose="020F0302020204030204" pitchFamily="34" charset="0"/>
                                  </a:rPr>
                                  <m:t>)</m:t>
                                </m:r>
                              </m:sup>
                            </m:sSubSup>
                            <m:r>
                              <a:rPr lang="en-US">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a:effectLst/>
                                    <a:latin typeface="Cambria Math" panose="02040503050406030204" pitchFamily="18" charset="0"/>
                                    <a:ea typeface="Calibri" panose="020F0502020204030204" pitchFamily="34" charset="0"/>
                                    <a:cs typeface="Calibri Light" panose="020F0302020204030204" pitchFamily="34" charset="0"/>
                                  </a:rPr>
                                  <m:t>2</m:t>
                                </m:r>
                              </m:sub>
                              <m:sup>
                                <m:r>
                                  <a:rPr lang="en-US">
                                    <a:effectLst/>
                                    <a:latin typeface="Cambria Math" panose="02040503050406030204" pitchFamily="18" charset="0"/>
                                    <a:ea typeface="Calibri" panose="020F0502020204030204" pitchFamily="34" charset="0"/>
                                    <a:cs typeface="Calibri Light" panose="020F0302020204030204" pitchFamily="34" charset="0"/>
                                  </a:rPr>
                                  <m:t>(</m:t>
                                </m:r>
                                <m:r>
                                  <m:rPr>
                                    <m:nor/>
                                  </m:rPr>
                                  <a:rPr lang="en-US">
                                    <a:effectLst/>
                                    <a:ea typeface="Calibri" panose="020F0502020204030204" pitchFamily="34" charset="0"/>
                                  </a:rPr>
                                  <m:t>inc</m:t>
                                </m:r>
                                <m:r>
                                  <m:rPr>
                                    <m:nor/>
                                  </m:rPr>
                                  <a:rPr lang="en-US" i="1">
                                    <a:effectLst/>
                                    <a:ea typeface="Calibri" panose="020F0502020204030204" pitchFamily="34" charset="0"/>
                                  </a:rPr>
                                  <m:t> </m:t>
                                </m:r>
                                <m:r>
                                  <a:rPr lang="en-US">
                                    <a:effectLst/>
                                    <a:latin typeface="Cambria Math" panose="02040503050406030204" pitchFamily="18" charset="0"/>
                                    <a:ea typeface="Calibri" panose="020F0502020204030204" pitchFamily="34" charset="0"/>
                                    <a:cs typeface="Calibri Light" panose="020F0302020204030204" pitchFamily="34" charset="0"/>
                                  </a:rPr>
                                  <m:t>)</m:t>
                                </m:r>
                              </m:sup>
                            </m:sSubSup>
                            <m:r>
                              <a:rPr lang="en-US">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i="1">
                                    <a:effectLst/>
                                    <a:latin typeface="Cambria Math" panose="02040503050406030204" pitchFamily="18" charset="0"/>
                                    <a:ea typeface="Calibri" panose="020F0502020204030204" pitchFamily="34" charset="0"/>
                                    <a:cs typeface="Calibri Light" panose="020F0302020204030204" pitchFamily="34" charset="0"/>
                                  </a:rPr>
                                  <m:t>𝑑</m:t>
                                </m:r>
                              </m:sub>
                              <m:sup>
                                <m:r>
                                  <a:rPr lang="en-US">
                                    <a:effectLst/>
                                    <a:latin typeface="Cambria Math" panose="02040503050406030204" pitchFamily="18" charset="0"/>
                                    <a:ea typeface="Calibri" panose="020F0502020204030204" pitchFamily="34" charset="0"/>
                                    <a:cs typeface="Calibri Light" panose="020F0302020204030204" pitchFamily="34" charset="0"/>
                                  </a:rPr>
                                  <m:t>(</m:t>
                                </m:r>
                                <m:r>
                                  <m:rPr>
                                    <m:nor/>
                                  </m:rPr>
                                  <a:rPr lang="en-US">
                                    <a:effectLst/>
                                    <a:ea typeface="Calibri" panose="020F0502020204030204" pitchFamily="34" charset="0"/>
                                  </a:rPr>
                                  <m:t>inc</m:t>
                                </m:r>
                                <m:r>
                                  <m:rPr>
                                    <m:nor/>
                                  </m:rPr>
                                  <a:rPr lang="en-US" i="1">
                                    <a:effectLst/>
                                    <a:ea typeface="Calibri" panose="020F0502020204030204" pitchFamily="34" charset="0"/>
                                  </a:rPr>
                                  <m:t> </m:t>
                                </m:r>
                                <m:r>
                                  <a:rPr lang="en-US">
                                    <a:effectLst/>
                                    <a:latin typeface="Cambria Math" panose="02040503050406030204" pitchFamily="18" charset="0"/>
                                    <a:ea typeface="Calibri" panose="020F0502020204030204" pitchFamily="34" charset="0"/>
                                    <a:cs typeface="Calibri Light" panose="020F0302020204030204" pitchFamily="34" charset="0"/>
                                  </a:rPr>
                                  <m:t>)</m:t>
                                </m:r>
                              </m:sup>
                            </m:sSubSup>
                          </m:e>
                        </m:d>
                      </m:e>
                      <m:sup>
                        <m:r>
                          <a:rPr lang="en-US">
                            <a:effectLst/>
                            <a:latin typeface="Cambria Math" panose="02040503050406030204" pitchFamily="18" charset="0"/>
                            <a:ea typeface="Calibri" panose="020F0502020204030204" pitchFamily="34" charset="0"/>
                            <a:cs typeface="Calibri Light" panose="020F0302020204030204" pitchFamily="34" charset="0"/>
                          </a:rPr>
                          <m:t>⊤</m:t>
                        </m:r>
                      </m:sup>
                    </m:sSup>
                  </m:oMath>
                </a14:m>
                <a:r>
                  <a:rPr lang="en-US" dirty="0">
                    <a:effectLst/>
                    <a:ea typeface="Calibri" panose="020F0502020204030204" pitchFamily="34" charset="0"/>
                  </a:rPr>
                  <a:t> with </a:t>
                </a:r>
                <a14:m>
                  <m:oMath xmlns:m="http://schemas.openxmlformats.org/officeDocument/2006/math">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m:t>
                        </m:r>
                      </m:sub>
                      <m:sup>
                        <m:r>
                          <a:rPr lang="en-US">
                            <a:effectLst/>
                            <a:latin typeface="Cambria Math" panose="02040503050406030204" pitchFamily="18" charset="0"/>
                            <a:ea typeface="Calibri" panose="020F0502020204030204" pitchFamily="34" charset="0"/>
                            <a:cs typeface="Calibri Light" panose="020F0302020204030204" pitchFamily="34" charset="0"/>
                          </a:rPr>
                          <m:t>(</m:t>
                        </m:r>
                        <m:r>
                          <m:rPr>
                            <m:nor/>
                          </m:rPr>
                          <a:rPr lang="en-US">
                            <a:effectLst/>
                            <a:ea typeface="Calibri" panose="020F0502020204030204" pitchFamily="34" charset="0"/>
                          </a:rPr>
                          <m:t>inc</m:t>
                        </m:r>
                        <m:r>
                          <m:rPr>
                            <m:nor/>
                          </m:rPr>
                          <a:rPr lang="en-US" i="1">
                            <a:effectLst/>
                            <a:ea typeface="Calibri" panose="020F0502020204030204" pitchFamily="34" charset="0"/>
                          </a:rPr>
                          <m:t> </m:t>
                        </m:r>
                        <m:r>
                          <a:rPr lang="en-US">
                            <a:effectLst/>
                            <a:latin typeface="Cambria Math" panose="02040503050406030204" pitchFamily="18" charset="0"/>
                            <a:ea typeface="Calibri" panose="020F0502020204030204" pitchFamily="34" charset="0"/>
                            <a:cs typeface="Calibri Light" panose="020F0302020204030204" pitchFamily="34" charset="0"/>
                          </a:rPr>
                          <m:t>)</m:t>
                        </m:r>
                      </m:sup>
                    </m:sSubSup>
                    <m:r>
                      <a:rPr lang="en-US">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m:t>
                        </m:r>
                      </m:sub>
                      <m:sup>
                        <m:r>
                          <a:rPr lang="en-US">
                            <a:effectLst/>
                            <a:latin typeface="Cambria Math" panose="02040503050406030204" pitchFamily="18" charset="0"/>
                            <a:ea typeface="Calibri" panose="020F0502020204030204" pitchFamily="34" charset="0"/>
                            <a:cs typeface="Calibri Light" panose="020F0302020204030204" pitchFamily="34" charset="0"/>
                          </a:rPr>
                          <m:t>(</m:t>
                        </m:r>
                        <m:r>
                          <m:rPr>
                            <m:nor/>
                          </m:rPr>
                          <a:rPr lang="en-US">
                            <a:effectLst/>
                            <a:ea typeface="Calibri" panose="020F0502020204030204" pitchFamily="34" charset="0"/>
                          </a:rPr>
                          <m:t>new</m:t>
                        </m:r>
                        <m:r>
                          <m:rPr>
                            <m:nor/>
                          </m:rPr>
                          <a:rPr lang="en-US" i="1">
                            <a:effectLst/>
                            <a:ea typeface="Calibri" panose="020F0502020204030204" pitchFamily="34" charset="0"/>
                          </a:rPr>
                          <m:t> </m:t>
                        </m:r>
                        <m:r>
                          <a:rPr lang="en-US">
                            <a:effectLst/>
                            <a:latin typeface="Cambria Math" panose="02040503050406030204" pitchFamily="18" charset="0"/>
                            <a:ea typeface="Calibri" panose="020F0502020204030204" pitchFamily="34" charset="0"/>
                            <a:cs typeface="Calibri Light" panose="020F0302020204030204" pitchFamily="34" charset="0"/>
                          </a:rPr>
                          <m:t>)</m:t>
                        </m:r>
                      </m:sup>
                    </m:sSubSup>
                  </m:oMath>
                </a14:m>
                <a:r>
                  <a:rPr lang="en-US" dirty="0">
                    <a:effectLst/>
                    <a:ea typeface="Calibri" panose="020F0502020204030204" pitchFamily="34" charset="0"/>
                  </a:rPr>
                  <a:t> if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𝑖</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ℒ</m:t>
                    </m:r>
                  </m:oMath>
                </a14:m>
                <a:r>
                  <a:rPr lang="en-US" dirty="0">
                    <a:effectLst/>
                    <a:ea typeface="Calibri" panose="020F0502020204030204" pitchFamily="34" charset="0"/>
                  </a:rPr>
                  <a:t> and </a:t>
                </a:r>
                <a14:m>
                  <m:oMath xmlns:m="http://schemas.openxmlformats.org/officeDocument/2006/math">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m:t>
                        </m:r>
                      </m:sub>
                      <m:sup>
                        <m:r>
                          <a:rPr lang="en-US">
                            <a:effectLst/>
                            <a:latin typeface="Cambria Math" panose="02040503050406030204" pitchFamily="18" charset="0"/>
                            <a:ea typeface="Calibri" panose="020F0502020204030204" pitchFamily="34" charset="0"/>
                            <a:cs typeface="Calibri Light" panose="020F0302020204030204" pitchFamily="34" charset="0"/>
                          </a:rPr>
                          <m:t>(</m:t>
                        </m:r>
                        <m:r>
                          <m:rPr>
                            <m:nor/>
                          </m:rPr>
                          <a:rPr lang="en-US">
                            <a:effectLst/>
                            <a:ea typeface="Calibri" panose="020F0502020204030204" pitchFamily="34" charset="0"/>
                          </a:rPr>
                          <m:t>inc</m:t>
                        </m:r>
                        <m:r>
                          <m:rPr>
                            <m:nor/>
                          </m:rPr>
                          <a:rPr lang="en-US" i="1">
                            <a:effectLst/>
                            <a:ea typeface="Calibri" panose="020F0502020204030204" pitchFamily="34" charset="0"/>
                          </a:rPr>
                          <m:t> </m:t>
                        </m:r>
                        <m:r>
                          <a:rPr lang="en-US">
                            <a:effectLst/>
                            <a:latin typeface="Cambria Math" panose="02040503050406030204" pitchFamily="18" charset="0"/>
                            <a:ea typeface="Calibri" panose="020F0502020204030204" pitchFamily="34" charset="0"/>
                            <a:cs typeface="Calibri Light" panose="020F0302020204030204" pitchFamily="34" charset="0"/>
                          </a:rPr>
                          <m:t>)</m:t>
                        </m:r>
                      </m:sup>
                    </m:sSubSup>
                    <m:r>
                      <a:rPr lang="en-US">
                        <a:effectLst/>
                        <a:latin typeface="Cambria Math" panose="02040503050406030204" pitchFamily="18" charset="0"/>
                        <a:ea typeface="Calibri" panose="020F0502020204030204" pitchFamily="34" charset="0"/>
                        <a:cs typeface="Calibri Light" panose="020F0302020204030204" pitchFamily="34" charset="0"/>
                      </a:rPr>
                      <m:t>=0</m:t>
                    </m:r>
                  </m:oMath>
                </a14:m>
                <a:r>
                  <a:rPr lang="en-US" dirty="0">
                    <a:effectLst/>
                    <a:ea typeface="Calibri" panose="020F0502020204030204" pitchFamily="34" charset="0"/>
                  </a:rPr>
                  <a:t> otherwise. </a:t>
                </a:r>
              </a:p>
              <a:p>
                <a:pPr>
                  <a:spcAft>
                    <a:spcPts val="1200"/>
                  </a:spcAft>
                </a:pPr>
                <a:r>
                  <a:rPr lang="en-US" dirty="0">
                    <a:effectLst/>
                    <a:ea typeface="Calibri" panose="020F0502020204030204" pitchFamily="34" charset="0"/>
                  </a:rPr>
                  <a:t>How recover the original activation pattern </a:t>
                </a:r>
                <a14:m>
                  <m:oMath xmlns:m="http://schemas.openxmlformats.org/officeDocument/2006/math">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b="1" i="1">
                            <a:effectLst/>
                            <a:latin typeface="Cambria Math" panose="02040503050406030204" pitchFamily="18" charset="0"/>
                            <a:ea typeface="Calibri" panose="020F0502020204030204" pitchFamily="34" charset="0"/>
                            <a:cs typeface="Calibri Light" panose="020F0302020204030204" pitchFamily="34" charset="0"/>
                          </a:rPr>
                          <m:t>𝒙</m:t>
                        </m:r>
                      </m:e>
                      <m:sup>
                        <m:r>
                          <m:rPr>
                            <m:nor/>
                          </m:rPr>
                          <a:rPr lang="en-US">
                            <a:effectLst/>
                            <a:ea typeface="Calibri" panose="020F0502020204030204" pitchFamily="34" charset="0"/>
                          </a:rPr>
                          <m:t>(</m:t>
                        </m:r>
                        <m:r>
                          <m:rPr>
                            <m:nor/>
                          </m:rPr>
                          <a:rPr lang="en-US">
                            <a:effectLst/>
                            <a:ea typeface="Calibri" panose="020F0502020204030204" pitchFamily="34" charset="0"/>
                          </a:rPr>
                          <m:t>new</m:t>
                        </m:r>
                        <m:r>
                          <m:rPr>
                            <m:nor/>
                          </m:rPr>
                          <a:rPr lang="en-US">
                            <a:effectLst/>
                            <a:ea typeface="Calibri" panose="020F0502020204030204" pitchFamily="34" charset="0"/>
                          </a:rPr>
                          <m:t>)   </m:t>
                        </m:r>
                      </m:sup>
                    </m:sSup>
                    <m:r>
                      <a:rPr lang="it-IT" b="0" i="0" smtClean="0">
                        <a:effectLst/>
                        <a:latin typeface="Cambria Math" panose="02040503050406030204" pitchFamily="18" charset="0"/>
                        <a:ea typeface="Calibri" panose="020F0502020204030204" pitchFamily="34" charset="0"/>
                      </a:rPr>
                      <m:t>?</m:t>
                    </m:r>
                  </m:oMath>
                </a14:m>
                <a:endParaRPr lang="it-IT" b="0" dirty="0">
                  <a:effectLst/>
                  <a:ea typeface="Calibri" panose="020F0502020204030204" pitchFamily="34" charset="0"/>
                </a:endParaRPr>
              </a:p>
              <a:p>
                <a:pPr>
                  <a:spcAft>
                    <a:spcPts val="1200"/>
                  </a:spcAft>
                </a:pPr>
                <a:r>
                  <a:rPr lang="en-US" dirty="0">
                    <a:effectLst/>
                    <a:ea typeface="Calibri" panose="020F0502020204030204" pitchFamily="34" charset="0"/>
                  </a:rPr>
                  <a:t>Minimizing the energy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𝐸</m:t>
                    </m:r>
                  </m:oMath>
                </a14:m>
                <a:r>
                  <a:rPr lang="en-US" dirty="0">
                    <a:effectLst/>
                    <a:ea typeface="Calibri" panose="020F0502020204030204" pitchFamily="34" charset="0"/>
                  </a:rPr>
                  <a:t> subject to the constraint that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𝑃𝑥</m:t>
                    </m:r>
                    <m:r>
                      <a:rPr lang="en-US">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p>
                        <m:r>
                          <m:rPr>
                            <m:nor/>
                          </m:rPr>
                          <a:rPr lang="en-US">
                            <a:effectLst/>
                            <a:ea typeface="Calibri" panose="020F0502020204030204" pitchFamily="34" charset="0"/>
                          </a:rPr>
                          <m:t>(</m:t>
                        </m:r>
                        <m:r>
                          <m:rPr>
                            <m:nor/>
                          </m:rPr>
                          <a:rPr lang="en-US">
                            <a:effectLst/>
                            <a:ea typeface="Calibri" panose="020F0502020204030204" pitchFamily="34" charset="0"/>
                          </a:rPr>
                          <m:t>inc</m:t>
                        </m:r>
                        <m:r>
                          <m:rPr>
                            <m:nor/>
                          </m:rPr>
                          <a:rPr lang="en-US">
                            <a:effectLst/>
                            <a:ea typeface="Calibri" panose="020F0502020204030204" pitchFamily="34" charset="0"/>
                          </a:rPr>
                          <m:t>).</m:t>
                        </m:r>
                        <m:r>
                          <m:rPr>
                            <m:nor/>
                          </m:rPr>
                          <a:rPr lang="en-US" i="1">
                            <a:effectLst/>
                            <a:ea typeface="Calibri" panose="020F0502020204030204" pitchFamily="34" charset="0"/>
                          </a:rPr>
                          <m:t> </m:t>
                        </m:r>
                      </m:sup>
                    </m:sSup>
                  </m:oMath>
                </a14:m>
                <a:r>
                  <a:rPr lang="en-US" dirty="0">
                    <a:effectLst/>
                    <a:ea typeface="Calibri" panose="020F0502020204030204" pitchFamily="34" charset="0"/>
                  </a:rPr>
                  <a:t>, the </a:t>
                </a:r>
                <a:r>
                  <a:rPr lang="en-US" dirty="0" err="1">
                    <a:effectLst/>
                    <a:ea typeface="Calibri" panose="020F0502020204030204" pitchFamily="34" charset="0"/>
                  </a:rPr>
                  <a:t>Lagrangian</a:t>
                </a:r>
                <a:r>
                  <a:rPr lang="en-US" dirty="0">
                    <a:effectLst/>
                    <a:ea typeface="Calibri" panose="020F0502020204030204" pitchFamily="34" charset="0"/>
                  </a:rPr>
                  <a:t> for this optimization is</a:t>
                </a:r>
              </a:p>
              <a:p>
                <a:pPr>
                  <a:spcAft>
                    <a:spcPts val="1200"/>
                  </a:spcAft>
                </a:pPr>
                <a14:m>
                  <m:oMathPara xmlns:m="http://schemas.openxmlformats.org/officeDocument/2006/math">
                    <m:oMathParaPr>
                      <m:jc m:val="centerGroup"/>
                    </m:oMathParaPr>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ℒ</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m:t>
                      </m:r>
                      <m:f>
                        <m:fPr>
                          <m:ctrlPr>
                            <a:rPr lang="en-US" i="1">
                              <a:effectLst/>
                              <a:latin typeface="Cambria Math" panose="02040503050406030204" pitchFamily="18" charset="0"/>
                              <a:ea typeface="Calibri" panose="020F0502020204030204" pitchFamily="34" charset="0"/>
                              <a:cs typeface="Calibri Light" panose="020F0302020204030204" pitchFamily="34" charset="0"/>
                            </a:rPr>
                          </m:ctrlPr>
                        </m:fPr>
                        <m:num>
                          <m:r>
                            <a:rPr lang="en-US">
                              <a:effectLst/>
                              <a:latin typeface="Cambria Math" panose="02040503050406030204" pitchFamily="18" charset="0"/>
                              <a:ea typeface="Calibri" panose="020F0502020204030204" pitchFamily="34" charset="0"/>
                              <a:cs typeface="Calibri Light" panose="020F0302020204030204" pitchFamily="34" charset="0"/>
                            </a:rPr>
                            <m:t>1</m:t>
                          </m:r>
                        </m:num>
                        <m:den>
                          <m:r>
                            <a:rPr lang="en-US">
                              <a:effectLst/>
                              <a:latin typeface="Cambria Math" panose="02040503050406030204" pitchFamily="18" charset="0"/>
                              <a:ea typeface="Calibri" panose="020F0502020204030204" pitchFamily="34" charset="0"/>
                              <a:cs typeface="Calibri Light" panose="020F0302020204030204" pitchFamily="34" charset="0"/>
                            </a:rPr>
                            <m:t>2</m:t>
                          </m:r>
                        </m:den>
                      </m:f>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p>
                          <m:r>
                            <a:rPr lang="en-US">
                              <a:effectLst/>
                              <a:latin typeface="Cambria Math" panose="02040503050406030204" pitchFamily="18" charset="0"/>
                              <a:ea typeface="Calibri" panose="020F0502020204030204" pitchFamily="34" charset="0"/>
                              <a:cs typeface="Calibri Light" panose="020F0302020204030204" pitchFamily="34" charset="0"/>
                            </a:rPr>
                            <m:t>⊤</m:t>
                          </m:r>
                        </m:sup>
                      </m:sSup>
                      <m:r>
                        <a:rPr lang="en-US" i="1">
                          <a:effectLst/>
                          <a:latin typeface="Cambria Math" panose="02040503050406030204" pitchFamily="18" charset="0"/>
                          <a:ea typeface="Calibri" panose="020F0502020204030204" pitchFamily="34" charset="0"/>
                          <a:cs typeface="Calibri Light" panose="020F0302020204030204" pitchFamily="34" charset="0"/>
                        </a:rPr>
                        <m:t>𝑊𝑥</m:t>
                      </m:r>
                      <m:r>
                        <a:rPr lang="en-US">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𝜃</m:t>
                          </m:r>
                        </m:e>
                        <m:sup>
                          <m:r>
                            <a:rPr lang="en-US">
                              <a:effectLst/>
                              <a:latin typeface="Cambria Math" panose="02040503050406030204" pitchFamily="18" charset="0"/>
                              <a:ea typeface="Calibri" panose="020F0502020204030204" pitchFamily="34" charset="0"/>
                              <a:cs typeface="Calibri Light" panose="020F0302020204030204" pitchFamily="34" charset="0"/>
                            </a:rPr>
                            <m:t>⊤</m:t>
                          </m:r>
                        </m:sup>
                      </m:sSup>
                      <m:r>
                        <a:rPr lang="en-US" i="1">
                          <a:effectLst/>
                          <a:latin typeface="Cambria Math" panose="02040503050406030204" pitchFamily="18" charset="0"/>
                          <a:ea typeface="Calibri" panose="020F0502020204030204" pitchFamily="34" charset="0"/>
                          <a:cs typeface="Calibri Light" panose="020F0302020204030204" pitchFamily="34" charset="0"/>
                        </a:rPr>
                        <m:t>𝑥</m:t>
                      </m:r>
                      <m:r>
                        <a:rPr lang="en-US" i="1">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𝜆</m:t>
                          </m:r>
                        </m:e>
                        <m:sup>
                          <m:r>
                            <a:rPr lang="en-US">
                              <a:effectLst/>
                              <a:latin typeface="Cambria Math" panose="02040503050406030204" pitchFamily="18" charset="0"/>
                              <a:ea typeface="Calibri" panose="020F0502020204030204" pitchFamily="34" charset="0"/>
                              <a:cs typeface="Calibri Light" panose="020F0302020204030204" pitchFamily="34" charset="0"/>
                            </a:rPr>
                            <m:t>⊤</m:t>
                          </m:r>
                        </m:sup>
                      </m:sSup>
                      <m:d>
                        <m:dPr>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r>
                            <a:rPr lang="en-US" i="1">
                              <a:effectLst/>
                              <a:latin typeface="Cambria Math" panose="02040503050406030204" pitchFamily="18" charset="0"/>
                              <a:ea typeface="Calibri" panose="020F0502020204030204" pitchFamily="34" charset="0"/>
                              <a:cs typeface="Calibri Light" panose="020F0302020204030204" pitchFamily="34" charset="0"/>
                            </a:rPr>
                            <m:t>𝑃𝑥</m:t>
                          </m:r>
                          <m:r>
                            <a:rPr lang="en-US" i="1">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p>
                              <m:r>
                                <a:rPr lang="en-US">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inc</m:t>
                              </m:r>
                              <m:r>
                                <a:rPr lang="en-US">
                                  <a:effectLst/>
                                  <a:latin typeface="Cambria Math" panose="02040503050406030204" pitchFamily="18" charset="0"/>
                                  <a:ea typeface="Calibri" panose="020F0502020204030204" pitchFamily="34" charset="0"/>
                                  <a:cs typeface="Calibri Light" panose="020F0302020204030204" pitchFamily="34" charset="0"/>
                                </a:rPr>
                                <m:t>)</m:t>
                              </m:r>
                            </m:sup>
                          </m:sSup>
                        </m:e>
                      </m:d>
                      <m:r>
                        <a:rPr lang="en-US">
                          <a:effectLst/>
                          <a:latin typeface="Cambria Math" panose="02040503050406030204" pitchFamily="18" charset="0"/>
                          <a:ea typeface="Calibri" panose="020F0502020204030204" pitchFamily="34" charset="0"/>
                          <a:cs typeface="Calibri Light" panose="020F0302020204030204" pitchFamily="34" charset="0"/>
                        </a:rPr>
                        <m:t>+</m:t>
                      </m:r>
                      <m:f>
                        <m:fPr>
                          <m:ctrlPr>
                            <a:rPr lang="en-US" i="1">
                              <a:effectLst/>
                              <a:latin typeface="Cambria Math" panose="02040503050406030204" pitchFamily="18" charset="0"/>
                              <a:ea typeface="Calibri" panose="020F0502020204030204" pitchFamily="34" charset="0"/>
                              <a:cs typeface="Calibri Light" panose="020F0302020204030204" pitchFamily="34" charset="0"/>
                            </a:rPr>
                          </m:ctrlPr>
                        </m:fPr>
                        <m:num>
                          <m:r>
                            <a:rPr lang="en-US" i="1">
                              <a:effectLst/>
                              <a:latin typeface="Cambria Math" panose="02040503050406030204" pitchFamily="18" charset="0"/>
                              <a:ea typeface="Calibri" panose="020F0502020204030204" pitchFamily="34" charset="0"/>
                              <a:cs typeface="Calibri Light" panose="020F0302020204030204" pitchFamily="34" charset="0"/>
                            </a:rPr>
                            <m:t>𝛾</m:t>
                          </m:r>
                        </m:num>
                        <m:den>
                          <m:r>
                            <a:rPr lang="en-US">
                              <a:effectLst/>
                              <a:latin typeface="Cambria Math" panose="02040503050406030204" pitchFamily="18" charset="0"/>
                              <a:ea typeface="Calibri" panose="020F0502020204030204" pitchFamily="34" charset="0"/>
                              <a:cs typeface="Calibri Light" panose="020F0302020204030204" pitchFamily="34" charset="0"/>
                            </a:rPr>
                            <m:t>2</m:t>
                          </m:r>
                        </m:den>
                      </m:f>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p>
                          <m:r>
                            <a:rPr lang="en-US">
                              <a:effectLst/>
                              <a:latin typeface="Cambria Math" panose="02040503050406030204" pitchFamily="18" charset="0"/>
                              <a:ea typeface="Calibri" panose="020F0502020204030204" pitchFamily="34" charset="0"/>
                              <a:cs typeface="Calibri Light" panose="020F0302020204030204" pitchFamily="34" charset="0"/>
                            </a:rPr>
                            <m:t>⊤</m:t>
                          </m:r>
                        </m:sup>
                      </m:sSup>
                      <m:r>
                        <a:rPr lang="en-US" i="1">
                          <a:effectLst/>
                          <a:latin typeface="Cambria Math" panose="02040503050406030204" pitchFamily="18" charset="0"/>
                          <a:ea typeface="Calibri" panose="020F0502020204030204" pitchFamily="34" charset="0"/>
                          <a:cs typeface="Calibri Light" panose="020F0302020204030204" pitchFamily="34" charset="0"/>
                        </a:rPr>
                        <m:t>𝑥</m:t>
                      </m:r>
                    </m:oMath>
                  </m:oMathPara>
                </a14:m>
                <a:endParaRPr lang="en-US" dirty="0">
                  <a:effectLst/>
                  <a:ea typeface="Calibri" panose="020F0502020204030204" pitchFamily="34" charset="0"/>
                </a:endParaRPr>
              </a:p>
              <a:p>
                <a:pPr>
                  <a:spcAft>
                    <a:spcPts val="1200"/>
                  </a:spcAft>
                </a:pPr>
                <a:r>
                  <a:rPr lang="en-US" dirty="0">
                    <a:effectLst/>
                    <a:ea typeface="Calibri" panose="020F0502020204030204" pitchFamily="34" charset="0"/>
                  </a:rPr>
                  <a:t>Using a Lagrange multiplier vector </a:t>
                </a:r>
                <a14:m>
                  <m:oMath xmlns:m="http://schemas.openxmlformats.org/officeDocument/2006/math">
                    <m:r>
                      <a:rPr lang="en-US" b="1" i="1">
                        <a:effectLst/>
                        <a:latin typeface="Cambria Math" panose="02040503050406030204" pitchFamily="18" charset="0"/>
                        <a:ea typeface="Calibri" panose="020F0502020204030204" pitchFamily="34" charset="0"/>
                        <a:cs typeface="Calibri Light" panose="020F0302020204030204" pitchFamily="34" charset="0"/>
                      </a:rPr>
                      <m:t>𝝀</m:t>
                    </m:r>
                    <m:r>
                      <a:rPr lang="en-US">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ℝ</m:t>
                        </m:r>
                      </m:e>
                      <m:sup>
                        <m:r>
                          <a:rPr lang="en-US" i="1">
                            <a:effectLst/>
                            <a:latin typeface="Cambria Math" panose="02040503050406030204" pitchFamily="18" charset="0"/>
                            <a:ea typeface="Calibri" panose="020F0502020204030204" pitchFamily="34" charset="0"/>
                            <a:cs typeface="Calibri Light" panose="020F0302020204030204" pitchFamily="34" charset="0"/>
                          </a:rPr>
                          <m:t>𝑑</m:t>
                        </m:r>
                      </m:sup>
                    </m:sSup>
                  </m:oMath>
                </a14:m>
                <a:r>
                  <a:rPr lang="en-US" dirty="0">
                    <a:effectLst/>
                    <a:ea typeface="Calibri" panose="020F0502020204030204" pitchFamily="34" charset="0"/>
                  </a:rPr>
                  <a:t> and a fixed regularization parameter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𝛾</m:t>
                    </m:r>
                    <m:r>
                      <a:rPr lang="en-US">
                        <a:effectLst/>
                        <a:latin typeface="Cambria Math" panose="02040503050406030204" pitchFamily="18" charset="0"/>
                        <a:ea typeface="Calibri" panose="020F0502020204030204" pitchFamily="34" charset="0"/>
                        <a:cs typeface="Calibri Light" panose="020F0302020204030204" pitchFamily="34" charset="0"/>
                      </a:rPr>
                      <m:t>≥1 </m:t>
                    </m:r>
                    <m:r>
                      <a:rPr lang="it-IT" b="0" i="0" smtClean="0">
                        <a:effectLst/>
                        <a:latin typeface="Cambria Math" panose="02040503050406030204" pitchFamily="18" charset="0"/>
                        <a:ea typeface="Calibri" panose="020F0502020204030204" pitchFamily="34" charset="0"/>
                        <a:cs typeface="Calibri Light" panose="020F0302020204030204" pitchFamily="34" charset="0"/>
                      </a:rPr>
                      <m:t>.</m:t>
                    </m:r>
                  </m:oMath>
                </a14:m>
                <a:r>
                  <a:rPr lang="en-US" dirty="0">
                    <a:effectLst/>
                    <a:ea typeface="Calibri" panose="020F0502020204030204" pitchFamily="34" charset="0"/>
                  </a:rPr>
                  <a:t>The </a:t>
                </a:r>
                <a:r>
                  <a:rPr lang="en-US" dirty="0" err="1">
                    <a:effectLst/>
                    <a:ea typeface="Calibri" panose="020F0502020204030204" pitchFamily="34" charset="0"/>
                  </a:rPr>
                  <a:t>firstorder</a:t>
                </a:r>
                <a:r>
                  <a:rPr lang="en-US" dirty="0">
                    <a:effectLst/>
                    <a:ea typeface="Calibri" panose="020F0502020204030204" pitchFamily="34" charset="0"/>
                  </a:rPr>
                  <a:t> derivative conditions for optimization are evaluated as</a:t>
                </a:r>
              </a:p>
              <a:p>
                <a:pPr>
                  <a:spcAft>
                    <a:spcPts val="1200"/>
                  </a:spcAft>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i="1">
                              <a:effectLst/>
                              <a:latin typeface="Cambria Math" panose="02040503050406030204" pitchFamily="18" charset="0"/>
                              <a:ea typeface="Calibri" panose="020F0502020204030204" pitchFamily="34" charset="0"/>
                              <a:cs typeface="Calibri Light" panose="020F0302020204030204" pitchFamily="34" charset="0"/>
                            </a:rPr>
                          </m:ctrlPr>
                        </m:mPr>
                        <m:mr>
                          <m:e/>
                          <m:e>
                            <m:f>
                              <m:fPr>
                                <m:ctrlPr>
                                  <a:rPr lang="en-US" i="1">
                                    <a:effectLst/>
                                    <a:latin typeface="Cambria Math" panose="02040503050406030204" pitchFamily="18" charset="0"/>
                                    <a:ea typeface="Calibri" panose="020F0502020204030204" pitchFamily="34" charset="0"/>
                                    <a:cs typeface="Calibri Light" panose="020F0302020204030204" pitchFamily="34" charset="0"/>
                                  </a:rPr>
                                </m:ctrlPr>
                              </m:fPr>
                              <m:num>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ℒ</m:t>
                                </m:r>
                              </m:num>
                              <m:den>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𝑥</m:t>
                                </m:r>
                              </m:den>
                            </m:f>
                            <m:r>
                              <a:rPr lang="en-US">
                                <a:effectLst/>
                                <a:latin typeface="Cambria Math" panose="02040503050406030204" pitchFamily="18" charset="0"/>
                                <a:ea typeface="Calibri" panose="020F0502020204030204" pitchFamily="34" charset="0"/>
                                <a:cs typeface="Calibri Light" panose="020F0302020204030204" pitchFamily="34" charset="0"/>
                              </a:rPr>
                              <m:t>=</m:t>
                            </m:r>
                            <m:d>
                              <m:dPr>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r>
                                  <a:rPr lang="en-US" i="1">
                                    <a:effectLst/>
                                    <a:latin typeface="Cambria Math" panose="02040503050406030204" pitchFamily="18" charset="0"/>
                                    <a:ea typeface="Calibri" panose="020F0502020204030204" pitchFamily="34" charset="0"/>
                                    <a:cs typeface="Calibri Light" panose="020F0302020204030204" pitchFamily="34" charset="0"/>
                                  </a:rPr>
                                  <m:t>𝛾</m:t>
                                </m:r>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I</m:t>
                                    </m:r>
                                  </m:e>
                                  <m:sub>
                                    <m:r>
                                      <a:rPr lang="en-US" i="1">
                                        <a:effectLst/>
                                        <a:latin typeface="Cambria Math" panose="02040503050406030204" pitchFamily="18" charset="0"/>
                                        <a:ea typeface="Calibri" panose="020F0502020204030204" pitchFamily="34" charset="0"/>
                                        <a:cs typeface="Calibri Light" panose="020F0302020204030204" pitchFamily="34" charset="0"/>
                                      </a:rPr>
                                      <m:t>𝑑</m:t>
                                    </m:r>
                                  </m:sub>
                                </m:sSub>
                                <m:r>
                                  <a:rPr lang="en-US" i="1">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𝑊</m:t>
                                </m:r>
                              </m:e>
                            </m:d>
                            <m:r>
                              <a:rPr lang="en-US" i="1">
                                <a:effectLst/>
                                <a:latin typeface="Cambria Math" panose="02040503050406030204" pitchFamily="18" charset="0"/>
                                <a:ea typeface="Calibri" panose="020F0502020204030204" pitchFamily="34" charset="0"/>
                                <a:cs typeface="Calibri Light" panose="020F0302020204030204" pitchFamily="34" charset="0"/>
                              </a:rPr>
                              <m:t>𝑥</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𝜃</m:t>
                            </m:r>
                            <m:r>
                              <a:rPr lang="en-US" i="1">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𝑃</m:t>
                            </m:r>
                            <m:r>
                              <a:rPr lang="en-US" i="1">
                                <a:effectLst/>
                                <a:latin typeface="Cambria Math" panose="02040503050406030204" pitchFamily="18" charset="0"/>
                                <a:ea typeface="Calibri" panose="020F0502020204030204" pitchFamily="34" charset="0"/>
                                <a:cs typeface="Calibri Light" panose="020F0302020204030204" pitchFamily="34" charset="0"/>
                              </a:rPr>
                              <m:t>𝜆</m:t>
                            </m:r>
                            <m:limUpp>
                              <m:limUppPr>
                                <m:ctrlPr>
                                  <a:rPr lang="en-US" i="1">
                                    <a:effectLst/>
                                    <a:latin typeface="Cambria Math" panose="02040503050406030204" pitchFamily="18" charset="0"/>
                                    <a:ea typeface="Calibri" panose="020F0502020204030204" pitchFamily="34" charset="0"/>
                                    <a:cs typeface="Calibri Light" panose="020F0302020204030204" pitchFamily="34" charset="0"/>
                                  </a:rPr>
                                </m:ctrlPr>
                              </m:limUppPr>
                              <m:e>
                                <m:r>
                                  <a:rPr lang="en-US">
                                    <a:effectLst/>
                                    <a:latin typeface="Cambria Math" panose="02040503050406030204" pitchFamily="18" charset="0"/>
                                    <a:ea typeface="Calibri" panose="020F0502020204030204" pitchFamily="34" charset="0"/>
                                    <a:cs typeface="Calibri Light" panose="020F0302020204030204" pitchFamily="34" charset="0"/>
                                  </a:rPr>
                                  <m:t>=</m:t>
                                </m:r>
                              </m:e>
                              <m:lim>
                                <m:r>
                                  <a:rPr lang="en-US">
                                    <a:effectLst/>
                                    <a:latin typeface="Cambria Math" panose="02040503050406030204" pitchFamily="18" charset="0"/>
                                    <a:ea typeface="Calibri" panose="020F0502020204030204" pitchFamily="34" charset="0"/>
                                    <a:cs typeface="Calibri Light" panose="020F0302020204030204" pitchFamily="34" charset="0"/>
                                  </a:rPr>
                                  <m:t>!</m:t>
                                </m:r>
                              </m:lim>
                            </m:limUpp>
                            <m:r>
                              <a:rPr lang="en-US">
                                <a:effectLst/>
                                <a:latin typeface="Cambria Math" panose="02040503050406030204" pitchFamily="18" charset="0"/>
                                <a:ea typeface="Calibri" panose="020F0502020204030204" pitchFamily="34" charset="0"/>
                                <a:cs typeface="Calibri Light" panose="020F0302020204030204" pitchFamily="34" charset="0"/>
                              </a:rPr>
                              <m:t>0,</m:t>
                            </m:r>
                          </m:e>
                        </m:mr>
                        <m:mr>
                          <m:e/>
                          <m:e>
                            <m:f>
                              <m:fPr>
                                <m:ctrlPr>
                                  <a:rPr lang="en-US" i="1">
                                    <a:effectLst/>
                                    <a:latin typeface="Cambria Math" panose="02040503050406030204" pitchFamily="18" charset="0"/>
                                    <a:ea typeface="Calibri" panose="020F0502020204030204" pitchFamily="34" charset="0"/>
                                    <a:cs typeface="Calibri Light" panose="020F0302020204030204" pitchFamily="34" charset="0"/>
                                  </a:rPr>
                                </m:ctrlPr>
                              </m:fPr>
                              <m:num>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ℒ</m:t>
                                </m:r>
                              </m:num>
                              <m:den>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𝜆</m:t>
                                </m:r>
                              </m:den>
                            </m:f>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𝑃𝑥</m:t>
                            </m:r>
                            <m:r>
                              <a:rPr lang="en-US">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p>
                                <m:r>
                                  <a:rPr lang="en-US">
                                    <a:effectLst/>
                                    <a:latin typeface="Cambria Math" panose="02040503050406030204" pitchFamily="18" charset="0"/>
                                    <a:ea typeface="Calibri" panose="020F0502020204030204" pitchFamily="34" charset="0"/>
                                    <a:cs typeface="Calibri Light" panose="020F0302020204030204" pitchFamily="34" charset="0"/>
                                  </a:rPr>
                                  <m:t>(</m:t>
                                </m:r>
                                <m:r>
                                  <m:rPr>
                                    <m:nor/>
                                  </m:rPr>
                                  <a:rPr lang="en-US">
                                    <a:effectLst/>
                                    <a:ea typeface="Calibri" panose="020F0502020204030204" pitchFamily="34" charset="0"/>
                                  </a:rPr>
                                  <m:t>inc</m:t>
                                </m:r>
                                <m:r>
                                  <m:rPr>
                                    <m:nor/>
                                  </m:rPr>
                                  <a:rPr lang="en-US" i="1">
                                    <a:effectLst/>
                                    <a:ea typeface="Calibri" panose="020F0502020204030204" pitchFamily="34" charset="0"/>
                                  </a:rPr>
                                  <m:t> </m:t>
                                </m:r>
                                <m:r>
                                  <a:rPr lang="en-US">
                                    <a:effectLst/>
                                    <a:latin typeface="Cambria Math" panose="02040503050406030204" pitchFamily="18" charset="0"/>
                                    <a:ea typeface="Calibri" panose="020F0502020204030204" pitchFamily="34" charset="0"/>
                                    <a:cs typeface="Calibri Light" panose="020F0302020204030204" pitchFamily="34" charset="0"/>
                                  </a:rPr>
                                  <m:t>)</m:t>
                                </m:r>
                              </m:sup>
                            </m:sSup>
                            <m:limUpp>
                              <m:limUppPr>
                                <m:ctrlPr>
                                  <a:rPr lang="en-US" i="1">
                                    <a:effectLst/>
                                    <a:latin typeface="Cambria Math" panose="02040503050406030204" pitchFamily="18" charset="0"/>
                                    <a:ea typeface="Calibri" panose="020F0502020204030204" pitchFamily="34" charset="0"/>
                                    <a:cs typeface="Calibri Light" panose="020F0302020204030204" pitchFamily="34" charset="0"/>
                                  </a:rPr>
                                </m:ctrlPr>
                              </m:limUppPr>
                              <m:e>
                                <m:r>
                                  <a:rPr lang="en-US">
                                    <a:effectLst/>
                                    <a:latin typeface="Cambria Math" panose="02040503050406030204" pitchFamily="18" charset="0"/>
                                    <a:ea typeface="Calibri" panose="020F0502020204030204" pitchFamily="34" charset="0"/>
                                    <a:cs typeface="Calibri Light" panose="020F0302020204030204" pitchFamily="34" charset="0"/>
                                  </a:rPr>
                                  <m:t>=</m:t>
                                </m:r>
                              </m:e>
                              <m:lim>
                                <m:r>
                                  <a:rPr lang="en-US">
                                    <a:effectLst/>
                                    <a:latin typeface="Cambria Math" panose="02040503050406030204" pitchFamily="18" charset="0"/>
                                    <a:ea typeface="Calibri" panose="020F0502020204030204" pitchFamily="34" charset="0"/>
                                    <a:cs typeface="Calibri Light" panose="020F0302020204030204" pitchFamily="34" charset="0"/>
                                  </a:rPr>
                                  <m:t>!</m:t>
                                </m:r>
                              </m:lim>
                            </m:limUpp>
                            <m:r>
                              <a:rPr lang="en-US">
                                <a:effectLst/>
                                <a:latin typeface="Cambria Math" panose="02040503050406030204" pitchFamily="18" charset="0"/>
                                <a:ea typeface="Calibri" panose="020F0502020204030204" pitchFamily="34" charset="0"/>
                                <a:cs typeface="Calibri Light" panose="020F0302020204030204" pitchFamily="34" charset="0"/>
                              </a:rPr>
                              <m:t>0.</m:t>
                            </m:r>
                          </m:e>
                        </m:mr>
                      </m:m>
                    </m:oMath>
                  </m:oMathPara>
                </a14:m>
                <a:endParaRPr lang="en-US" dirty="0">
                  <a:effectLst/>
                  <a:ea typeface="Calibri" panose="020F0502020204030204" pitchFamily="34" charset="0"/>
                </a:endParaRPr>
              </a:p>
              <a:p>
                <a:pPr>
                  <a:spcAft>
                    <a:spcPts val="1200"/>
                  </a:spcAft>
                </a:pPr>
                <a:r>
                  <a:rPr lang="en-US" dirty="0">
                    <a:effectLst/>
                    <a:ea typeface="Calibri" panose="020F0502020204030204" pitchFamily="34" charset="0"/>
                  </a:rPr>
                  <a:t>Or equivalently</a:t>
                </a:r>
              </a:p>
              <a:p>
                <a:pPr>
                  <a:spcAft>
                    <a:spcPts val="1200"/>
                  </a:spcAft>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i="1">
                              <a:effectLst/>
                              <a:latin typeface="Cambria Math" panose="02040503050406030204" pitchFamily="18" charset="0"/>
                              <a:ea typeface="Calibri" panose="020F0502020204030204" pitchFamily="34" charset="0"/>
                              <a:cs typeface="Calibri Light" panose="020F0302020204030204" pitchFamily="34" charset="0"/>
                            </a:rPr>
                          </m:ctrlPr>
                        </m:mPr>
                        <m:mr>
                          <m:e>
                            <m:r>
                              <a:rPr lang="en-US" i="1">
                                <a:effectLst/>
                                <a:latin typeface="Cambria Math" panose="02040503050406030204" pitchFamily="18" charset="0"/>
                                <a:ea typeface="Calibri" panose="020F0502020204030204" pitchFamily="34" charset="0"/>
                                <a:cs typeface="Calibri Light" panose="020F0302020204030204" pitchFamily="34" charset="0"/>
                              </a:rPr>
                              <m:t>𝐴</m:t>
                            </m:r>
                          </m:e>
                          <m:e>
                            <m:r>
                              <a:rPr lang="en-US" i="1">
                                <a:effectLst/>
                                <a:latin typeface="Cambria Math" panose="02040503050406030204" pitchFamily="18" charset="0"/>
                                <a:ea typeface="Calibri" panose="020F0502020204030204" pitchFamily="34" charset="0"/>
                                <a:cs typeface="Calibri Light" panose="020F0302020204030204" pitchFamily="34" charset="0"/>
                              </a:rPr>
                              <m:t> </m:t>
                            </m:r>
                            <m:r>
                              <a:rPr lang="en-US">
                                <a:effectLst/>
                                <a:latin typeface="Cambria Math" panose="02040503050406030204" pitchFamily="18" charset="0"/>
                                <a:ea typeface="Calibri" panose="020F0502020204030204" pitchFamily="34" charset="0"/>
                                <a:cs typeface="Calibri Light" panose="020F0302020204030204" pitchFamily="34" charset="0"/>
                              </a:rPr>
                              <m:t>:=</m:t>
                            </m:r>
                            <m:d>
                              <m:dPr>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m>
                                  <m:mPr>
                                    <m:plcHide m:val="on"/>
                                    <m:mcs>
                                      <m:mc>
                                        <m:mcPr>
                                          <m:count m:val="2"/>
                                          <m:mcJc m:val="center"/>
                                        </m:mcPr>
                                      </m:mc>
                                    </m:mcs>
                                    <m:ctrlPr>
                                      <a:rPr lang="en-US" i="1">
                                        <a:effectLst/>
                                        <a:latin typeface="Cambria Math" panose="02040503050406030204" pitchFamily="18" charset="0"/>
                                        <a:ea typeface="Calibri" panose="020F0502020204030204" pitchFamily="34" charset="0"/>
                                        <a:cs typeface="Calibri Light" panose="020F0302020204030204" pitchFamily="34" charset="0"/>
                                      </a:rPr>
                                    </m:ctrlPr>
                                  </m:mPr>
                                  <m:mr>
                                    <m:e>
                                      <m:r>
                                        <a:rPr lang="en-US" i="1">
                                          <a:effectLst/>
                                          <a:latin typeface="Cambria Math" panose="02040503050406030204" pitchFamily="18" charset="0"/>
                                          <a:ea typeface="Calibri" panose="020F0502020204030204" pitchFamily="34" charset="0"/>
                                          <a:cs typeface="Calibri Light" panose="020F0302020204030204" pitchFamily="34" charset="0"/>
                                        </a:rPr>
                                        <m:t>𝑊</m:t>
                                      </m:r>
                                      <m:r>
                                        <a:rPr lang="en-US" i="1">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𝛾</m:t>
                                      </m:r>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𝐼</m:t>
                                          </m:r>
                                        </m:e>
                                        <m:sub>
                                          <m:r>
                                            <a:rPr lang="en-US" i="1">
                                              <a:effectLst/>
                                              <a:latin typeface="Cambria Math" panose="02040503050406030204" pitchFamily="18" charset="0"/>
                                              <a:ea typeface="Calibri" panose="020F0502020204030204" pitchFamily="34" charset="0"/>
                                              <a:cs typeface="Calibri Light" panose="020F0302020204030204" pitchFamily="34" charset="0"/>
                                            </a:rPr>
                                            <m:t>𝑑</m:t>
                                          </m:r>
                                        </m:sub>
                                      </m:sSub>
                                    </m:e>
                                    <m:e>
                                      <m:r>
                                        <a:rPr lang="en-US" i="1">
                                          <a:effectLst/>
                                          <a:latin typeface="Cambria Math" panose="02040503050406030204" pitchFamily="18" charset="0"/>
                                          <a:ea typeface="Calibri" panose="020F0502020204030204" pitchFamily="34" charset="0"/>
                                          <a:cs typeface="Calibri Light" panose="020F0302020204030204" pitchFamily="34" charset="0"/>
                                        </a:rPr>
                                        <m:t>𝑃</m:t>
                                      </m:r>
                                    </m:e>
                                  </m:mr>
                                  <m:mr>
                                    <m:e>
                                      <m:r>
                                        <a:rPr lang="en-US" i="1">
                                          <a:effectLst/>
                                          <a:latin typeface="Cambria Math" panose="02040503050406030204" pitchFamily="18" charset="0"/>
                                          <a:ea typeface="Calibri" panose="020F0502020204030204" pitchFamily="34" charset="0"/>
                                          <a:cs typeface="Calibri Light" panose="020F0302020204030204" pitchFamily="34" charset="0"/>
                                        </a:rPr>
                                        <m:t>𝑃</m:t>
                                      </m:r>
                                    </m:e>
                                    <m:e>
                                      <m:r>
                                        <a:rPr lang="en-US">
                                          <a:effectLst/>
                                          <a:latin typeface="Cambria Math" panose="02040503050406030204" pitchFamily="18" charset="0"/>
                                          <a:ea typeface="Calibri" panose="020F0502020204030204" pitchFamily="34" charset="0"/>
                                          <a:cs typeface="Calibri Light" panose="020F0302020204030204" pitchFamily="34" charset="0"/>
                                        </a:rPr>
                                        <m:t>0</m:t>
                                      </m:r>
                                    </m:e>
                                  </m:mr>
                                </m:m>
                              </m:e>
                            </m:d>
                          </m:e>
                        </m:mr>
                        <m:mr>
                          <m:e>
                            <m:r>
                              <a:rPr lang="en-US" i="1">
                                <a:effectLst/>
                                <a:latin typeface="Cambria Math" panose="02040503050406030204" pitchFamily="18" charset="0"/>
                                <a:ea typeface="Calibri" panose="020F0502020204030204" pitchFamily="34" charset="0"/>
                                <a:cs typeface="Calibri Light" panose="020F0302020204030204" pitchFamily="34" charset="0"/>
                              </a:rPr>
                              <m:t>𝑣</m:t>
                            </m:r>
                          </m:e>
                          <m:e>
                            <m:r>
                              <a:rPr lang="en-US" i="1">
                                <a:effectLst/>
                                <a:latin typeface="Cambria Math" panose="02040503050406030204" pitchFamily="18" charset="0"/>
                                <a:ea typeface="Calibri" panose="020F0502020204030204" pitchFamily="34" charset="0"/>
                                <a:cs typeface="Calibri Light" panose="020F0302020204030204" pitchFamily="34" charset="0"/>
                              </a:rPr>
                              <m:t> </m:t>
                            </m:r>
                            <m:r>
                              <a:rPr lang="en-US">
                                <a:effectLst/>
                                <a:latin typeface="Cambria Math" panose="02040503050406030204" pitchFamily="18" charset="0"/>
                                <a:ea typeface="Calibri" panose="020F0502020204030204" pitchFamily="34" charset="0"/>
                                <a:cs typeface="Calibri Light" panose="020F0302020204030204" pitchFamily="34" charset="0"/>
                              </a:rPr>
                              <m:t>:=</m:t>
                            </m:r>
                            <m:d>
                              <m:dPr>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m>
                                  <m:mPr>
                                    <m:plcHide m:val="on"/>
                                    <m:mcs>
                                      <m:mc>
                                        <m:mcPr>
                                          <m:count m:val="1"/>
                                          <m:mcJc m:val="center"/>
                                        </m:mcPr>
                                      </m:mc>
                                    </m:mcs>
                                    <m:ctrlPr>
                                      <a:rPr lang="en-US" i="1">
                                        <a:effectLst/>
                                        <a:latin typeface="Cambria Math" panose="02040503050406030204" pitchFamily="18" charset="0"/>
                                        <a:ea typeface="Calibri" panose="020F0502020204030204" pitchFamily="34" charset="0"/>
                                        <a:cs typeface="Calibri Light" panose="020F0302020204030204" pitchFamily="34" charset="0"/>
                                      </a:rPr>
                                    </m:ctrlPr>
                                  </m:mPr>
                                  <m:mr>
                                    <m:e>
                                      <m:r>
                                        <a:rPr lang="en-US" b="1" i="1">
                                          <a:effectLst/>
                                          <a:latin typeface="Cambria Math" panose="02040503050406030204" pitchFamily="18" charset="0"/>
                                          <a:ea typeface="Calibri" panose="020F0502020204030204" pitchFamily="34" charset="0"/>
                                          <a:cs typeface="Calibri Light" panose="020F0302020204030204" pitchFamily="34" charset="0"/>
                                        </a:rPr>
                                        <m:t>𝒙</m:t>
                                      </m:r>
                                    </m:e>
                                  </m:mr>
                                  <m:mr>
                                    <m:e>
                                      <m:r>
                                        <a:rPr lang="en-US" b="1" i="1">
                                          <a:effectLst/>
                                          <a:latin typeface="Cambria Math" panose="02040503050406030204" pitchFamily="18" charset="0"/>
                                          <a:ea typeface="Calibri" panose="020F0502020204030204" pitchFamily="34" charset="0"/>
                                          <a:cs typeface="Calibri Light" panose="020F0302020204030204" pitchFamily="34" charset="0"/>
                                        </a:rPr>
                                        <m:t>𝝀</m:t>
                                      </m:r>
                                    </m:e>
                                  </m:mr>
                                </m:m>
                              </m:e>
                            </m:d>
                            <m:r>
                              <a:rPr lang="en-US">
                                <a:effectLst/>
                                <a:latin typeface="Cambria Math" panose="02040503050406030204" pitchFamily="18" charset="0"/>
                                <a:ea typeface="Calibri" panose="020F0502020204030204" pitchFamily="34" charset="0"/>
                                <a:cs typeface="Calibri Light" panose="020F0302020204030204" pitchFamily="34" charset="0"/>
                              </a:rPr>
                              <m:t>,</m:t>
                            </m:r>
                            <m:box>
                              <m:boxPr>
                                <m:ctrlPr>
                                  <a:rPr lang="en-US" i="1">
                                    <a:effectLst/>
                                    <a:latin typeface="Cambria Math" panose="02040503050406030204" pitchFamily="18" charset="0"/>
                                    <a:ea typeface="Calibri" panose="020F0502020204030204" pitchFamily="34" charset="0"/>
                                    <a:cs typeface="Calibri Light" panose="020F0302020204030204" pitchFamily="34" charset="0"/>
                                  </a:rPr>
                                </m:ctrlPr>
                              </m:boxPr>
                              <m:e>
                                <m:r>
                                  <a:rPr lang="en-US">
                                    <a:effectLst/>
                                    <a:latin typeface="Cambria Math" panose="02040503050406030204" pitchFamily="18" charset="0"/>
                                    <a:ea typeface="Calibri" panose="020F0502020204030204" pitchFamily="34" charset="0"/>
                                    <a:cs typeface="Calibri Light" panose="020F0302020204030204" pitchFamily="34" charset="0"/>
                                  </a:rPr>
                                  <m:t> </m:t>
                                </m:r>
                              </m:e>
                            </m:box>
                            <m:r>
                              <a:rPr lang="en-US" i="1">
                                <a:effectLst/>
                                <a:latin typeface="Cambria Math" panose="02040503050406030204" pitchFamily="18" charset="0"/>
                                <a:ea typeface="Calibri" panose="020F0502020204030204" pitchFamily="34" charset="0"/>
                                <a:cs typeface="Calibri Light" panose="020F0302020204030204" pitchFamily="34" charset="0"/>
                              </a:rPr>
                              <m:t>𝑤</m:t>
                            </m:r>
                            <m:r>
                              <a:rPr lang="en-US">
                                <a:effectLst/>
                                <a:latin typeface="Cambria Math" panose="02040503050406030204" pitchFamily="18" charset="0"/>
                                <a:ea typeface="Calibri" panose="020F0502020204030204" pitchFamily="34" charset="0"/>
                                <a:cs typeface="Calibri Light" panose="020F0302020204030204" pitchFamily="34" charset="0"/>
                              </a:rPr>
                              <m:t>:=</m:t>
                            </m:r>
                            <m:d>
                              <m:dPr>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m>
                                  <m:mPr>
                                    <m:plcHide m:val="on"/>
                                    <m:mcs>
                                      <m:mc>
                                        <m:mcPr>
                                          <m:count m:val="1"/>
                                          <m:mcJc m:val="center"/>
                                        </m:mcPr>
                                      </m:mc>
                                    </m:mcs>
                                    <m:ctrlPr>
                                      <a:rPr lang="en-US" i="1">
                                        <a:effectLst/>
                                        <a:latin typeface="Cambria Math" panose="02040503050406030204" pitchFamily="18" charset="0"/>
                                        <a:ea typeface="Calibri" panose="020F0502020204030204" pitchFamily="34" charset="0"/>
                                        <a:cs typeface="Calibri Light" panose="020F0302020204030204" pitchFamily="34" charset="0"/>
                                      </a:rPr>
                                    </m:ctrlPr>
                                  </m:mPr>
                                  <m:mr>
                                    <m:e>
                                      <m:r>
                                        <a:rPr lang="en-US" i="1">
                                          <a:effectLst/>
                                          <a:latin typeface="Cambria Math" panose="02040503050406030204" pitchFamily="18" charset="0"/>
                                          <a:ea typeface="Calibri" panose="020F0502020204030204" pitchFamily="34" charset="0"/>
                                          <a:cs typeface="Calibri Light" panose="020F0302020204030204" pitchFamily="34" charset="0"/>
                                        </a:rPr>
                                        <m:t>𝜃</m:t>
                                      </m:r>
                                    </m:e>
                                  </m:mr>
                                  <m:mr>
                                    <m:e>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b="1" i="1">
                                              <a:effectLst/>
                                              <a:latin typeface="Cambria Math" panose="02040503050406030204" pitchFamily="18" charset="0"/>
                                              <a:ea typeface="Calibri" panose="020F0502020204030204" pitchFamily="34" charset="0"/>
                                              <a:cs typeface="Calibri Light" panose="020F0302020204030204" pitchFamily="34" charset="0"/>
                                            </a:rPr>
                                            <m:t>𝒙</m:t>
                                          </m:r>
                                        </m:e>
                                        <m:sup>
                                          <m:r>
                                            <a:rPr lang="en-US">
                                              <a:effectLst/>
                                              <a:latin typeface="Cambria Math" panose="02040503050406030204" pitchFamily="18" charset="0"/>
                                              <a:ea typeface="Calibri" panose="020F0502020204030204" pitchFamily="34" charset="0"/>
                                              <a:cs typeface="Calibri Light" panose="020F0302020204030204" pitchFamily="34" charset="0"/>
                                            </a:rPr>
                                            <m:t>(</m:t>
                                          </m:r>
                                          <m:r>
                                            <m:rPr>
                                              <m:nor/>
                                            </m:rPr>
                                            <a:rPr lang="en-US">
                                              <a:effectLst/>
                                              <a:ea typeface="Calibri" panose="020F0502020204030204" pitchFamily="34" charset="0"/>
                                            </a:rPr>
                                            <m:t>inc</m:t>
                                          </m:r>
                                          <m:r>
                                            <m:rPr>
                                              <m:nor/>
                                            </m:rPr>
                                            <a:rPr lang="en-US" i="1">
                                              <a:effectLst/>
                                              <a:ea typeface="Calibri" panose="020F0502020204030204" pitchFamily="34" charset="0"/>
                                            </a:rPr>
                                            <m:t> </m:t>
                                          </m:r>
                                          <m:r>
                                            <a:rPr lang="en-US">
                                              <a:effectLst/>
                                              <a:latin typeface="Cambria Math" panose="02040503050406030204" pitchFamily="18" charset="0"/>
                                              <a:ea typeface="Calibri" panose="020F0502020204030204" pitchFamily="34" charset="0"/>
                                              <a:cs typeface="Calibri Light" panose="020F0302020204030204" pitchFamily="34" charset="0"/>
                                            </a:rPr>
                                            <m:t>)</m:t>
                                          </m:r>
                                        </m:sup>
                                      </m:sSup>
                                    </m:e>
                                  </m:mr>
                                </m:m>
                              </m:e>
                            </m:d>
                          </m:e>
                        </m:mr>
                      </m:m>
                    </m:oMath>
                  </m:oMathPara>
                </a14:m>
                <a:endParaRPr lang="en-US" dirty="0">
                  <a:effectLst/>
                  <a:ea typeface="Calibri" panose="020F0502020204030204" pitchFamily="34" charset="0"/>
                </a:endParaRPr>
              </a:p>
            </p:txBody>
          </p:sp>
        </mc:Choice>
        <mc:Fallback xmlns="">
          <p:sp>
            <p:nvSpPr>
              <p:cNvPr id="6" name="CasellaDiTesto 5">
                <a:extLst>
                  <a:ext uri="{FF2B5EF4-FFF2-40B4-BE49-F238E27FC236}">
                    <a16:creationId xmlns:a16="http://schemas.microsoft.com/office/drawing/2014/main" id="{4ADF3BF0-4456-4588-B098-0EBC058E4A5B}"/>
                  </a:ext>
                </a:extLst>
              </p:cNvPr>
              <p:cNvSpPr txBox="1">
                <a:spLocks noRot="1" noChangeAspect="1" noMove="1" noResize="1" noEditPoints="1" noAdjustHandles="1" noChangeArrowheads="1" noChangeShapeType="1" noTextEdit="1"/>
              </p:cNvSpPr>
              <p:nvPr/>
            </p:nvSpPr>
            <p:spPr>
              <a:xfrm>
                <a:off x="111967" y="769441"/>
                <a:ext cx="12192000" cy="6205801"/>
              </a:xfrm>
              <a:prstGeom prst="rect">
                <a:avLst/>
              </a:prstGeom>
              <a:blipFill>
                <a:blip r:embed="rId2"/>
                <a:stretch>
                  <a:fillRect l="-400" t="-491"/>
                </a:stretch>
              </a:blipFill>
            </p:spPr>
            <p:txBody>
              <a:bodyPr/>
              <a:lstStyle/>
              <a:p>
                <a:r>
                  <a:rPr lang="en-US">
                    <a:noFill/>
                  </a:rPr>
                  <a:t> </a:t>
                </a:r>
              </a:p>
            </p:txBody>
          </p:sp>
        </mc:Fallback>
      </mc:AlternateContent>
    </p:spTree>
    <p:extLst>
      <p:ext uri="{BB962C8B-B14F-4D97-AF65-F5344CB8AC3E}">
        <p14:creationId xmlns:p14="http://schemas.microsoft.com/office/powerpoint/2010/main" val="9904243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140200C7-774F-4A54-A299-E1002AEF3149}"/>
              </a:ext>
            </a:extLst>
          </p:cNvPr>
          <p:cNvSpPr txBox="1"/>
          <p:nvPr/>
        </p:nvSpPr>
        <p:spPr>
          <a:xfrm>
            <a:off x="4326144" y="0"/>
            <a:ext cx="8190271" cy="769441"/>
          </a:xfrm>
          <a:prstGeom prst="rect">
            <a:avLst/>
          </a:prstGeom>
          <a:noFill/>
        </p:spPr>
        <p:txBody>
          <a:bodyPr wrap="square" rtlCol="0">
            <a:spAutoFit/>
          </a:bodyPr>
          <a:lstStyle/>
          <a:p>
            <a:r>
              <a:rPr lang="it-IT" sz="4400" dirty="0">
                <a:solidFill>
                  <a:schemeClr val="accent1">
                    <a:lumMod val="50000"/>
                  </a:schemeClr>
                </a:solidFill>
                <a:latin typeface="+mj-lt"/>
              </a:rPr>
              <a:t>Learning Rules</a:t>
            </a:r>
            <a:endParaRPr lang="en-US" sz="4400" dirty="0">
              <a:solidFill>
                <a:schemeClr val="accent1">
                  <a:lumMod val="50000"/>
                </a:schemeClr>
              </a:solidFill>
              <a:latin typeface="+mj-lt"/>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DEF79A34-ABA5-4565-A064-EEC822A05D1E}"/>
                  </a:ext>
                </a:extLst>
              </p:cNvPr>
              <p:cNvSpPr txBox="1"/>
              <p:nvPr/>
            </p:nvSpPr>
            <p:spPr>
              <a:xfrm>
                <a:off x="40640" y="769441"/>
                <a:ext cx="12110720" cy="5976957"/>
              </a:xfrm>
              <a:prstGeom prst="rect">
                <a:avLst/>
              </a:prstGeom>
              <a:noFill/>
            </p:spPr>
            <p:txBody>
              <a:bodyPr wrap="square">
                <a:spAutoFit/>
              </a:bodyPr>
              <a:lstStyle/>
              <a:p>
                <a:r>
                  <a:rPr lang="it-IT" dirty="0" err="1">
                    <a:solidFill>
                      <a:schemeClr val="accent1">
                        <a:lumMod val="50000"/>
                      </a:schemeClr>
                    </a:solidFill>
                    <a:effectLst/>
                    <a:ea typeface="Calibri" panose="020F0502020204030204" pitchFamily="34" charset="0"/>
                  </a:rPr>
                  <a:t>Hebb</a:t>
                </a:r>
                <a:r>
                  <a:rPr lang="it-IT" dirty="0">
                    <a:solidFill>
                      <a:schemeClr val="accent1">
                        <a:lumMod val="50000"/>
                      </a:schemeClr>
                    </a:solidFill>
                    <a:effectLst/>
                    <a:ea typeface="Calibri" panose="020F0502020204030204" pitchFamily="34" charset="0"/>
                  </a:rPr>
                  <a:t> rule:</a:t>
                </a:r>
                <a:endParaRPr lang="en-US" dirty="0">
                  <a:solidFill>
                    <a:schemeClr val="accent1">
                      <a:lumMod val="50000"/>
                    </a:schemeClr>
                  </a:solidFill>
                  <a:effectLst/>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𝑤</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𝑖𝑗</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f>
                        <m:fPr>
                          <m:ctrlPr>
                            <a:rPr lang="en-US" i="1">
                              <a:effectLst/>
                              <a:latin typeface="Cambria Math" panose="02040503050406030204" pitchFamily="18" charset="0"/>
                              <a:ea typeface="Calibri" panose="020F0502020204030204" pitchFamily="34" charset="0"/>
                              <a:cs typeface="Calibri Light" panose="020F0302020204030204" pitchFamily="34" charset="0"/>
                            </a:rPr>
                          </m:ctrlPr>
                        </m:fPr>
                        <m:num>
                          <m:r>
                            <a:rPr lang="en-US">
                              <a:effectLst/>
                              <a:latin typeface="Cambria Math" panose="02040503050406030204" pitchFamily="18" charset="0"/>
                              <a:ea typeface="Calibri" panose="020F0502020204030204" pitchFamily="34" charset="0"/>
                              <a:cs typeface="Calibri Light" panose="020F0302020204030204" pitchFamily="34" charset="0"/>
                            </a:rPr>
                            <m:t>1</m:t>
                          </m:r>
                        </m:num>
                        <m:den>
                          <m:r>
                            <a:rPr lang="en-US" i="1">
                              <a:effectLst/>
                              <a:latin typeface="Cambria Math" panose="02040503050406030204" pitchFamily="18" charset="0"/>
                              <a:ea typeface="Calibri" panose="020F0502020204030204" pitchFamily="34" charset="0"/>
                              <a:cs typeface="Calibri Light" panose="020F0302020204030204" pitchFamily="34" charset="0"/>
                            </a:rPr>
                            <m:t>𝑛</m:t>
                          </m:r>
                        </m:den>
                      </m:f>
                      <m:nary>
                        <m:naryPr>
                          <m:chr m:val="∑"/>
                          <m:limLoc m:val="undOvr"/>
                          <m:grow m:val="on"/>
                          <m:ctrlPr>
                            <a:rPr lang="en-US" i="1">
                              <a:effectLst/>
                              <a:latin typeface="Cambria Math" panose="02040503050406030204" pitchFamily="18" charset="0"/>
                              <a:ea typeface="Calibri" panose="020F0502020204030204" pitchFamily="34" charset="0"/>
                              <a:cs typeface="Calibri Light" panose="020F0302020204030204" pitchFamily="34" charset="0"/>
                            </a:rPr>
                          </m:ctrlPr>
                        </m:naryPr>
                        <m:sub>
                          <m:r>
                            <a:rPr lang="en-US" i="1">
                              <a:effectLst/>
                              <a:latin typeface="Cambria Math" panose="02040503050406030204" pitchFamily="18" charset="0"/>
                              <a:ea typeface="Calibri" panose="020F0502020204030204" pitchFamily="34" charset="0"/>
                              <a:cs typeface="Calibri Light" panose="020F0302020204030204" pitchFamily="34" charset="0"/>
                            </a:rPr>
                            <m:t>𝜇</m:t>
                          </m:r>
                          <m:r>
                            <a:rPr lang="en-US">
                              <a:effectLst/>
                              <a:latin typeface="Cambria Math" panose="02040503050406030204" pitchFamily="18" charset="0"/>
                              <a:ea typeface="Calibri" panose="020F0502020204030204" pitchFamily="34" charset="0"/>
                              <a:cs typeface="Calibri Light" panose="020F0302020204030204" pitchFamily="34" charset="0"/>
                            </a:rPr>
                            <m:t>=1</m:t>
                          </m:r>
                        </m:sub>
                        <m:sup>
                          <m:r>
                            <a:rPr lang="en-US" i="1">
                              <a:effectLst/>
                              <a:latin typeface="Cambria Math" panose="02040503050406030204" pitchFamily="18" charset="0"/>
                              <a:ea typeface="Calibri" panose="020F0502020204030204" pitchFamily="34" charset="0"/>
                              <a:cs typeface="Calibri Light" panose="020F0302020204030204" pitchFamily="34" charset="0"/>
                            </a:rPr>
                            <m:t>𝑝</m:t>
                          </m:r>
                        </m:sup>
                        <m:e>
                          <m:r>
                            <a:rPr lang="en-US">
                              <a:effectLst/>
                              <a:latin typeface="Cambria Math" panose="02040503050406030204" pitchFamily="18" charset="0"/>
                              <a:ea typeface="Calibri" panose="020F0502020204030204" pitchFamily="34" charset="0"/>
                              <a:cs typeface="Calibri Light" panose="020F0302020204030204" pitchFamily="34" charset="0"/>
                            </a:rPr>
                            <m:t> </m:t>
                          </m:r>
                        </m:e>
                      </m:nary>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𝜉</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m:t>
                          </m:r>
                        </m:sub>
                        <m:sup>
                          <m:r>
                            <a:rPr lang="en-US" i="1">
                              <a:effectLst/>
                              <a:latin typeface="Cambria Math" panose="02040503050406030204" pitchFamily="18" charset="0"/>
                              <a:ea typeface="Calibri" panose="020F0502020204030204" pitchFamily="34" charset="0"/>
                              <a:cs typeface="Calibri Light" panose="020F0302020204030204" pitchFamily="34" charset="0"/>
                            </a:rPr>
                            <m:t>𝜇</m:t>
                          </m:r>
                        </m:sup>
                      </m:sSubSup>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𝜉</m:t>
                          </m:r>
                        </m:e>
                        <m:sub>
                          <m:r>
                            <a:rPr lang="en-US" i="1">
                              <a:effectLst/>
                              <a:latin typeface="Cambria Math" panose="02040503050406030204" pitchFamily="18" charset="0"/>
                              <a:ea typeface="Calibri" panose="020F0502020204030204" pitchFamily="34" charset="0"/>
                              <a:cs typeface="Calibri Light" panose="020F0302020204030204" pitchFamily="34" charset="0"/>
                            </a:rPr>
                            <m:t>𝑗</m:t>
                          </m:r>
                        </m:sub>
                        <m:sup>
                          <m:r>
                            <a:rPr lang="en-US" i="1">
                              <a:effectLst/>
                              <a:latin typeface="Cambria Math" panose="02040503050406030204" pitchFamily="18" charset="0"/>
                              <a:ea typeface="Calibri" panose="020F0502020204030204" pitchFamily="34" charset="0"/>
                              <a:cs typeface="Calibri Light" panose="020F0302020204030204" pitchFamily="34" charset="0"/>
                            </a:rPr>
                            <m:t>𝜇</m:t>
                          </m:r>
                        </m:sup>
                      </m:sSubSup>
                    </m:oMath>
                  </m:oMathPara>
                </a14:m>
                <a:endParaRPr lang="en-US" dirty="0">
                  <a:effectLst/>
                  <a:ea typeface="Calibri" panose="020F0502020204030204" pitchFamily="34" charset="0"/>
                </a:endParaRPr>
              </a:p>
              <a:p>
                <a:pPr>
                  <a:spcAft>
                    <a:spcPts val="1200"/>
                  </a:spcAft>
                </a:pPr>
                <a:r>
                  <a:rPr lang="en-US" dirty="0">
                    <a:effectLst/>
                    <a:ea typeface="Calibri" panose="020F0502020204030204" pitchFamily="34" charset="0"/>
                  </a:rPr>
                  <a:t>for a set of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𝑝</m:t>
                    </m:r>
                  </m:oMath>
                </a14:m>
                <a:r>
                  <a:rPr lang="en-US" dirty="0">
                    <a:effectLst/>
                    <a:ea typeface="Calibri" panose="020F0502020204030204" pitchFamily="34" charset="0"/>
                  </a:rPr>
                  <a:t> memories </a:t>
                </a:r>
                <a14:m>
                  <m:oMath xmlns:m="http://schemas.openxmlformats.org/officeDocument/2006/math">
                    <m:d>
                      <m:dPr>
                        <m:begChr m:val="{"/>
                        <m:end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𝜉</m:t>
                            </m:r>
                          </m:e>
                          <m:sup>
                            <m:r>
                              <a:rPr lang="en-US">
                                <a:effectLst/>
                                <a:latin typeface="Cambria Math" panose="02040503050406030204" pitchFamily="18" charset="0"/>
                                <a:ea typeface="Calibri" panose="020F0502020204030204" pitchFamily="34" charset="0"/>
                                <a:cs typeface="Calibri Light" panose="020F0302020204030204" pitchFamily="34" charset="0"/>
                              </a:rPr>
                              <m:t>1</m:t>
                            </m:r>
                          </m:sup>
                        </m:sSup>
                        <m:r>
                          <a:rPr lang="en-US">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𝜉</m:t>
                            </m:r>
                          </m:e>
                          <m:sup>
                            <m:r>
                              <a:rPr lang="en-US">
                                <a:effectLst/>
                                <a:latin typeface="Cambria Math" panose="02040503050406030204" pitchFamily="18" charset="0"/>
                                <a:ea typeface="Calibri" panose="020F0502020204030204" pitchFamily="34" charset="0"/>
                                <a:cs typeface="Calibri Light" panose="020F0302020204030204" pitchFamily="34" charset="0"/>
                              </a:rPr>
                              <m:t>2</m:t>
                            </m:r>
                          </m:sup>
                        </m:sSup>
                        <m:r>
                          <a:rPr lang="en-US">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𝜉</m:t>
                            </m:r>
                          </m:e>
                          <m:sup>
                            <m:r>
                              <a:rPr lang="en-US" i="1">
                                <a:effectLst/>
                                <a:latin typeface="Cambria Math" panose="02040503050406030204" pitchFamily="18" charset="0"/>
                                <a:ea typeface="Calibri" panose="020F0502020204030204" pitchFamily="34" charset="0"/>
                                <a:cs typeface="Calibri Light" panose="020F0302020204030204" pitchFamily="34" charset="0"/>
                              </a:rPr>
                              <m:t>𝑝</m:t>
                            </m:r>
                          </m:sup>
                        </m:sSup>
                      </m:e>
                    </m:d>
                  </m:oMath>
                </a14:m>
                <a:r>
                  <a:rPr lang="en-US" dirty="0">
                    <a:effectLst/>
                    <a:ea typeface="Calibri" panose="020F0502020204030204" pitchFamily="34" charset="0"/>
                  </a:rPr>
                  <a:t>, each of length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𝑛</m:t>
                    </m:r>
                  </m:oMath>
                </a14:m>
                <a:r>
                  <a:rPr lang="en-US" dirty="0">
                    <a:effectLst/>
                    <a:ea typeface="Calibri" panose="020F0502020204030204" pitchFamily="34" charset="0"/>
                  </a:rPr>
                  <a:t> with bipolar elements </a:t>
                </a:r>
                <a14:m>
                  <m:oMath xmlns:m="http://schemas.openxmlformats.org/officeDocument/2006/math">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𝜉</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m:t>
                        </m:r>
                      </m:sub>
                      <m:sup>
                        <m:r>
                          <a:rPr lang="en-US" i="1">
                            <a:effectLst/>
                            <a:latin typeface="Cambria Math" panose="02040503050406030204" pitchFamily="18" charset="0"/>
                            <a:ea typeface="Calibri" panose="020F0502020204030204" pitchFamily="34" charset="0"/>
                            <a:cs typeface="Calibri Light" panose="020F0302020204030204" pitchFamily="34" charset="0"/>
                          </a:rPr>
                          <m:t>𝜇</m:t>
                        </m:r>
                      </m:sup>
                    </m:sSubSup>
                    <m:r>
                      <a:rPr lang="en-US">
                        <a:effectLst/>
                        <a:latin typeface="Cambria Math" panose="02040503050406030204" pitchFamily="18" charset="0"/>
                        <a:ea typeface="Calibri" panose="020F0502020204030204" pitchFamily="34" charset="0"/>
                        <a:cs typeface="Calibri Light" panose="020F0302020204030204" pitchFamily="34" charset="0"/>
                      </a:rPr>
                      <m:t>∈{±1}</m:t>
                    </m:r>
                  </m:oMath>
                </a14:m>
                <a:r>
                  <a:rPr lang="en-US" dirty="0">
                    <a:effectLst/>
                    <a:ea typeface="Calibri" panose="020F0502020204030204" pitchFamily="34" charset="0"/>
                  </a:rPr>
                  <a:t>. </a:t>
                </a:r>
              </a:p>
              <a:p>
                <a:r>
                  <a:rPr lang="en-US" dirty="0">
                    <a:effectLst/>
                    <a:ea typeface="Calibri" panose="020F0502020204030204" pitchFamily="34" charset="0"/>
                  </a:rPr>
                  <a:t> </a:t>
                </a:r>
              </a:p>
              <a:p>
                <a:r>
                  <a:rPr lang="en-US" dirty="0" err="1">
                    <a:solidFill>
                      <a:schemeClr val="accent1">
                        <a:lumMod val="50000"/>
                      </a:schemeClr>
                    </a:solidFill>
                    <a:effectLst/>
                    <a:ea typeface="Calibri" panose="020F0502020204030204" pitchFamily="34" charset="0"/>
                  </a:rPr>
                  <a:t>Storkey</a:t>
                </a:r>
                <a:r>
                  <a:rPr lang="en-US" dirty="0">
                    <a:solidFill>
                      <a:schemeClr val="accent1">
                        <a:lumMod val="50000"/>
                      </a:schemeClr>
                    </a:solidFill>
                    <a:effectLst/>
                    <a:ea typeface="Calibri" panose="020F0502020204030204" pitchFamily="34" charset="0"/>
                  </a:rPr>
                  <a:t> rule:</a:t>
                </a:r>
              </a:p>
              <a:p>
                <a:pPr>
                  <a:spcAft>
                    <a:spcPts val="1200"/>
                  </a:spcAft>
                </a:pPr>
                <a14:m>
                  <m:oMathPara xmlns:m="http://schemas.openxmlformats.org/officeDocument/2006/math">
                    <m:oMathParaPr>
                      <m:jc m:val="centerGroup"/>
                    </m:oMathParaPr>
                    <m:oMath xmlns:m="http://schemas.openxmlformats.org/officeDocument/2006/math">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𝑤</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𝑖𝑗</m:t>
                          </m:r>
                        </m:sub>
                        <m:sup>
                          <m:r>
                            <a:rPr lang="en-US" i="1">
                              <a:effectLst/>
                              <a:latin typeface="Cambria Math" panose="02040503050406030204" pitchFamily="18" charset="0"/>
                              <a:ea typeface="Calibri" panose="020F0502020204030204" pitchFamily="34" charset="0"/>
                              <a:cs typeface="Calibri Light" panose="020F0302020204030204" pitchFamily="34" charset="0"/>
                            </a:rPr>
                            <m:t>𝜈</m:t>
                          </m:r>
                        </m:sup>
                      </m:sSubSup>
                      <m:r>
                        <a:rPr lang="en-US">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𝑤</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𝑖𝑗</m:t>
                          </m:r>
                        </m:sub>
                        <m:sup>
                          <m:r>
                            <a:rPr lang="en-US" i="1">
                              <a:effectLst/>
                              <a:latin typeface="Cambria Math" panose="02040503050406030204" pitchFamily="18" charset="0"/>
                              <a:ea typeface="Calibri" panose="020F0502020204030204" pitchFamily="34" charset="0"/>
                              <a:cs typeface="Calibri Light" panose="020F0302020204030204" pitchFamily="34" charset="0"/>
                            </a:rPr>
                            <m:t>𝜈</m:t>
                          </m:r>
                          <m:r>
                            <a:rPr lang="en-US" i="1">
                              <a:effectLst/>
                              <a:latin typeface="Cambria Math" panose="02040503050406030204" pitchFamily="18" charset="0"/>
                              <a:ea typeface="Calibri" panose="020F0502020204030204" pitchFamily="34" charset="0"/>
                              <a:cs typeface="Calibri Light" panose="020F0302020204030204" pitchFamily="34" charset="0"/>
                            </a:rPr>
                            <m:t>−</m:t>
                          </m:r>
                          <m:r>
                            <a:rPr lang="en-US">
                              <a:effectLst/>
                              <a:latin typeface="Cambria Math" panose="02040503050406030204" pitchFamily="18" charset="0"/>
                              <a:ea typeface="Calibri" panose="020F0502020204030204" pitchFamily="34" charset="0"/>
                              <a:cs typeface="Calibri Light" panose="020F0302020204030204" pitchFamily="34" charset="0"/>
                            </a:rPr>
                            <m:t>1</m:t>
                          </m:r>
                        </m:sup>
                      </m:sSubSup>
                      <m:r>
                        <a:rPr lang="en-US">
                          <a:effectLst/>
                          <a:latin typeface="Cambria Math" panose="02040503050406030204" pitchFamily="18" charset="0"/>
                          <a:ea typeface="Calibri" panose="020F0502020204030204" pitchFamily="34" charset="0"/>
                          <a:cs typeface="Calibri Light" panose="020F0302020204030204" pitchFamily="34" charset="0"/>
                        </a:rPr>
                        <m:t>+</m:t>
                      </m:r>
                      <m:f>
                        <m:fPr>
                          <m:ctrlPr>
                            <a:rPr lang="en-US" i="1">
                              <a:effectLst/>
                              <a:latin typeface="Cambria Math" panose="02040503050406030204" pitchFamily="18" charset="0"/>
                              <a:ea typeface="Calibri" panose="020F0502020204030204" pitchFamily="34" charset="0"/>
                              <a:cs typeface="Calibri Light" panose="020F0302020204030204" pitchFamily="34" charset="0"/>
                            </a:rPr>
                          </m:ctrlPr>
                        </m:fPr>
                        <m:num>
                          <m:r>
                            <a:rPr lang="en-US">
                              <a:effectLst/>
                              <a:latin typeface="Cambria Math" panose="02040503050406030204" pitchFamily="18" charset="0"/>
                              <a:ea typeface="Calibri" panose="020F0502020204030204" pitchFamily="34" charset="0"/>
                              <a:cs typeface="Calibri Light" panose="020F0302020204030204" pitchFamily="34" charset="0"/>
                            </a:rPr>
                            <m:t>1</m:t>
                          </m:r>
                        </m:num>
                        <m:den>
                          <m:r>
                            <a:rPr lang="en-US" i="1">
                              <a:effectLst/>
                              <a:latin typeface="Cambria Math" panose="02040503050406030204" pitchFamily="18" charset="0"/>
                              <a:ea typeface="Calibri" panose="020F0502020204030204" pitchFamily="34" charset="0"/>
                              <a:cs typeface="Calibri Light" panose="020F0302020204030204" pitchFamily="34" charset="0"/>
                            </a:rPr>
                            <m:t>𝑛</m:t>
                          </m:r>
                        </m:den>
                      </m:f>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𝜉</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m:t>
                          </m:r>
                        </m:sub>
                        <m:sup>
                          <m:r>
                            <a:rPr lang="en-US" i="1">
                              <a:effectLst/>
                              <a:latin typeface="Cambria Math" panose="02040503050406030204" pitchFamily="18" charset="0"/>
                              <a:ea typeface="Calibri" panose="020F0502020204030204" pitchFamily="34" charset="0"/>
                              <a:cs typeface="Calibri Light" panose="020F0302020204030204" pitchFamily="34" charset="0"/>
                            </a:rPr>
                            <m:t>𝜈</m:t>
                          </m:r>
                        </m:sup>
                      </m:sSubSup>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𝜉</m:t>
                          </m:r>
                        </m:e>
                        <m:sub>
                          <m:r>
                            <a:rPr lang="en-US" i="1">
                              <a:effectLst/>
                              <a:latin typeface="Cambria Math" panose="02040503050406030204" pitchFamily="18" charset="0"/>
                              <a:ea typeface="Calibri" panose="020F0502020204030204" pitchFamily="34" charset="0"/>
                              <a:cs typeface="Calibri Light" panose="020F0302020204030204" pitchFamily="34" charset="0"/>
                            </a:rPr>
                            <m:t>𝑗</m:t>
                          </m:r>
                        </m:sub>
                        <m:sup>
                          <m:r>
                            <a:rPr lang="en-US" i="1">
                              <a:effectLst/>
                              <a:latin typeface="Cambria Math" panose="02040503050406030204" pitchFamily="18" charset="0"/>
                              <a:ea typeface="Calibri" panose="020F0502020204030204" pitchFamily="34" charset="0"/>
                              <a:cs typeface="Calibri Light" panose="020F0302020204030204" pitchFamily="34" charset="0"/>
                            </a:rPr>
                            <m:t>𝜈</m:t>
                          </m:r>
                        </m:sup>
                      </m:sSubSup>
                      <m:r>
                        <a:rPr lang="en-US" i="1">
                          <a:effectLst/>
                          <a:latin typeface="Cambria Math" panose="02040503050406030204" pitchFamily="18" charset="0"/>
                          <a:ea typeface="Calibri" panose="020F0502020204030204" pitchFamily="34" charset="0"/>
                          <a:cs typeface="Calibri Light" panose="020F0302020204030204" pitchFamily="34" charset="0"/>
                        </a:rPr>
                        <m:t>−</m:t>
                      </m:r>
                      <m:f>
                        <m:fPr>
                          <m:ctrlPr>
                            <a:rPr lang="en-US" i="1">
                              <a:effectLst/>
                              <a:latin typeface="Cambria Math" panose="02040503050406030204" pitchFamily="18" charset="0"/>
                              <a:ea typeface="Calibri" panose="020F0502020204030204" pitchFamily="34" charset="0"/>
                              <a:cs typeface="Calibri Light" panose="020F0302020204030204" pitchFamily="34" charset="0"/>
                            </a:rPr>
                          </m:ctrlPr>
                        </m:fPr>
                        <m:num>
                          <m:r>
                            <a:rPr lang="en-US">
                              <a:effectLst/>
                              <a:latin typeface="Cambria Math" panose="02040503050406030204" pitchFamily="18" charset="0"/>
                              <a:ea typeface="Calibri" panose="020F0502020204030204" pitchFamily="34" charset="0"/>
                              <a:cs typeface="Calibri Light" panose="020F0302020204030204" pitchFamily="34" charset="0"/>
                            </a:rPr>
                            <m:t>1</m:t>
                          </m:r>
                        </m:num>
                        <m:den>
                          <m:r>
                            <a:rPr lang="en-US" i="1">
                              <a:effectLst/>
                              <a:latin typeface="Cambria Math" panose="02040503050406030204" pitchFamily="18" charset="0"/>
                              <a:ea typeface="Calibri" panose="020F0502020204030204" pitchFamily="34" charset="0"/>
                              <a:cs typeface="Calibri Light" panose="020F0302020204030204" pitchFamily="34" charset="0"/>
                            </a:rPr>
                            <m:t>𝑛</m:t>
                          </m:r>
                        </m:den>
                      </m:f>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𝜉</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m:t>
                          </m:r>
                        </m:sub>
                        <m:sup>
                          <m:r>
                            <a:rPr lang="en-US" i="1">
                              <a:effectLst/>
                              <a:latin typeface="Cambria Math" panose="02040503050406030204" pitchFamily="18" charset="0"/>
                              <a:ea typeface="Calibri" panose="020F0502020204030204" pitchFamily="34" charset="0"/>
                              <a:cs typeface="Calibri Light" panose="020F0302020204030204" pitchFamily="34" charset="0"/>
                            </a:rPr>
                            <m:t>𝜈</m:t>
                          </m:r>
                        </m:sup>
                      </m:sSubSup>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h</m:t>
                          </m:r>
                        </m:e>
                        <m:sub>
                          <m:r>
                            <a:rPr lang="en-US" i="1">
                              <a:effectLst/>
                              <a:latin typeface="Cambria Math" panose="02040503050406030204" pitchFamily="18" charset="0"/>
                              <a:ea typeface="Calibri" panose="020F0502020204030204" pitchFamily="34" charset="0"/>
                              <a:cs typeface="Calibri Light" panose="020F0302020204030204" pitchFamily="34" charset="0"/>
                            </a:rPr>
                            <m:t>𝑗𝑖</m:t>
                          </m:r>
                        </m:sub>
                        <m:sup>
                          <m:r>
                            <a:rPr lang="en-US" i="1">
                              <a:effectLst/>
                              <a:latin typeface="Cambria Math" panose="02040503050406030204" pitchFamily="18" charset="0"/>
                              <a:ea typeface="Calibri" panose="020F0502020204030204" pitchFamily="34" charset="0"/>
                              <a:cs typeface="Calibri Light" panose="020F0302020204030204" pitchFamily="34" charset="0"/>
                            </a:rPr>
                            <m:t>𝜈</m:t>
                          </m:r>
                        </m:sup>
                      </m:sSubSup>
                      <m:r>
                        <a:rPr lang="en-US" i="1">
                          <a:effectLst/>
                          <a:latin typeface="Cambria Math" panose="02040503050406030204" pitchFamily="18" charset="0"/>
                          <a:ea typeface="Calibri" panose="020F0502020204030204" pitchFamily="34" charset="0"/>
                          <a:cs typeface="Calibri Light" panose="020F0302020204030204" pitchFamily="34" charset="0"/>
                        </a:rPr>
                        <m:t>−</m:t>
                      </m:r>
                      <m:f>
                        <m:fPr>
                          <m:ctrlPr>
                            <a:rPr lang="en-US" i="1">
                              <a:effectLst/>
                              <a:latin typeface="Cambria Math" panose="02040503050406030204" pitchFamily="18" charset="0"/>
                              <a:ea typeface="Calibri" panose="020F0502020204030204" pitchFamily="34" charset="0"/>
                              <a:cs typeface="Calibri Light" panose="020F0302020204030204" pitchFamily="34" charset="0"/>
                            </a:rPr>
                          </m:ctrlPr>
                        </m:fPr>
                        <m:num>
                          <m:r>
                            <a:rPr lang="en-US">
                              <a:effectLst/>
                              <a:latin typeface="Cambria Math" panose="02040503050406030204" pitchFamily="18" charset="0"/>
                              <a:ea typeface="Calibri" panose="020F0502020204030204" pitchFamily="34" charset="0"/>
                              <a:cs typeface="Calibri Light" panose="020F0302020204030204" pitchFamily="34" charset="0"/>
                            </a:rPr>
                            <m:t>1</m:t>
                          </m:r>
                        </m:num>
                        <m:den>
                          <m:r>
                            <a:rPr lang="en-US" i="1">
                              <a:effectLst/>
                              <a:latin typeface="Cambria Math" panose="02040503050406030204" pitchFamily="18" charset="0"/>
                              <a:ea typeface="Calibri" panose="020F0502020204030204" pitchFamily="34" charset="0"/>
                              <a:cs typeface="Calibri Light" panose="020F0302020204030204" pitchFamily="34" charset="0"/>
                            </a:rPr>
                            <m:t>𝑛</m:t>
                          </m:r>
                        </m:den>
                      </m:f>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h</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𝑖𝑗</m:t>
                          </m:r>
                        </m:sub>
                        <m:sup>
                          <m:r>
                            <a:rPr lang="en-US" i="1">
                              <a:effectLst/>
                              <a:latin typeface="Cambria Math" panose="02040503050406030204" pitchFamily="18" charset="0"/>
                              <a:ea typeface="Calibri" panose="020F0502020204030204" pitchFamily="34" charset="0"/>
                              <a:cs typeface="Calibri Light" panose="020F0302020204030204" pitchFamily="34" charset="0"/>
                            </a:rPr>
                            <m:t>𝜈</m:t>
                          </m:r>
                        </m:sup>
                      </m:sSubSup>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𝜉</m:t>
                          </m:r>
                        </m:e>
                        <m:sub>
                          <m:r>
                            <a:rPr lang="en-US" i="1">
                              <a:effectLst/>
                              <a:latin typeface="Cambria Math" panose="02040503050406030204" pitchFamily="18" charset="0"/>
                              <a:ea typeface="Calibri" panose="020F0502020204030204" pitchFamily="34" charset="0"/>
                              <a:cs typeface="Calibri Light" panose="020F0302020204030204" pitchFamily="34" charset="0"/>
                            </a:rPr>
                            <m:t>𝑗</m:t>
                          </m:r>
                        </m:sub>
                        <m:sup>
                          <m:r>
                            <a:rPr lang="en-US" i="1">
                              <a:effectLst/>
                              <a:latin typeface="Cambria Math" panose="02040503050406030204" pitchFamily="18" charset="0"/>
                              <a:ea typeface="Calibri" panose="020F0502020204030204" pitchFamily="34" charset="0"/>
                              <a:cs typeface="Calibri Light" panose="020F0302020204030204" pitchFamily="34" charset="0"/>
                            </a:rPr>
                            <m:t>𝜈</m:t>
                          </m:r>
                        </m:sup>
                      </m:sSubSup>
                    </m:oMath>
                  </m:oMathPara>
                </a14:m>
                <a:endParaRPr lang="en-US" dirty="0">
                  <a:effectLst/>
                  <a:ea typeface="Calibri" panose="020F0502020204030204" pitchFamily="34" charset="0"/>
                </a:endParaRPr>
              </a:p>
              <a:p>
                <a:pPr>
                  <a:spcAft>
                    <a:spcPts val="1200"/>
                  </a:spcAft>
                </a:pPr>
                <a:r>
                  <a:rPr lang="en-US" dirty="0">
                    <a:effectLst/>
                    <a:ea typeface="Calibri" panose="020F0502020204030204" pitchFamily="34" charset="0"/>
                  </a:rPr>
                  <a:t>where </a:t>
                </a:r>
                <a14:m>
                  <m:oMath xmlns:m="http://schemas.openxmlformats.org/officeDocument/2006/math">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𝜉</m:t>
                        </m:r>
                      </m:e>
                      <m:sup>
                        <m:r>
                          <a:rPr lang="en-US" i="1">
                            <a:effectLst/>
                            <a:latin typeface="Cambria Math" panose="02040503050406030204" pitchFamily="18" charset="0"/>
                            <a:ea typeface="Calibri" panose="020F0502020204030204" pitchFamily="34" charset="0"/>
                            <a:cs typeface="Calibri Light" panose="020F0302020204030204" pitchFamily="34" charset="0"/>
                          </a:rPr>
                          <m:t>𝜈</m:t>
                        </m:r>
                      </m:sup>
                    </m:sSup>
                  </m:oMath>
                </a14:m>
                <a:r>
                  <a:rPr lang="en-US" dirty="0">
                    <a:effectLst/>
                    <a:ea typeface="Calibri" panose="020F0502020204030204" pitchFamily="34" charset="0"/>
                  </a:rPr>
                  <a:t> is the memory to be learned in the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𝜈</m:t>
                    </m:r>
                  </m:oMath>
                </a14:m>
                <a:r>
                  <a:rPr lang="en-US" dirty="0">
                    <a:effectLst/>
                    <a:ea typeface="Calibri" panose="020F0502020204030204" pitchFamily="34" charset="0"/>
                  </a:rPr>
                  <a:t>-</a:t>
                </a:r>
                <a:r>
                  <a:rPr lang="en-US" dirty="0" err="1">
                    <a:effectLst/>
                    <a:ea typeface="Calibri" panose="020F0502020204030204" pitchFamily="34" charset="0"/>
                  </a:rPr>
                  <a:t>th</a:t>
                </a:r>
                <a:r>
                  <a:rPr lang="en-US" dirty="0">
                    <a:effectLst/>
                    <a:ea typeface="Calibri" panose="020F0502020204030204" pitchFamily="34" charset="0"/>
                  </a:rPr>
                  <a:t> iteration for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𝜈</m:t>
                    </m:r>
                    <m:r>
                      <a:rPr lang="en-US">
                        <a:effectLst/>
                        <a:latin typeface="Cambria Math" panose="02040503050406030204" pitchFamily="18" charset="0"/>
                        <a:ea typeface="Calibri" panose="020F0502020204030204" pitchFamily="34" charset="0"/>
                        <a:cs typeface="Calibri Light" panose="020F0302020204030204" pitchFamily="34" charset="0"/>
                      </a:rPr>
                      <m:t>=1</m:t>
                    </m:r>
                  </m:oMath>
                </a14:m>
                <a:r>
                  <a:rPr lang="en-US" dirty="0">
                    <a:effectLst/>
                    <a:ea typeface="Calibri" panose="020F0502020204030204" pitchFamily="34" charset="0"/>
                  </a:rPr>
                  <a:t> to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𝑝</m:t>
                    </m:r>
                  </m:oMath>
                </a14:m>
                <a:r>
                  <a:rPr lang="en-US" dirty="0">
                    <a:effectLst/>
                    <a:ea typeface="Calibri" panose="020F0502020204030204" pitchFamily="34" charset="0"/>
                  </a:rPr>
                  <a:t> and</a:t>
                </a:r>
              </a:p>
              <a:p>
                <a:pPr>
                  <a:spcAft>
                    <a:spcPts val="1200"/>
                  </a:spcAft>
                </a:pPr>
                <a14:m>
                  <m:oMathPara xmlns:m="http://schemas.openxmlformats.org/officeDocument/2006/math">
                    <m:oMathParaPr>
                      <m:jc m:val="centerGroup"/>
                    </m:oMathParaPr>
                    <m:oMath xmlns:m="http://schemas.openxmlformats.org/officeDocument/2006/math">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h</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𝑖𝑗</m:t>
                          </m:r>
                        </m:sub>
                        <m:sup>
                          <m:r>
                            <a:rPr lang="en-US" i="1">
                              <a:effectLst/>
                              <a:latin typeface="Cambria Math" panose="02040503050406030204" pitchFamily="18" charset="0"/>
                              <a:ea typeface="Calibri" panose="020F0502020204030204" pitchFamily="34" charset="0"/>
                              <a:cs typeface="Calibri Light" panose="020F0302020204030204" pitchFamily="34" charset="0"/>
                            </a:rPr>
                            <m:t>𝜈</m:t>
                          </m:r>
                        </m:sup>
                      </m:sSubSup>
                      <m:r>
                        <a:rPr lang="en-US">
                          <a:effectLst/>
                          <a:latin typeface="Cambria Math" panose="02040503050406030204" pitchFamily="18" charset="0"/>
                          <a:ea typeface="Calibri" panose="020F0502020204030204" pitchFamily="34" charset="0"/>
                          <a:cs typeface="Calibri Light" panose="020F0302020204030204" pitchFamily="34" charset="0"/>
                        </a:rPr>
                        <m:t>=</m:t>
                      </m:r>
                      <m:nary>
                        <m:naryPr>
                          <m:chr m:val="∑"/>
                          <m:limLoc m:val="undOvr"/>
                          <m:grow m:val="on"/>
                          <m:supHide m:val="on"/>
                          <m:ctrlPr>
                            <a:rPr lang="en-US" i="1">
                              <a:effectLst/>
                              <a:latin typeface="Cambria Math" panose="02040503050406030204" pitchFamily="18" charset="0"/>
                              <a:ea typeface="Calibri" panose="020F0502020204030204" pitchFamily="34" charset="0"/>
                              <a:cs typeface="Calibri Light" panose="020F0302020204030204" pitchFamily="34" charset="0"/>
                            </a:rPr>
                          </m:ctrlPr>
                        </m:naryPr>
                        <m:sub>
                          <m:r>
                            <a:rPr lang="en-US" i="1">
                              <a:effectLst/>
                              <a:latin typeface="Cambria Math" panose="02040503050406030204" pitchFamily="18" charset="0"/>
                              <a:ea typeface="Calibri" panose="020F0502020204030204" pitchFamily="34" charset="0"/>
                              <a:cs typeface="Calibri Light" panose="020F0302020204030204" pitchFamily="34" charset="0"/>
                            </a:rPr>
                            <m:t>𝑘</m:t>
                          </m:r>
                          <m:r>
                            <a:rPr lang="en-US">
                              <a:effectLst/>
                              <a:latin typeface="Cambria Math" panose="02040503050406030204" pitchFamily="18" charset="0"/>
                              <a:ea typeface="Calibri" panose="020F0502020204030204" pitchFamily="34" charset="0"/>
                              <a:cs typeface="Calibri Light" panose="020F0302020204030204" pitchFamily="34" charset="0"/>
                            </a:rPr>
                            <m:t>=1,</m:t>
                          </m:r>
                          <m:r>
                            <a:rPr lang="en-US" i="1">
                              <a:effectLst/>
                              <a:latin typeface="Cambria Math" panose="02040503050406030204" pitchFamily="18" charset="0"/>
                              <a:ea typeface="Calibri" panose="020F0502020204030204" pitchFamily="34" charset="0"/>
                              <a:cs typeface="Calibri Light" panose="020F0302020204030204" pitchFamily="34" charset="0"/>
                            </a:rPr>
                            <m:t>𝑘</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𝑖</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𝑗</m:t>
                          </m:r>
                        </m:sub>
                        <m:sup/>
                        <m:e>
                          <m:r>
                            <a:rPr lang="en-US">
                              <a:effectLst/>
                              <a:latin typeface="Cambria Math" panose="02040503050406030204" pitchFamily="18" charset="0"/>
                              <a:ea typeface="Calibri" panose="020F0502020204030204" pitchFamily="34" charset="0"/>
                              <a:cs typeface="Calibri Light" panose="020F0302020204030204" pitchFamily="34" charset="0"/>
                            </a:rPr>
                            <m:t> </m:t>
                          </m:r>
                        </m:e>
                      </m:nary>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𝑤</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𝑖𝑘</m:t>
                          </m:r>
                        </m:sub>
                        <m:sup>
                          <m:r>
                            <a:rPr lang="en-US" i="1">
                              <a:effectLst/>
                              <a:latin typeface="Cambria Math" panose="02040503050406030204" pitchFamily="18" charset="0"/>
                              <a:ea typeface="Calibri" panose="020F0502020204030204" pitchFamily="34" charset="0"/>
                              <a:cs typeface="Calibri Light" panose="020F0302020204030204" pitchFamily="34" charset="0"/>
                            </a:rPr>
                            <m:t>𝜈</m:t>
                          </m:r>
                          <m:r>
                            <a:rPr lang="en-US" i="1">
                              <a:effectLst/>
                              <a:latin typeface="Cambria Math" panose="02040503050406030204" pitchFamily="18" charset="0"/>
                              <a:ea typeface="Calibri" panose="020F0502020204030204" pitchFamily="34" charset="0"/>
                              <a:cs typeface="Calibri Light" panose="020F0302020204030204" pitchFamily="34" charset="0"/>
                            </a:rPr>
                            <m:t>−</m:t>
                          </m:r>
                          <m:r>
                            <a:rPr lang="en-US">
                              <a:effectLst/>
                              <a:latin typeface="Cambria Math" panose="02040503050406030204" pitchFamily="18" charset="0"/>
                              <a:ea typeface="Calibri" panose="020F0502020204030204" pitchFamily="34" charset="0"/>
                              <a:cs typeface="Calibri Light" panose="020F0302020204030204" pitchFamily="34" charset="0"/>
                            </a:rPr>
                            <m:t>1</m:t>
                          </m:r>
                        </m:sup>
                      </m:sSubSup>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𝜉</m:t>
                          </m:r>
                        </m:e>
                        <m:sub>
                          <m:r>
                            <a:rPr lang="en-US" i="1">
                              <a:effectLst/>
                              <a:latin typeface="Cambria Math" panose="02040503050406030204" pitchFamily="18" charset="0"/>
                              <a:ea typeface="Calibri" panose="020F0502020204030204" pitchFamily="34" charset="0"/>
                              <a:cs typeface="Calibri Light" panose="020F0302020204030204" pitchFamily="34" charset="0"/>
                            </a:rPr>
                            <m:t>𝑘</m:t>
                          </m:r>
                        </m:sub>
                        <m:sup>
                          <m:r>
                            <a:rPr lang="en-US" i="1">
                              <a:effectLst/>
                              <a:latin typeface="Cambria Math" panose="02040503050406030204" pitchFamily="18" charset="0"/>
                              <a:ea typeface="Calibri" panose="020F0502020204030204" pitchFamily="34" charset="0"/>
                              <a:cs typeface="Calibri Light" panose="020F0302020204030204" pitchFamily="34" charset="0"/>
                            </a:rPr>
                            <m:t>𝜈</m:t>
                          </m:r>
                        </m:sup>
                      </m:sSubSup>
                    </m:oMath>
                  </m:oMathPara>
                </a14:m>
                <a:endParaRPr lang="en-US" dirty="0">
                  <a:effectLst/>
                  <a:ea typeface="Calibri" panose="020F0502020204030204" pitchFamily="34" charset="0"/>
                </a:endParaRPr>
              </a:p>
              <a:p>
                <a:r>
                  <a:rPr lang="en-US" dirty="0">
                    <a:solidFill>
                      <a:schemeClr val="accent1">
                        <a:lumMod val="50000"/>
                      </a:schemeClr>
                    </a:solidFill>
                    <a:effectLst/>
                    <a:ea typeface="Calibri" panose="020F0502020204030204" pitchFamily="34" charset="0"/>
                  </a:rPr>
                  <a:t>Projection rule</a:t>
                </a:r>
              </a:p>
              <a:p>
                <a:pPr>
                  <a:spcAft>
                    <a:spcPts val="1200"/>
                  </a:spcAft>
                </a:pPr>
                <a14:m>
                  <m:oMathPara xmlns:m="http://schemas.openxmlformats.org/officeDocument/2006/math">
                    <m:oMathParaPr>
                      <m:jc m:val="centerGroup"/>
                    </m:oMathParaPr>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𝑤</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𝑖𝑗</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f>
                        <m:fPr>
                          <m:ctrlPr>
                            <a:rPr lang="en-US" i="1">
                              <a:effectLst/>
                              <a:latin typeface="Cambria Math" panose="02040503050406030204" pitchFamily="18" charset="0"/>
                              <a:ea typeface="Calibri" panose="020F0502020204030204" pitchFamily="34" charset="0"/>
                              <a:cs typeface="Calibri Light" panose="020F0302020204030204" pitchFamily="34" charset="0"/>
                            </a:rPr>
                          </m:ctrlPr>
                        </m:fPr>
                        <m:num>
                          <m:r>
                            <a:rPr lang="en-US">
                              <a:effectLst/>
                              <a:latin typeface="Cambria Math" panose="02040503050406030204" pitchFamily="18" charset="0"/>
                              <a:ea typeface="Calibri" panose="020F0502020204030204" pitchFamily="34" charset="0"/>
                              <a:cs typeface="Calibri Light" panose="020F0302020204030204" pitchFamily="34" charset="0"/>
                            </a:rPr>
                            <m:t>1</m:t>
                          </m:r>
                        </m:num>
                        <m:den>
                          <m:r>
                            <a:rPr lang="en-US" i="1">
                              <a:effectLst/>
                              <a:latin typeface="Cambria Math" panose="02040503050406030204" pitchFamily="18" charset="0"/>
                              <a:ea typeface="Calibri" panose="020F0502020204030204" pitchFamily="34" charset="0"/>
                              <a:cs typeface="Calibri Light" panose="020F0302020204030204" pitchFamily="34" charset="0"/>
                            </a:rPr>
                            <m:t>𝑛</m:t>
                          </m:r>
                        </m:den>
                      </m:f>
                      <m:nary>
                        <m:naryPr>
                          <m:chr m:val="∑"/>
                          <m:limLoc m:val="undOvr"/>
                          <m:grow m:val="on"/>
                          <m:ctrlPr>
                            <a:rPr lang="en-US" i="1">
                              <a:effectLst/>
                              <a:latin typeface="Cambria Math" panose="02040503050406030204" pitchFamily="18" charset="0"/>
                              <a:ea typeface="Calibri" panose="020F0502020204030204" pitchFamily="34" charset="0"/>
                              <a:cs typeface="Calibri Light" panose="020F0302020204030204" pitchFamily="34" charset="0"/>
                            </a:rPr>
                          </m:ctrlPr>
                        </m:naryPr>
                        <m:sub>
                          <m:r>
                            <a:rPr lang="en-US" i="1">
                              <a:effectLst/>
                              <a:latin typeface="Cambria Math" panose="02040503050406030204" pitchFamily="18" charset="0"/>
                              <a:ea typeface="Calibri" panose="020F0502020204030204" pitchFamily="34" charset="0"/>
                              <a:cs typeface="Calibri Light" panose="020F0302020204030204" pitchFamily="34" charset="0"/>
                            </a:rPr>
                            <m:t>𝜇</m:t>
                          </m:r>
                          <m:r>
                            <a:rPr lang="en-US">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𝜇</m:t>
                              </m:r>
                            </m:e>
                            <m:sup>
                              <m:r>
                                <a:rPr lang="en-US" i="1">
                                  <a:effectLst/>
                                  <a:latin typeface="Cambria Math" panose="02040503050406030204" pitchFamily="18" charset="0"/>
                                  <a:ea typeface="Calibri" panose="020F0502020204030204" pitchFamily="34" charset="0"/>
                                  <a:cs typeface="Calibri Light" panose="020F0302020204030204" pitchFamily="34" charset="0"/>
                                </a:rPr>
                                <m:t>′</m:t>
                              </m:r>
                            </m:sup>
                          </m:sSup>
                          <m:r>
                            <a:rPr lang="en-US">
                              <a:effectLst/>
                              <a:latin typeface="Cambria Math" panose="02040503050406030204" pitchFamily="18" charset="0"/>
                              <a:ea typeface="Calibri" panose="020F0502020204030204" pitchFamily="34" charset="0"/>
                              <a:cs typeface="Calibri Light" panose="020F0302020204030204" pitchFamily="34" charset="0"/>
                            </a:rPr>
                            <m:t>=1</m:t>
                          </m:r>
                        </m:sub>
                        <m:sup>
                          <m:r>
                            <a:rPr lang="en-US" i="1">
                              <a:effectLst/>
                              <a:latin typeface="Cambria Math" panose="02040503050406030204" pitchFamily="18" charset="0"/>
                              <a:ea typeface="Calibri" panose="020F0502020204030204" pitchFamily="34" charset="0"/>
                              <a:cs typeface="Calibri Light" panose="020F0302020204030204" pitchFamily="34" charset="0"/>
                            </a:rPr>
                            <m:t>𝑝</m:t>
                          </m:r>
                        </m:sup>
                        <m:e>
                          <m:r>
                            <a:rPr lang="en-US">
                              <a:effectLst/>
                              <a:latin typeface="Cambria Math" panose="02040503050406030204" pitchFamily="18" charset="0"/>
                              <a:ea typeface="Calibri" panose="020F0502020204030204" pitchFamily="34" charset="0"/>
                              <a:cs typeface="Calibri Light" panose="020F0302020204030204" pitchFamily="34" charset="0"/>
                            </a:rPr>
                            <m:t> </m:t>
                          </m:r>
                        </m:e>
                      </m:nary>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𝜉</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m:t>
                          </m:r>
                        </m:sub>
                        <m:sup>
                          <m:r>
                            <a:rPr lang="en-US" i="1">
                              <a:effectLst/>
                              <a:latin typeface="Cambria Math" panose="02040503050406030204" pitchFamily="18" charset="0"/>
                              <a:ea typeface="Calibri" panose="020F0502020204030204" pitchFamily="34" charset="0"/>
                              <a:cs typeface="Calibri Light" panose="020F0302020204030204" pitchFamily="34" charset="0"/>
                            </a:rPr>
                            <m:t>𝜇</m:t>
                          </m:r>
                        </m:sup>
                      </m:sSubSup>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𝐶</m:t>
                          </m:r>
                        </m:e>
                        <m:sub>
                          <m:r>
                            <a:rPr lang="en-US" i="1">
                              <a:effectLst/>
                              <a:latin typeface="Cambria Math" panose="02040503050406030204" pitchFamily="18" charset="0"/>
                              <a:ea typeface="Calibri" panose="020F0502020204030204" pitchFamily="34" charset="0"/>
                              <a:cs typeface="Calibri Light" panose="020F0302020204030204" pitchFamily="34" charset="0"/>
                            </a:rPr>
                            <m:t>𝜇</m:t>
                          </m:r>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𝜇</m:t>
                              </m:r>
                            </m:e>
                            <m:sup>
                              <m:r>
                                <a:rPr lang="en-US" i="1">
                                  <a:effectLst/>
                                  <a:latin typeface="Cambria Math" panose="02040503050406030204" pitchFamily="18" charset="0"/>
                                  <a:ea typeface="Calibri" panose="020F0502020204030204" pitchFamily="34" charset="0"/>
                                  <a:cs typeface="Calibri Light" panose="020F0302020204030204" pitchFamily="34" charset="0"/>
                                </a:rPr>
                                <m:t>′</m:t>
                              </m:r>
                            </m:sup>
                          </m:sSup>
                        </m:sub>
                        <m:sup>
                          <m:r>
                            <a:rPr lang="en-US" i="1">
                              <a:effectLst/>
                              <a:latin typeface="Cambria Math" panose="02040503050406030204" pitchFamily="18" charset="0"/>
                              <a:ea typeface="Calibri" panose="020F0502020204030204" pitchFamily="34" charset="0"/>
                              <a:cs typeface="Calibri Light" panose="020F0302020204030204" pitchFamily="34" charset="0"/>
                            </a:rPr>
                            <m:t>−</m:t>
                          </m:r>
                          <m:r>
                            <a:rPr lang="en-US">
                              <a:effectLst/>
                              <a:latin typeface="Cambria Math" panose="02040503050406030204" pitchFamily="18" charset="0"/>
                              <a:ea typeface="Calibri" panose="020F0502020204030204" pitchFamily="34" charset="0"/>
                              <a:cs typeface="Calibri Light" panose="020F0302020204030204" pitchFamily="34" charset="0"/>
                            </a:rPr>
                            <m:t>1</m:t>
                          </m:r>
                        </m:sup>
                      </m:sSubSup>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𝜉</m:t>
                          </m:r>
                        </m:e>
                        <m:sub>
                          <m:r>
                            <a:rPr lang="en-US" i="1">
                              <a:effectLst/>
                              <a:latin typeface="Cambria Math" panose="02040503050406030204" pitchFamily="18" charset="0"/>
                              <a:ea typeface="Calibri" panose="020F0502020204030204" pitchFamily="34" charset="0"/>
                              <a:cs typeface="Calibri Light" panose="020F0302020204030204" pitchFamily="34" charset="0"/>
                            </a:rPr>
                            <m:t>𝑗</m:t>
                          </m:r>
                        </m:sub>
                        <m:sup>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𝜇</m:t>
                              </m:r>
                            </m:e>
                            <m:sup>
                              <m:r>
                                <a:rPr lang="en-US" i="1">
                                  <a:effectLst/>
                                  <a:latin typeface="Cambria Math" panose="02040503050406030204" pitchFamily="18" charset="0"/>
                                  <a:ea typeface="Calibri" panose="020F0502020204030204" pitchFamily="34" charset="0"/>
                                  <a:cs typeface="Calibri Light" panose="020F0302020204030204" pitchFamily="34" charset="0"/>
                                </a:rPr>
                                <m:t>′</m:t>
                              </m:r>
                            </m:sup>
                          </m:sSup>
                        </m:sup>
                      </m:sSubSup>
                    </m:oMath>
                  </m:oMathPara>
                </a14:m>
                <a:endParaRPr lang="en-US" dirty="0">
                  <a:effectLst/>
                  <a:ea typeface="Calibri" panose="020F0502020204030204" pitchFamily="34" charset="0"/>
                </a:endParaRPr>
              </a:p>
              <a:p>
                <a:pPr>
                  <a:spcAft>
                    <a:spcPts val="1200"/>
                  </a:spcAft>
                </a:pPr>
                <a:r>
                  <a:rPr lang="en-US" dirty="0">
                    <a:effectLst/>
                    <a:ea typeface="Calibri" panose="020F0502020204030204" pitchFamily="34" charset="0"/>
                  </a:rPr>
                  <a:t>where </a:t>
                </a:r>
                <a14:m>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𝐶</m:t>
                        </m:r>
                      </m:e>
                      <m:sub>
                        <m:r>
                          <a:rPr lang="en-US" i="1">
                            <a:effectLst/>
                            <a:latin typeface="Cambria Math" panose="02040503050406030204" pitchFamily="18" charset="0"/>
                            <a:ea typeface="Calibri" panose="020F0502020204030204" pitchFamily="34" charset="0"/>
                            <a:cs typeface="Calibri Light" panose="020F0302020204030204" pitchFamily="34" charset="0"/>
                          </a:rPr>
                          <m:t>𝜇</m:t>
                        </m:r>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𝜇</m:t>
                            </m:r>
                          </m:e>
                          <m:sup>
                            <m:r>
                              <a:rPr lang="en-US" i="1">
                                <a:effectLst/>
                                <a:latin typeface="Cambria Math" panose="02040503050406030204" pitchFamily="18" charset="0"/>
                                <a:ea typeface="Calibri" panose="020F0502020204030204" pitchFamily="34" charset="0"/>
                                <a:cs typeface="Calibri Light" panose="020F0302020204030204" pitchFamily="34" charset="0"/>
                              </a:rPr>
                              <m:t>′</m:t>
                            </m:r>
                          </m:sup>
                        </m:sSup>
                      </m:sub>
                    </m:sSub>
                    <m:r>
                      <a:rPr lang="en-US">
                        <a:effectLst/>
                        <a:latin typeface="Cambria Math" panose="02040503050406030204" pitchFamily="18" charset="0"/>
                        <a:ea typeface="Calibri" panose="020F0502020204030204" pitchFamily="34" charset="0"/>
                        <a:cs typeface="Calibri Light" panose="020F0302020204030204" pitchFamily="34" charset="0"/>
                      </a:rPr>
                      <m:t>=</m:t>
                    </m:r>
                    <m:f>
                      <m:fPr>
                        <m:ctrlPr>
                          <a:rPr lang="en-US" i="1">
                            <a:effectLst/>
                            <a:latin typeface="Cambria Math" panose="02040503050406030204" pitchFamily="18" charset="0"/>
                            <a:ea typeface="Calibri" panose="020F0502020204030204" pitchFamily="34" charset="0"/>
                            <a:cs typeface="Calibri Light" panose="020F0302020204030204" pitchFamily="34" charset="0"/>
                          </a:rPr>
                        </m:ctrlPr>
                      </m:fPr>
                      <m:num>
                        <m:r>
                          <a:rPr lang="en-US">
                            <a:effectLst/>
                            <a:latin typeface="Cambria Math" panose="02040503050406030204" pitchFamily="18" charset="0"/>
                            <a:ea typeface="Calibri" panose="020F0502020204030204" pitchFamily="34" charset="0"/>
                            <a:cs typeface="Calibri Light" panose="020F0302020204030204" pitchFamily="34" charset="0"/>
                          </a:rPr>
                          <m:t>1</m:t>
                        </m:r>
                      </m:num>
                      <m:den>
                        <m:r>
                          <a:rPr lang="en-US" i="1">
                            <a:effectLst/>
                            <a:latin typeface="Cambria Math" panose="02040503050406030204" pitchFamily="18" charset="0"/>
                            <a:ea typeface="Calibri" panose="020F0502020204030204" pitchFamily="34" charset="0"/>
                            <a:cs typeface="Calibri Light" panose="020F0302020204030204" pitchFamily="34" charset="0"/>
                          </a:rPr>
                          <m:t>𝑛</m:t>
                        </m:r>
                      </m:den>
                    </m:f>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a:effectLst/>
                            <a:latin typeface="Cambria Math" panose="02040503050406030204" pitchFamily="18" charset="0"/>
                            <a:ea typeface="Calibri" panose="020F0502020204030204" pitchFamily="34" charset="0"/>
                            <a:cs typeface="Calibri Light" panose="020F0302020204030204" pitchFamily="34" charset="0"/>
                          </a:rPr>
                          <m:t>∑</m:t>
                        </m:r>
                      </m:e>
                      <m:sub>
                        <m:r>
                          <a:rPr lang="en-US" i="1">
                            <a:effectLst/>
                            <a:latin typeface="Cambria Math" panose="02040503050406030204" pitchFamily="18" charset="0"/>
                            <a:ea typeface="Calibri" panose="020F0502020204030204" pitchFamily="34" charset="0"/>
                            <a:cs typeface="Calibri Light" panose="020F0302020204030204" pitchFamily="34" charset="0"/>
                          </a:rPr>
                          <m:t>𝑘</m:t>
                        </m:r>
                        <m:r>
                          <a:rPr lang="en-US">
                            <a:effectLst/>
                            <a:latin typeface="Cambria Math" panose="02040503050406030204" pitchFamily="18" charset="0"/>
                            <a:ea typeface="Calibri" panose="020F0502020204030204" pitchFamily="34" charset="0"/>
                            <a:cs typeface="Calibri Light" panose="020F0302020204030204" pitchFamily="34" charset="0"/>
                          </a:rPr>
                          <m:t>=1</m:t>
                        </m:r>
                      </m:sub>
                      <m:sup>
                        <m:r>
                          <a:rPr lang="en-US" i="1">
                            <a:effectLst/>
                            <a:latin typeface="Cambria Math" panose="02040503050406030204" pitchFamily="18" charset="0"/>
                            <a:ea typeface="Calibri" panose="020F0502020204030204" pitchFamily="34" charset="0"/>
                            <a:cs typeface="Calibri Light" panose="020F0302020204030204" pitchFamily="34" charset="0"/>
                          </a:rPr>
                          <m:t>𝑛</m:t>
                        </m:r>
                      </m:sup>
                    </m:sSubSup>
                    <m:r>
                      <a:rPr lang="en-US">
                        <a:effectLst/>
                        <a:latin typeface="Cambria Math" panose="02040503050406030204" pitchFamily="18" charset="0"/>
                        <a:ea typeface="Calibri" panose="020F0502020204030204" pitchFamily="34" charset="0"/>
                        <a:cs typeface="Calibri Light" panose="020F0302020204030204" pitchFamily="34" charset="0"/>
                      </a:rPr>
                      <m:t> </m:t>
                    </m:r>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𝜉</m:t>
                        </m:r>
                      </m:e>
                      <m:sub>
                        <m:r>
                          <a:rPr lang="en-US" i="1">
                            <a:effectLst/>
                            <a:latin typeface="Cambria Math" panose="02040503050406030204" pitchFamily="18" charset="0"/>
                            <a:ea typeface="Calibri" panose="020F0502020204030204" pitchFamily="34" charset="0"/>
                            <a:cs typeface="Calibri Light" panose="020F0302020204030204" pitchFamily="34" charset="0"/>
                          </a:rPr>
                          <m:t>𝑘</m:t>
                        </m:r>
                      </m:sub>
                      <m:sup>
                        <m:r>
                          <a:rPr lang="en-US" i="1">
                            <a:effectLst/>
                            <a:latin typeface="Cambria Math" panose="02040503050406030204" pitchFamily="18" charset="0"/>
                            <a:ea typeface="Calibri" panose="020F0502020204030204" pitchFamily="34" charset="0"/>
                            <a:cs typeface="Calibri Light" panose="020F0302020204030204" pitchFamily="34" charset="0"/>
                          </a:rPr>
                          <m:t>𝜇</m:t>
                        </m:r>
                      </m:sup>
                    </m:sSubSup>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𝜉</m:t>
                        </m:r>
                      </m:e>
                      <m:sub>
                        <m:r>
                          <a:rPr lang="en-US" i="1">
                            <a:effectLst/>
                            <a:latin typeface="Cambria Math" panose="02040503050406030204" pitchFamily="18" charset="0"/>
                            <a:ea typeface="Calibri" panose="020F0502020204030204" pitchFamily="34" charset="0"/>
                            <a:cs typeface="Calibri Light" panose="020F0302020204030204" pitchFamily="34" charset="0"/>
                          </a:rPr>
                          <m:t>𝑘</m:t>
                        </m:r>
                      </m:sub>
                      <m:sup>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𝜇</m:t>
                            </m:r>
                          </m:e>
                          <m:sup>
                            <m:r>
                              <a:rPr lang="en-US" i="1">
                                <a:effectLst/>
                                <a:latin typeface="Cambria Math" panose="02040503050406030204" pitchFamily="18" charset="0"/>
                                <a:ea typeface="Calibri" panose="020F0502020204030204" pitchFamily="34" charset="0"/>
                                <a:cs typeface="Calibri Light" panose="020F0302020204030204" pitchFamily="34" charset="0"/>
                              </a:rPr>
                              <m:t>′</m:t>
                            </m:r>
                          </m:sup>
                        </m:sSup>
                      </m:sup>
                    </m:sSubSup>
                  </m:oMath>
                </a14:m>
                <a:r>
                  <a:rPr lang="en-US" dirty="0">
                    <a:effectLst/>
                    <a:ea typeface="Calibri" panose="020F0502020204030204" pitchFamily="34" charset="0"/>
                  </a:rPr>
                  <a:t> is the covariance matrix and </a:t>
                </a:r>
                <a14:m>
                  <m:oMath xmlns:m="http://schemas.openxmlformats.org/officeDocument/2006/math">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𝐶</m:t>
                        </m:r>
                      </m:e>
                      <m:sup>
                        <m:r>
                          <a:rPr lang="en-US" i="1">
                            <a:effectLst/>
                            <a:latin typeface="Cambria Math" panose="02040503050406030204" pitchFamily="18" charset="0"/>
                            <a:ea typeface="Calibri" panose="020F0502020204030204" pitchFamily="34" charset="0"/>
                            <a:cs typeface="Calibri Light" panose="020F0302020204030204" pitchFamily="34" charset="0"/>
                          </a:rPr>
                          <m:t>−</m:t>
                        </m:r>
                        <m:r>
                          <a:rPr lang="en-US">
                            <a:effectLst/>
                            <a:latin typeface="Cambria Math" panose="02040503050406030204" pitchFamily="18" charset="0"/>
                            <a:ea typeface="Calibri" panose="020F0502020204030204" pitchFamily="34" charset="0"/>
                            <a:cs typeface="Calibri Light" panose="020F0302020204030204" pitchFamily="34" charset="0"/>
                          </a:rPr>
                          <m:t>1</m:t>
                        </m:r>
                      </m:sup>
                    </m:sSup>
                  </m:oMath>
                </a14:m>
                <a:r>
                  <a:rPr lang="en-US" dirty="0">
                    <a:effectLst/>
                    <a:ea typeface="Calibri" panose="020F0502020204030204" pitchFamily="34" charset="0"/>
                  </a:rPr>
                  <a:t> is the inverse of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𝐶</m:t>
                    </m:r>
                  </m:oMath>
                </a14:m>
                <a:r>
                  <a:rPr lang="en-US" dirty="0">
                    <a:effectLst/>
                    <a:ea typeface="Calibri" panose="020F0502020204030204" pitchFamily="34" charset="0"/>
                  </a:rPr>
                  <a:t>. </a:t>
                </a:r>
              </a:p>
            </p:txBody>
          </p:sp>
        </mc:Choice>
        <mc:Fallback xmlns="">
          <p:sp>
            <p:nvSpPr>
              <p:cNvPr id="5" name="CasellaDiTesto 4">
                <a:extLst>
                  <a:ext uri="{FF2B5EF4-FFF2-40B4-BE49-F238E27FC236}">
                    <a16:creationId xmlns:a16="http://schemas.microsoft.com/office/drawing/2014/main" id="{DEF79A34-ABA5-4565-A064-EEC822A05D1E}"/>
                  </a:ext>
                </a:extLst>
              </p:cNvPr>
              <p:cNvSpPr txBox="1">
                <a:spLocks noRot="1" noChangeAspect="1" noMove="1" noResize="1" noEditPoints="1" noAdjustHandles="1" noChangeArrowheads="1" noChangeShapeType="1" noTextEdit="1"/>
              </p:cNvSpPr>
              <p:nvPr/>
            </p:nvSpPr>
            <p:spPr>
              <a:xfrm>
                <a:off x="40640" y="769441"/>
                <a:ext cx="12110720" cy="5976957"/>
              </a:xfrm>
              <a:prstGeom prst="rect">
                <a:avLst/>
              </a:prstGeom>
              <a:blipFill>
                <a:blip r:embed="rId3"/>
                <a:stretch>
                  <a:fillRect l="-453" t="-510"/>
                </a:stretch>
              </a:blipFill>
            </p:spPr>
            <p:txBody>
              <a:bodyPr/>
              <a:lstStyle/>
              <a:p>
                <a:r>
                  <a:rPr lang="en-US">
                    <a:noFill/>
                  </a:rPr>
                  <a:t> </a:t>
                </a:r>
              </a:p>
            </p:txBody>
          </p:sp>
        </mc:Fallback>
      </mc:AlternateContent>
    </p:spTree>
    <p:extLst>
      <p:ext uri="{BB962C8B-B14F-4D97-AF65-F5344CB8AC3E}">
        <p14:creationId xmlns:p14="http://schemas.microsoft.com/office/powerpoint/2010/main" val="472110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E057F852-2BAF-4CB2-B717-40957D60B4CE}"/>
              </a:ext>
            </a:extLst>
          </p:cNvPr>
          <p:cNvSpPr txBox="1"/>
          <p:nvPr/>
        </p:nvSpPr>
        <p:spPr>
          <a:xfrm>
            <a:off x="5080279" y="638437"/>
            <a:ext cx="8190271" cy="769441"/>
          </a:xfrm>
          <a:prstGeom prst="rect">
            <a:avLst/>
          </a:prstGeom>
          <a:noFill/>
        </p:spPr>
        <p:txBody>
          <a:bodyPr wrap="square" rtlCol="0">
            <a:spAutoFit/>
          </a:bodyPr>
          <a:lstStyle/>
          <a:p>
            <a:r>
              <a:rPr lang="it-IT" sz="4400" dirty="0">
                <a:solidFill>
                  <a:schemeClr val="accent1">
                    <a:lumMod val="50000"/>
                  </a:schemeClr>
                </a:solidFill>
                <a:latin typeface="+mj-lt"/>
              </a:rPr>
              <a:t>New Rule</a:t>
            </a:r>
            <a:endParaRPr lang="en-US" sz="4400" dirty="0">
              <a:solidFill>
                <a:schemeClr val="accent1">
                  <a:lumMod val="50000"/>
                </a:schemeClr>
              </a:solidFill>
              <a:latin typeface="+mj-lt"/>
            </a:endParaRPr>
          </a:p>
        </p:txBody>
      </p:sp>
      <p:pic>
        <p:nvPicPr>
          <p:cNvPr id="1026" name="Picture 2" descr="hardmaru on Twitter: &amp;quot;Self-attention mechanism can be viewed as the update  rule of a Hopfield network with continuous states. Deep learning models can  take advantage of Hopfield networks as a powerful concept">
            <a:extLst>
              <a:ext uri="{FF2B5EF4-FFF2-40B4-BE49-F238E27FC236}">
                <a16:creationId xmlns:a16="http://schemas.microsoft.com/office/drawing/2014/main" id="{E90B6AB2-3384-42D9-B4CB-4DD04A3491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2760" y="1511106"/>
            <a:ext cx="6309360" cy="342085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89F3A6D9-4101-4F1D-9688-F0ECE4E71E08}"/>
                  </a:ext>
                </a:extLst>
              </p:cNvPr>
              <p:cNvSpPr txBox="1"/>
              <p:nvPr/>
            </p:nvSpPr>
            <p:spPr>
              <a:xfrm>
                <a:off x="685800" y="4931962"/>
                <a:ext cx="10820400" cy="1653658"/>
              </a:xfrm>
              <a:prstGeom prst="rect">
                <a:avLst/>
              </a:prstGeom>
              <a:noFill/>
            </p:spPr>
            <p:txBody>
              <a:bodyPr wrap="square">
                <a:spAutoFit/>
              </a:bodyPr>
              <a:lstStyle/>
              <a:p>
                <a:pPr>
                  <a:lnSpc>
                    <a:spcPts val="1200"/>
                  </a:lnSpc>
                  <a:spcAft>
                    <a:spcPts val="1200"/>
                  </a:spcAft>
                </a:pPr>
                <a:r>
                  <a:rPr lang="en-US" sz="1800" dirty="0">
                    <a:effectLst/>
                    <a:ea typeface="Calibri" panose="020F0502020204030204" pitchFamily="34" charset="0"/>
                    <a:cs typeface="Times New Roman" panose="02020603050405020304" pitchFamily="18" charset="0"/>
                  </a:rPr>
                  <a:t>The new energy function of new rule is defined as:</a:t>
                </a:r>
              </a:p>
              <a:p>
                <a:pPr>
                  <a:lnSpc>
                    <a:spcPts val="1200"/>
                  </a:lnSpc>
                  <a:spcAft>
                    <a:spcPts val="1200"/>
                  </a:spcAft>
                </a:pPr>
                <a:endParaRPr lang="en-US" sz="1800" dirty="0">
                  <a:effectLst/>
                  <a:ea typeface="Calibri" panose="020F0502020204030204" pitchFamily="34" charset="0"/>
                  <a:cs typeface="Times New Roman" panose="02020603050405020304" pitchFamily="18" charset="0"/>
                </a:endParaRPr>
              </a:p>
              <a:p>
                <a:pPr>
                  <a:lnSpc>
                    <a:spcPts val="1200"/>
                  </a:lnSpc>
                  <a:spcAft>
                    <a:spcPts val="1200"/>
                  </a:spcAft>
                </a:pPr>
                <a14:m>
                  <m:oMathPara xmlns:m="http://schemas.openxmlformats.org/officeDocument/2006/math">
                    <m:oMathParaPr>
                      <m:jc m:val="centerGroup"/>
                    </m:oMathParaPr>
                    <m:oMath xmlns:m="http://schemas.openxmlformats.org/officeDocument/2006/math">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E</m:t>
                      </m:r>
                      <m:r>
                        <a:rPr lang="en-US" sz="1800">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lse</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𝛽</m:t>
                          </m:r>
                          <m:r>
                            <a:rPr lang="en-US" sz="1800">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𝑿</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p>
                          <m:r>
                            <a:rPr lang="en-US" sz="1800" b="1" i="1">
                              <a:effectLst/>
                              <a:latin typeface="Cambria Math" panose="02040503050406030204" pitchFamily="18" charset="0"/>
                              <a:ea typeface="Calibri" panose="020F0502020204030204" pitchFamily="34" charset="0"/>
                              <a:cs typeface="Times New Roman" panose="02020603050405020304" pitchFamily="18" charset="0"/>
                            </a:rPr>
                            <m:t>𝝃</m:t>
                          </m:r>
                        </m:e>
                      </m:d>
                      <m:r>
                        <a:rPr lang="en-US" sz="18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a:effectLst/>
                              <a:latin typeface="Cambria Math" panose="02040503050406030204" pitchFamily="18" charset="0"/>
                              <a:ea typeface="Calibri" panose="020F0502020204030204" pitchFamily="34" charset="0"/>
                              <a:cs typeface="Times New Roman" panose="02020603050405020304" pitchFamily="18" charset="0"/>
                            </a:rPr>
                            <m:t>2</m:t>
                          </m:r>
                        </m:den>
                      </m:f>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𝝃</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p>
                      <m:r>
                        <a:rPr lang="en-US" sz="1800" b="1" i="1">
                          <a:effectLst/>
                          <a:latin typeface="Cambria Math" panose="02040503050406030204" pitchFamily="18" charset="0"/>
                          <a:ea typeface="Calibri" panose="020F0502020204030204" pitchFamily="34" charset="0"/>
                          <a:cs typeface="Times New Roman" panose="02020603050405020304" pitchFamily="18" charset="0"/>
                        </a:rPr>
                        <m:t>𝝃</m:t>
                      </m:r>
                      <m:r>
                        <a:rPr lang="en-US" sz="1800">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𝛽</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a:effectLst/>
                              <a:latin typeface="Cambria Math" panose="02040503050406030204" pitchFamily="18" charset="0"/>
                              <a:ea typeface="Calibri" panose="020F0502020204030204" pitchFamily="34" charset="0"/>
                              <a:cs typeface="Times New Roman" panose="02020603050405020304" pitchFamily="18" charset="0"/>
                            </a:rPr>
                            <m:t>1</m:t>
                          </m:r>
                        </m:sup>
                      </m:sSup>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log</m:t>
                      </m:r>
                      <m:r>
                        <a:rPr lang="en-US" sz="1800">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𝑁</m:t>
                      </m:r>
                      <m:r>
                        <a:rPr lang="en-US" sz="18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a:effectLst/>
                              <a:latin typeface="Cambria Math" panose="02040503050406030204" pitchFamily="18" charset="0"/>
                              <a:ea typeface="Calibri" panose="020F0502020204030204" pitchFamily="34" charset="0"/>
                              <a:cs typeface="Times New Roman" panose="02020603050405020304" pitchFamily="18" charset="0"/>
                            </a:rPr>
                            <m:t>2</m:t>
                          </m:r>
                        </m:den>
                      </m:f>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𝑀</m:t>
                          </m:r>
                        </m:e>
                        <m:sup>
                          <m:r>
                            <a:rPr lang="en-US" sz="1800">
                              <a:effectLst/>
                              <a:latin typeface="Cambria Math" panose="02040503050406030204" pitchFamily="18" charset="0"/>
                              <a:ea typeface="Calibri" panose="020F0502020204030204" pitchFamily="34" charset="0"/>
                              <a:cs typeface="Times New Roman" panose="02020603050405020304" pitchFamily="18" charset="0"/>
                            </a:rPr>
                            <m:t>2</m:t>
                          </m:r>
                        </m:sup>
                      </m:sSup>
                    </m:oMath>
                  </m:oMathPara>
                </a14:m>
                <a:endParaRPr lang="en-US" sz="1800" dirty="0">
                  <a:effectLst/>
                  <a:ea typeface="Calibri" panose="020F0502020204030204" pitchFamily="34" charset="0"/>
                  <a:cs typeface="Times New Roman" panose="02020603050405020304" pitchFamily="18" charset="0"/>
                </a:endParaRPr>
              </a:p>
              <a:p>
                <a:pPr>
                  <a:lnSpc>
                    <a:spcPts val="1200"/>
                  </a:lnSpc>
                  <a:spcAft>
                    <a:spcPts val="1200"/>
                  </a:spcAft>
                </a:pPr>
                <a:endParaRPr lang="en-US" sz="1800" dirty="0">
                  <a:effectLst/>
                  <a:ea typeface="Calibri" panose="020F0502020204030204" pitchFamily="34" charset="0"/>
                  <a:cs typeface="Times New Roman" panose="02020603050405020304" pitchFamily="18" charset="0"/>
                </a:endParaRPr>
              </a:p>
              <a:p>
                <a:pPr>
                  <a:lnSpc>
                    <a:spcPts val="1200"/>
                  </a:lnSpc>
                  <a:spcAft>
                    <a:spcPts val="1200"/>
                  </a:spcAft>
                </a:pPr>
                <a:r>
                  <a:rPr lang="en-US" sz="1800" dirty="0">
                    <a:effectLst/>
                    <a:ea typeface="Calibri" panose="020F0502020204030204" pitchFamily="34" charset="0"/>
                    <a:cs typeface="Times New Roman" panose="02020603050405020304" pitchFamily="18" charset="0"/>
                  </a:rPr>
                  <a:t>which is constructed from </a:t>
                </a:r>
                <a14:m>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𝑁</m:t>
                    </m:r>
                  </m:oMath>
                </a14:m>
                <a:r>
                  <a:rPr lang="en-US" sz="1800" dirty="0">
                    <a:effectLst/>
                    <a:ea typeface="Calibri" panose="020F0502020204030204" pitchFamily="34" charset="0"/>
                    <a:cs typeface="Times New Roman" panose="02020603050405020304" pitchFamily="18" charset="0"/>
                  </a:rPr>
                  <a:t> stored patterns by the matrix </a:t>
                </a:r>
                <a14:m>
                  <m:oMath xmlns:m="http://schemas.openxmlformats.org/officeDocument/2006/math">
                    <m:r>
                      <a:rPr lang="en-US" sz="1800" b="1" i="1">
                        <a:effectLst/>
                        <a:latin typeface="Cambria Math" panose="02040503050406030204" pitchFamily="18" charset="0"/>
                        <a:ea typeface="Calibri" panose="020F0502020204030204" pitchFamily="34" charset="0"/>
                        <a:cs typeface="Times New Roman" panose="02020603050405020304" pitchFamily="18" charset="0"/>
                      </a:rPr>
                      <m:t>𝑿</m:t>
                    </m:r>
                    <m:r>
                      <a:rPr lang="en-US" sz="1800">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𝒙</m:t>
                            </m:r>
                          </m:e>
                          <m:sub>
                            <m:r>
                              <a:rPr lang="en-US" sz="1800">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18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𝒙</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𝑁</m:t>
                            </m:r>
                          </m:sub>
                        </m:sSub>
                      </m:e>
                    </m:d>
                  </m:oMath>
                </a14:m>
                <a:r>
                  <a:rPr lang="en-US" sz="1800" dirty="0">
                    <a:effectLst/>
                    <a:ea typeface="Calibri" panose="020F0502020204030204" pitchFamily="34" charset="0"/>
                    <a:cs typeface="Times New Roman" panose="02020603050405020304" pitchFamily="18" charset="0"/>
                  </a:rPr>
                  <a:t>, where </a:t>
                </a:r>
                <a14:m>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𝑀</m:t>
                    </m:r>
                  </m:oMath>
                </a14:m>
                <a:r>
                  <a:rPr lang="en-US" sz="1800" dirty="0">
                    <a:effectLst/>
                    <a:ea typeface="Calibri" panose="020F0502020204030204" pitchFamily="34" charset="0"/>
                    <a:cs typeface="Times New Roman" panose="02020603050405020304" pitchFamily="18" charset="0"/>
                  </a:rPr>
                  <a:t> is the largest norm of all stored patterns.</a:t>
                </a:r>
              </a:p>
            </p:txBody>
          </p:sp>
        </mc:Choice>
        <mc:Fallback xmlns="">
          <p:sp>
            <p:nvSpPr>
              <p:cNvPr id="7" name="CasellaDiTesto 6">
                <a:extLst>
                  <a:ext uri="{FF2B5EF4-FFF2-40B4-BE49-F238E27FC236}">
                    <a16:creationId xmlns:a16="http://schemas.microsoft.com/office/drawing/2014/main" id="{89F3A6D9-4101-4F1D-9688-F0ECE4E71E08}"/>
                  </a:ext>
                </a:extLst>
              </p:cNvPr>
              <p:cNvSpPr txBox="1">
                <a:spLocks noRot="1" noChangeAspect="1" noMove="1" noResize="1" noEditPoints="1" noAdjustHandles="1" noChangeArrowheads="1" noChangeShapeType="1" noTextEdit="1"/>
              </p:cNvSpPr>
              <p:nvPr/>
            </p:nvSpPr>
            <p:spPr>
              <a:xfrm>
                <a:off x="685800" y="4931962"/>
                <a:ext cx="10820400" cy="1653658"/>
              </a:xfrm>
              <a:prstGeom prst="rect">
                <a:avLst/>
              </a:prstGeom>
              <a:blipFill>
                <a:blip r:embed="rId4"/>
                <a:stretch>
                  <a:fillRect l="-507" t="-7749" b="-5166"/>
                </a:stretch>
              </a:blipFill>
            </p:spPr>
            <p:txBody>
              <a:bodyPr/>
              <a:lstStyle/>
              <a:p>
                <a:r>
                  <a:rPr lang="en-US">
                    <a:noFill/>
                  </a:rPr>
                  <a:t> </a:t>
                </a:r>
              </a:p>
            </p:txBody>
          </p:sp>
        </mc:Fallback>
      </mc:AlternateContent>
    </p:spTree>
    <p:extLst>
      <p:ext uri="{BB962C8B-B14F-4D97-AF65-F5344CB8AC3E}">
        <p14:creationId xmlns:p14="http://schemas.microsoft.com/office/powerpoint/2010/main" val="3040617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3A15B47D-CDA9-4509-9367-7CD1ACD408B0}"/>
              </a:ext>
            </a:extLst>
          </p:cNvPr>
          <p:cNvSpPr txBox="1"/>
          <p:nvPr/>
        </p:nvSpPr>
        <p:spPr>
          <a:xfrm>
            <a:off x="2032000" y="3216459"/>
            <a:ext cx="8432800" cy="769441"/>
          </a:xfrm>
          <a:prstGeom prst="rect">
            <a:avLst/>
          </a:prstGeom>
          <a:noFill/>
        </p:spPr>
        <p:txBody>
          <a:bodyPr wrap="square" rtlCol="0">
            <a:spAutoFit/>
          </a:bodyPr>
          <a:lstStyle/>
          <a:p>
            <a:r>
              <a:rPr lang="it-IT" sz="4400" dirty="0">
                <a:solidFill>
                  <a:schemeClr val="accent1">
                    <a:lumMod val="50000"/>
                  </a:schemeClr>
                </a:solidFill>
                <a:latin typeface="+mj-lt"/>
              </a:rPr>
              <a:t>A </a:t>
            </a:r>
            <a:r>
              <a:rPr lang="it-IT" sz="4400" dirty="0" err="1">
                <a:solidFill>
                  <a:schemeClr val="accent1">
                    <a:lumMod val="50000"/>
                  </a:schemeClr>
                </a:solidFill>
                <a:latin typeface="+mj-lt"/>
              </a:rPr>
              <a:t>quest</a:t>
            </a:r>
            <a:r>
              <a:rPr lang="it-IT" sz="4400" dirty="0">
                <a:solidFill>
                  <a:schemeClr val="accent1">
                    <a:lumMod val="50000"/>
                  </a:schemeClr>
                </a:solidFill>
                <a:latin typeface="+mj-lt"/>
              </a:rPr>
              <a:t> for quantum </a:t>
            </a:r>
            <a:r>
              <a:rPr lang="it-IT" sz="4400" dirty="0" err="1">
                <a:solidFill>
                  <a:schemeClr val="accent1">
                    <a:lumMod val="50000"/>
                  </a:schemeClr>
                </a:solidFill>
                <a:latin typeface="+mj-lt"/>
              </a:rPr>
              <a:t>neural</a:t>
            </a:r>
            <a:r>
              <a:rPr lang="it-IT" sz="4400" dirty="0">
                <a:solidFill>
                  <a:schemeClr val="accent1">
                    <a:lumMod val="50000"/>
                  </a:schemeClr>
                </a:solidFill>
                <a:latin typeface="+mj-lt"/>
              </a:rPr>
              <a:t> network</a:t>
            </a:r>
            <a:endParaRPr lang="en-US" sz="4400" dirty="0">
              <a:solidFill>
                <a:schemeClr val="accent1">
                  <a:lumMod val="50000"/>
                </a:schemeClr>
              </a:solidFill>
              <a:latin typeface="+mj-lt"/>
            </a:endParaRPr>
          </a:p>
        </p:txBody>
      </p:sp>
    </p:spTree>
    <p:extLst>
      <p:ext uri="{BB962C8B-B14F-4D97-AF65-F5344CB8AC3E}">
        <p14:creationId xmlns:p14="http://schemas.microsoft.com/office/powerpoint/2010/main" val="26936009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28EA31BE-5307-48AA-BE72-453CBB7E3D50}"/>
              </a:ext>
            </a:extLst>
          </p:cNvPr>
          <p:cNvSpPr txBox="1"/>
          <p:nvPr/>
        </p:nvSpPr>
        <p:spPr>
          <a:xfrm>
            <a:off x="855406" y="894736"/>
            <a:ext cx="11198942" cy="769441"/>
          </a:xfrm>
          <a:prstGeom prst="rect">
            <a:avLst/>
          </a:prstGeom>
          <a:noFill/>
        </p:spPr>
        <p:txBody>
          <a:bodyPr wrap="square" rtlCol="0">
            <a:spAutoFit/>
          </a:bodyPr>
          <a:lstStyle/>
          <a:p>
            <a:r>
              <a:rPr lang="it-IT" sz="4400" dirty="0">
                <a:solidFill>
                  <a:schemeClr val="accent1">
                    <a:lumMod val="50000"/>
                  </a:schemeClr>
                </a:solidFill>
                <a:latin typeface="+mj-lt"/>
              </a:rPr>
              <a:t>Quantum computing and </a:t>
            </a:r>
            <a:r>
              <a:rPr lang="it-IT" sz="4400" dirty="0" err="1">
                <a:solidFill>
                  <a:schemeClr val="accent1">
                    <a:lumMod val="50000"/>
                  </a:schemeClr>
                </a:solidFill>
                <a:latin typeface="+mj-lt"/>
              </a:rPr>
              <a:t>exploited</a:t>
            </a:r>
            <a:r>
              <a:rPr lang="it-IT" sz="4400" dirty="0">
                <a:solidFill>
                  <a:schemeClr val="accent1">
                    <a:lumMod val="50000"/>
                  </a:schemeClr>
                </a:solidFill>
                <a:latin typeface="+mj-lt"/>
              </a:rPr>
              <a:t> </a:t>
            </a:r>
            <a:r>
              <a:rPr lang="it-IT" sz="4400" dirty="0" err="1">
                <a:solidFill>
                  <a:schemeClr val="accent1">
                    <a:lumMod val="50000"/>
                  </a:schemeClr>
                </a:solidFill>
                <a:latin typeface="+mj-lt"/>
              </a:rPr>
              <a:t>principles</a:t>
            </a:r>
            <a:endParaRPr lang="en-US" sz="4400" dirty="0">
              <a:solidFill>
                <a:schemeClr val="accent1">
                  <a:lumMod val="50000"/>
                </a:schemeClr>
              </a:solidFill>
              <a:latin typeface="+mj-lt"/>
            </a:endParaRPr>
          </a:p>
        </p:txBody>
      </p:sp>
      <p:sp>
        <p:nvSpPr>
          <p:cNvPr id="5" name="CasellaDiTesto 4">
            <a:extLst>
              <a:ext uri="{FF2B5EF4-FFF2-40B4-BE49-F238E27FC236}">
                <a16:creationId xmlns:a16="http://schemas.microsoft.com/office/drawing/2014/main" id="{2C063C79-E5AC-406D-B566-93AC04FDAE8B}"/>
              </a:ext>
            </a:extLst>
          </p:cNvPr>
          <p:cNvSpPr txBox="1"/>
          <p:nvPr/>
        </p:nvSpPr>
        <p:spPr>
          <a:xfrm>
            <a:off x="3048000" y="2830162"/>
            <a:ext cx="6096000" cy="3133102"/>
          </a:xfrm>
          <a:prstGeom prst="rect">
            <a:avLst/>
          </a:prstGeom>
          <a:noFill/>
        </p:spPr>
        <p:txBody>
          <a:bodyPr wrap="square">
            <a:spAutoFit/>
          </a:bodyPr>
          <a:lstStyle/>
          <a:p>
            <a:r>
              <a:rPr lang="en-US" sz="3200" dirty="0">
                <a:effectLst/>
                <a:ea typeface="Calibri" panose="020F0502020204030204" pitchFamily="34" charset="0"/>
              </a:rPr>
              <a:t>Exploited quantum phenomena</a:t>
            </a:r>
          </a:p>
          <a:p>
            <a:pPr marL="342900" lvl="0" indent="-342900">
              <a:lnSpc>
                <a:spcPct val="107000"/>
              </a:lnSpc>
              <a:buFont typeface="Calibri" panose="020F0502020204030204" pitchFamily="34" charset="0"/>
              <a:buChar char="-"/>
            </a:pPr>
            <a:r>
              <a:rPr lang="en-US" sz="3200" dirty="0">
                <a:effectLst/>
                <a:ea typeface="Calibri" panose="020F0502020204030204" pitchFamily="34" charset="0"/>
                <a:cs typeface="Arial" panose="020B0604020202020204" pitchFamily="34" charset="0"/>
              </a:rPr>
              <a:t>Entanglement</a:t>
            </a:r>
          </a:p>
          <a:p>
            <a:pPr marL="342900" lvl="0" indent="-342900">
              <a:lnSpc>
                <a:spcPct val="107000"/>
              </a:lnSpc>
              <a:buFont typeface="Calibri" panose="020F0502020204030204" pitchFamily="34" charset="0"/>
              <a:buChar char="-"/>
            </a:pPr>
            <a:r>
              <a:rPr lang="en-US" sz="3200" dirty="0">
                <a:effectLst/>
                <a:ea typeface="Calibri" panose="020F0502020204030204" pitchFamily="34" charset="0"/>
                <a:cs typeface="Arial" panose="020B0604020202020204" pitchFamily="34" charset="0"/>
              </a:rPr>
              <a:t>Quantum parallelism</a:t>
            </a:r>
            <a:endParaRPr lang="en-US" sz="3200" dirty="0">
              <a:ea typeface="Calibri" panose="020F0502020204030204" pitchFamily="34" charset="0"/>
              <a:cs typeface="Arial" panose="020B0604020202020204" pitchFamily="34" charset="0"/>
            </a:endParaRPr>
          </a:p>
          <a:p>
            <a:pPr marL="342900" lvl="0" indent="-342900">
              <a:lnSpc>
                <a:spcPct val="107000"/>
              </a:lnSpc>
              <a:buFont typeface="Calibri" panose="020F0502020204030204" pitchFamily="34" charset="0"/>
              <a:buChar char="-"/>
            </a:pPr>
            <a:r>
              <a:rPr lang="en-US" sz="3200" dirty="0">
                <a:effectLst/>
                <a:ea typeface="Calibri" panose="020F0502020204030204" pitchFamily="34" charset="0"/>
                <a:cs typeface="Arial" panose="020B0604020202020204" pitchFamily="34" charset="0"/>
              </a:rPr>
              <a:t>Linear Operators</a:t>
            </a:r>
            <a:endParaRPr lang="en-US" sz="3200" dirty="0">
              <a:ea typeface="Calibri" panose="020F0502020204030204" pitchFamily="34" charset="0"/>
              <a:cs typeface="Arial" panose="020B0604020202020204" pitchFamily="34" charset="0"/>
            </a:endParaRPr>
          </a:p>
          <a:p>
            <a:pPr marL="342900" lvl="0" indent="-342900">
              <a:lnSpc>
                <a:spcPct val="107000"/>
              </a:lnSpc>
              <a:buFont typeface="Calibri" panose="020F0502020204030204" pitchFamily="34" charset="0"/>
              <a:buChar char="-"/>
            </a:pPr>
            <a:r>
              <a:rPr lang="en-US" sz="3200" dirty="0">
                <a:effectLst/>
                <a:ea typeface="Calibri" panose="020F0502020204030204" pitchFamily="34" charset="0"/>
                <a:cs typeface="Arial" panose="020B0604020202020204" pitchFamily="34" charset="0"/>
              </a:rPr>
              <a:t>Coherence and Decoherence</a:t>
            </a:r>
            <a:br>
              <a:rPr lang="en-US" sz="1800" dirty="0">
                <a:effectLst/>
                <a:latin typeface="Calibri Light" panose="020F0302020204030204" pitchFamily="34" charset="0"/>
                <a:ea typeface="Calibri" panose="020F0502020204030204" pitchFamily="34" charset="0"/>
                <a:cs typeface="Arial" panose="020B0604020202020204" pitchFamily="34" charset="0"/>
              </a:rPr>
            </a:b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5154106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28EA31BE-5307-48AA-BE72-453CBB7E3D50}"/>
              </a:ext>
            </a:extLst>
          </p:cNvPr>
          <p:cNvSpPr txBox="1"/>
          <p:nvPr/>
        </p:nvSpPr>
        <p:spPr>
          <a:xfrm>
            <a:off x="3490451" y="776748"/>
            <a:ext cx="7472516" cy="769441"/>
          </a:xfrm>
          <a:prstGeom prst="rect">
            <a:avLst/>
          </a:prstGeom>
          <a:noFill/>
        </p:spPr>
        <p:txBody>
          <a:bodyPr wrap="square" rtlCol="0">
            <a:spAutoFit/>
          </a:bodyPr>
          <a:lstStyle/>
          <a:p>
            <a:r>
              <a:rPr lang="it-IT" sz="4400" dirty="0">
                <a:solidFill>
                  <a:schemeClr val="accent1">
                    <a:lumMod val="50000"/>
                  </a:schemeClr>
                </a:solidFill>
                <a:latin typeface="+mj-lt"/>
              </a:rPr>
              <a:t>The </a:t>
            </a:r>
            <a:r>
              <a:rPr lang="it-IT" sz="4400" dirty="0" err="1">
                <a:solidFill>
                  <a:schemeClr val="accent1">
                    <a:lumMod val="50000"/>
                  </a:schemeClr>
                </a:solidFill>
                <a:latin typeface="+mj-lt"/>
              </a:rPr>
              <a:t>two</a:t>
            </a:r>
            <a:r>
              <a:rPr lang="it-IT" sz="4400" dirty="0">
                <a:solidFill>
                  <a:schemeClr val="accent1">
                    <a:lumMod val="50000"/>
                  </a:schemeClr>
                </a:solidFill>
                <a:latin typeface="+mj-lt"/>
              </a:rPr>
              <a:t> </a:t>
            </a:r>
            <a:r>
              <a:rPr lang="it-IT" sz="4400" dirty="0" err="1">
                <a:solidFill>
                  <a:schemeClr val="accent1">
                    <a:lumMod val="50000"/>
                  </a:schemeClr>
                </a:solidFill>
                <a:latin typeface="+mj-lt"/>
              </a:rPr>
              <a:t>paradygms</a:t>
            </a:r>
            <a:endParaRPr lang="en-US" sz="4400" dirty="0">
              <a:solidFill>
                <a:schemeClr val="accent1">
                  <a:lumMod val="50000"/>
                </a:schemeClr>
              </a:solidFill>
              <a:latin typeface="+mj-lt"/>
            </a:endParaRPr>
          </a:p>
        </p:txBody>
      </p:sp>
      <p:sp>
        <p:nvSpPr>
          <p:cNvPr id="5" name="CasellaDiTesto 4">
            <a:extLst>
              <a:ext uri="{FF2B5EF4-FFF2-40B4-BE49-F238E27FC236}">
                <a16:creationId xmlns:a16="http://schemas.microsoft.com/office/drawing/2014/main" id="{5DB16B89-4BE8-4AEA-B3C2-9C40C647EE15}"/>
              </a:ext>
            </a:extLst>
          </p:cNvPr>
          <p:cNvSpPr txBox="1"/>
          <p:nvPr/>
        </p:nvSpPr>
        <p:spPr>
          <a:xfrm>
            <a:off x="2082800" y="2845415"/>
            <a:ext cx="8229600" cy="2062103"/>
          </a:xfrm>
          <a:prstGeom prst="rect">
            <a:avLst/>
          </a:prstGeom>
          <a:noFill/>
        </p:spPr>
        <p:txBody>
          <a:bodyPr wrap="square">
            <a:spAutoFit/>
          </a:bodyPr>
          <a:lstStyle/>
          <a:p>
            <a:r>
              <a:rPr lang="en-US" sz="3200" dirty="0">
                <a:effectLst/>
                <a:ea typeface="Calibri" panose="020F0502020204030204" pitchFamily="34" charset="0"/>
              </a:rPr>
              <a:t>there are two main distinct quantum computing paradigms </a:t>
            </a:r>
          </a:p>
          <a:p>
            <a:pPr marL="285750" indent="-285750">
              <a:buFontTx/>
              <a:buChar char="-"/>
            </a:pPr>
            <a:r>
              <a:rPr lang="en-US" sz="3200" dirty="0">
                <a:effectLst/>
                <a:ea typeface="Calibri" panose="020F0502020204030204" pitchFamily="34" charset="0"/>
                <a:cs typeface="Arial" panose="020B0604020202020204" pitchFamily="34" charset="0"/>
              </a:rPr>
              <a:t>quantum gate computing</a:t>
            </a:r>
          </a:p>
          <a:p>
            <a:pPr marL="285750" indent="-285750">
              <a:buFontTx/>
              <a:buChar char="-"/>
            </a:pPr>
            <a:r>
              <a:rPr lang="en-US" sz="3200" dirty="0">
                <a:effectLst/>
                <a:ea typeface="Calibri" panose="020F0502020204030204" pitchFamily="34" charset="0"/>
                <a:cs typeface="Arial" panose="020B0604020202020204" pitchFamily="34" charset="0"/>
              </a:rPr>
              <a:t>adiabatic quantum computing</a:t>
            </a:r>
          </a:p>
        </p:txBody>
      </p:sp>
    </p:spTree>
    <p:extLst>
      <p:ext uri="{BB962C8B-B14F-4D97-AF65-F5344CB8AC3E}">
        <p14:creationId xmlns:p14="http://schemas.microsoft.com/office/powerpoint/2010/main" val="5579906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28EA31BE-5307-48AA-BE72-453CBB7E3D50}"/>
              </a:ext>
            </a:extLst>
          </p:cNvPr>
          <p:cNvSpPr txBox="1"/>
          <p:nvPr/>
        </p:nvSpPr>
        <p:spPr>
          <a:xfrm>
            <a:off x="3191551" y="267438"/>
            <a:ext cx="6843252" cy="769441"/>
          </a:xfrm>
          <a:prstGeom prst="rect">
            <a:avLst/>
          </a:prstGeom>
          <a:noFill/>
        </p:spPr>
        <p:txBody>
          <a:bodyPr wrap="square" rtlCol="0">
            <a:spAutoFit/>
          </a:bodyPr>
          <a:lstStyle/>
          <a:p>
            <a:r>
              <a:rPr lang="it-IT" sz="4400" dirty="0">
                <a:solidFill>
                  <a:schemeClr val="accent1">
                    <a:lumMod val="50000"/>
                  </a:schemeClr>
                </a:solidFill>
                <a:latin typeface="+mj-lt"/>
              </a:rPr>
              <a:t>AQO a bit more in </a:t>
            </a:r>
            <a:r>
              <a:rPr lang="it-IT" sz="4400" dirty="0" err="1">
                <a:solidFill>
                  <a:schemeClr val="accent1">
                    <a:lumMod val="50000"/>
                  </a:schemeClr>
                </a:solidFill>
                <a:latin typeface="+mj-lt"/>
              </a:rPr>
              <a:t>detail</a:t>
            </a:r>
            <a:r>
              <a:rPr lang="it-IT" sz="4400" dirty="0">
                <a:solidFill>
                  <a:schemeClr val="accent1">
                    <a:lumMod val="50000"/>
                  </a:schemeClr>
                </a:solidFill>
                <a:latin typeface="+mj-lt"/>
              </a:rPr>
              <a:t> -1</a:t>
            </a:r>
            <a:endParaRPr lang="en-US" sz="4400" dirty="0">
              <a:solidFill>
                <a:schemeClr val="accent1">
                  <a:lumMod val="50000"/>
                </a:schemeClr>
              </a:solidFill>
              <a:latin typeface="+mj-lt"/>
            </a:endParaRPr>
          </a:p>
        </p:txBody>
      </p:sp>
      <p:pic>
        <p:nvPicPr>
          <p:cNvPr id="3" name="Immagine 2" descr="Immagine che contiene testo&#10;&#10;Descrizione generata automaticamente">
            <a:extLst>
              <a:ext uri="{FF2B5EF4-FFF2-40B4-BE49-F238E27FC236}">
                <a16:creationId xmlns:a16="http://schemas.microsoft.com/office/drawing/2014/main" id="{83F31BEC-CD36-414A-A7D7-0996EEBB7831}"/>
              </a:ext>
            </a:extLst>
          </p:cNvPr>
          <p:cNvPicPr>
            <a:picLocks noChangeAspect="1"/>
          </p:cNvPicPr>
          <p:nvPr/>
        </p:nvPicPr>
        <p:blipFill rotWithShape="1">
          <a:blip r:embed="rId2"/>
          <a:srcRect b="43725"/>
          <a:stretch/>
        </p:blipFill>
        <p:spPr bwMode="auto">
          <a:xfrm>
            <a:off x="599440" y="1200592"/>
            <a:ext cx="4267200" cy="2964180"/>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88C9EBDC-DDBE-4141-9067-06A7688C4BDF}"/>
                  </a:ext>
                </a:extLst>
              </p:cNvPr>
              <p:cNvSpPr txBox="1"/>
              <p:nvPr/>
            </p:nvSpPr>
            <p:spPr>
              <a:xfrm>
                <a:off x="5151120" y="1532128"/>
                <a:ext cx="7127240" cy="2632644"/>
              </a:xfrm>
              <a:prstGeom prst="rect">
                <a:avLst/>
              </a:prstGeom>
              <a:noFill/>
            </p:spPr>
            <p:txBody>
              <a:bodyPr wrap="square">
                <a:spAutoFit/>
              </a:bodyPr>
              <a:lstStyle/>
              <a:p>
                <a:r>
                  <a:rPr lang="en-US" dirty="0">
                    <a:effectLst/>
                    <a:ea typeface="Calibri" panose="020F0502020204030204" pitchFamily="34" charset="0"/>
                  </a:rPr>
                  <a:t>A quantum system evolves according to the Schrödinger equation</a:t>
                </a:r>
              </a:p>
              <a:p>
                <a:pPr>
                  <a:spcAft>
                    <a:spcPts val="1200"/>
                  </a:spcAft>
                </a:pPr>
                <a14:m>
                  <m:oMathPara xmlns:m="http://schemas.openxmlformats.org/officeDocument/2006/math">
                    <m:oMathParaPr>
                      <m:jc m:val="centerGroup"/>
                    </m:oMathParaPr>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𝑖</m:t>
                      </m:r>
                      <m:f>
                        <m:fPr>
                          <m:ctrlPr>
                            <a:rPr lang="en-US" i="1">
                              <a:effectLst/>
                              <a:latin typeface="Cambria Math" panose="02040503050406030204" pitchFamily="18" charset="0"/>
                              <a:ea typeface="Calibri" panose="020F0502020204030204" pitchFamily="34" charset="0"/>
                              <a:cs typeface="Calibri Light" panose="020F0302020204030204" pitchFamily="34" charset="0"/>
                            </a:rPr>
                          </m:ctrlPr>
                        </m:fPr>
                        <m:num>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d</m:t>
                          </m:r>
                        </m:num>
                        <m:den>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d</m:t>
                          </m:r>
                          <m:r>
                            <a:rPr lang="en-US" i="1">
                              <a:effectLst/>
                              <a:latin typeface="Cambria Math" panose="02040503050406030204" pitchFamily="18" charset="0"/>
                              <a:ea typeface="Calibri" panose="020F0502020204030204" pitchFamily="34" charset="0"/>
                              <a:cs typeface="Calibri Light" panose="020F0302020204030204" pitchFamily="34" charset="0"/>
                            </a:rPr>
                            <m:t>𝑡</m:t>
                          </m:r>
                        </m:den>
                      </m:f>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𝜓</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𝑡</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𝐻</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𝑡</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𝜓</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𝑡</m:t>
                      </m:r>
                      <m:r>
                        <a:rPr lang="en-US">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dirty="0">
                  <a:effectLst/>
                  <a:ea typeface="Calibri" panose="020F0502020204030204" pitchFamily="34" charset="0"/>
                </a:endParaRPr>
              </a:p>
              <a:p>
                <a:pPr>
                  <a:spcAft>
                    <a:spcPts val="1200"/>
                  </a:spcAft>
                </a:pPr>
                <a:r>
                  <a:rPr lang="en-US" dirty="0">
                    <a:effectLst/>
                    <a:ea typeface="Calibri" panose="020F0502020204030204" pitchFamily="34" charset="0"/>
                  </a:rPr>
                  <a:t>Consider family of Hamiltonians</a:t>
                </a:r>
              </a:p>
              <a:p>
                <a:pPr algn="ctr">
                  <a:spcAft>
                    <a:spcPts val="1200"/>
                  </a:spcAft>
                </a:pPr>
                <a:r>
                  <a:rPr lang="en-US" dirty="0">
                    <a:effectLst/>
                    <a:ea typeface="Calibri" panose="020F0502020204030204" pitchFamily="34" charset="0"/>
                  </a:rPr>
                  <a:t> </a:t>
                </a:r>
                <a14:m>
                  <m:oMath xmlns:m="http://schemas.openxmlformats.org/officeDocument/2006/math">
                    <m:acc>
                      <m:accPr>
                        <m: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accPr>
                      <m:e>
                        <m:r>
                          <a:rPr lang="en-US" i="1">
                            <a:effectLst/>
                            <a:latin typeface="Cambria Math" panose="02040503050406030204" pitchFamily="18" charset="0"/>
                            <a:ea typeface="Calibri" panose="020F0502020204030204" pitchFamily="34" charset="0"/>
                            <a:cs typeface="Calibri Light" panose="020F0302020204030204" pitchFamily="34" charset="0"/>
                          </a:rPr>
                          <m:t>𝐻</m:t>
                        </m:r>
                      </m:e>
                    </m:acc>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𝑠</m:t>
                    </m:r>
                    <m:r>
                      <a:rPr lang="en-US">
                        <a:effectLst/>
                        <a:latin typeface="Cambria Math" panose="02040503050406030204" pitchFamily="18" charset="0"/>
                        <a:ea typeface="Calibri" panose="020F0502020204030204" pitchFamily="34" charset="0"/>
                        <a:cs typeface="Calibri Light" panose="020F0302020204030204" pitchFamily="34" charset="0"/>
                      </a:rPr>
                      <m:t>),0≤</m:t>
                    </m:r>
                    <m:r>
                      <a:rPr lang="en-US" i="1">
                        <a:effectLst/>
                        <a:latin typeface="Cambria Math" panose="02040503050406030204" pitchFamily="18" charset="0"/>
                        <a:ea typeface="Calibri" panose="020F0502020204030204" pitchFamily="34" charset="0"/>
                        <a:cs typeface="Calibri Light" panose="020F0302020204030204" pitchFamily="34" charset="0"/>
                      </a:rPr>
                      <m:t>𝑠</m:t>
                    </m:r>
                    <m:r>
                      <a:rPr lang="en-US">
                        <a:effectLst/>
                        <a:latin typeface="Cambria Math" panose="02040503050406030204" pitchFamily="18" charset="0"/>
                        <a:ea typeface="Calibri" panose="020F0502020204030204" pitchFamily="34" charset="0"/>
                        <a:cs typeface="Calibri Light" panose="020F0302020204030204" pitchFamily="34" charset="0"/>
                      </a:rPr>
                      <m:t>≤1</m:t>
                    </m:r>
                  </m:oMath>
                </a14:m>
                <a:r>
                  <a:rPr lang="en-US" dirty="0">
                    <a:effectLst/>
                    <a:ea typeface="Calibri" panose="020F0502020204030204" pitchFamily="34" charset="0"/>
                  </a:rPr>
                  <a:t>ì</a:t>
                </a:r>
              </a:p>
              <a:p>
                <a:pPr>
                  <a:spcAft>
                    <a:spcPts val="1200"/>
                  </a:spcAft>
                </a:pPr>
                <a14:m>
                  <m:oMathPara xmlns:m="http://schemas.openxmlformats.org/officeDocument/2006/math">
                    <m:oMathParaPr>
                      <m:jc m:val="centerGroup"/>
                    </m:oMathParaPr>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𝐻</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𝑡</m:t>
                      </m:r>
                      <m:r>
                        <a:rPr lang="en-US">
                          <a:effectLst/>
                          <a:latin typeface="Cambria Math" panose="02040503050406030204" pitchFamily="18" charset="0"/>
                          <a:ea typeface="Calibri" panose="020F0502020204030204" pitchFamily="34" charset="0"/>
                          <a:cs typeface="Calibri Light" panose="020F0302020204030204" pitchFamily="34" charset="0"/>
                        </a:rPr>
                        <m:t>)=</m:t>
                      </m:r>
                      <m:acc>
                        <m:accPr>
                          <m: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accPr>
                        <m:e>
                          <m:r>
                            <a:rPr lang="en-US" i="1">
                              <a:effectLst/>
                              <a:latin typeface="Cambria Math" panose="02040503050406030204" pitchFamily="18" charset="0"/>
                              <a:ea typeface="Calibri" panose="020F0502020204030204" pitchFamily="34" charset="0"/>
                              <a:cs typeface="Calibri Light" panose="020F0302020204030204" pitchFamily="34" charset="0"/>
                            </a:rPr>
                            <m:t>𝐻</m:t>
                          </m:r>
                        </m:e>
                      </m:acc>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𝑡</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𝑇</m:t>
                      </m:r>
                      <m:r>
                        <a:rPr lang="en-US">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dirty="0">
                  <a:effectLst/>
                  <a:ea typeface="Calibri" panose="020F0502020204030204" pitchFamily="34" charset="0"/>
                </a:endParaRPr>
              </a:p>
              <a:p>
                <a:pPr>
                  <a:spcAft>
                    <a:spcPts val="1200"/>
                  </a:spcAft>
                </a:pPr>
                <a:endParaRPr lang="en-US" dirty="0">
                  <a:effectLst/>
                  <a:ea typeface="Calibri" panose="020F0502020204030204" pitchFamily="34" charset="0"/>
                </a:endParaRPr>
              </a:p>
            </p:txBody>
          </p:sp>
        </mc:Choice>
        <mc:Fallback xmlns="">
          <p:sp>
            <p:nvSpPr>
              <p:cNvPr id="5" name="CasellaDiTesto 4">
                <a:extLst>
                  <a:ext uri="{FF2B5EF4-FFF2-40B4-BE49-F238E27FC236}">
                    <a16:creationId xmlns:a16="http://schemas.microsoft.com/office/drawing/2014/main" id="{88C9EBDC-DDBE-4141-9067-06A7688C4BDF}"/>
                  </a:ext>
                </a:extLst>
              </p:cNvPr>
              <p:cNvSpPr txBox="1">
                <a:spLocks noRot="1" noChangeAspect="1" noMove="1" noResize="1" noEditPoints="1" noAdjustHandles="1" noChangeArrowheads="1" noChangeShapeType="1" noTextEdit="1"/>
              </p:cNvSpPr>
              <p:nvPr/>
            </p:nvSpPr>
            <p:spPr>
              <a:xfrm>
                <a:off x="5151120" y="1532128"/>
                <a:ext cx="7127240" cy="2632644"/>
              </a:xfrm>
              <a:prstGeom prst="rect">
                <a:avLst/>
              </a:prstGeom>
              <a:blipFill>
                <a:blip r:embed="rId4"/>
                <a:stretch>
                  <a:fillRect l="-684" t="-11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C497B35B-9B81-4EE4-A340-46CAC44F42BE}"/>
                  </a:ext>
                </a:extLst>
              </p:cNvPr>
              <p:cNvSpPr txBox="1"/>
              <p:nvPr/>
            </p:nvSpPr>
            <p:spPr>
              <a:xfrm>
                <a:off x="672690" y="4328485"/>
                <a:ext cx="10846620" cy="2099742"/>
              </a:xfrm>
              <a:prstGeom prst="rect">
                <a:avLst/>
              </a:prstGeom>
              <a:noFill/>
            </p:spPr>
            <p:txBody>
              <a:bodyPr wrap="square">
                <a:spAutoFit/>
              </a:bodyPr>
              <a:lstStyle/>
              <a:p>
                <a:pPr>
                  <a:spcAft>
                    <a:spcPts val="1200"/>
                  </a:spcAft>
                </a:pPr>
                <a:r>
                  <a:rPr lang="en-US" dirty="0">
                    <a:effectLst/>
                    <a:ea typeface="Calibri" panose="020F0502020204030204" pitchFamily="34" charset="0"/>
                  </a:rPr>
                  <a:t>Define the </a:t>
                </a:r>
                <a:r>
                  <a:rPr lang="en-US" dirty="0">
                    <a:solidFill>
                      <a:schemeClr val="accent1"/>
                    </a:solidFill>
                    <a:effectLst/>
                    <a:ea typeface="Calibri" panose="020F0502020204030204" pitchFamily="34" charset="0"/>
                  </a:rPr>
                  <a:t>instantaneous eigenstates </a:t>
                </a:r>
                <a:r>
                  <a:rPr lang="en-US" dirty="0">
                    <a:effectLst/>
                    <a:ea typeface="Calibri" panose="020F0502020204030204" pitchFamily="34" charset="0"/>
                  </a:rPr>
                  <a:t>and eigenvalues of </a:t>
                </a:r>
                <a14:m>
                  <m:oMath xmlns:m="http://schemas.openxmlformats.org/officeDocument/2006/math">
                    <m:acc>
                      <m:accPr>
                        <m: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accPr>
                      <m:e>
                        <m:r>
                          <a:rPr lang="en-US" i="1">
                            <a:effectLst/>
                            <a:latin typeface="Cambria Math" panose="02040503050406030204" pitchFamily="18" charset="0"/>
                            <a:ea typeface="Calibri" panose="020F0502020204030204" pitchFamily="34" charset="0"/>
                            <a:cs typeface="Calibri Light" panose="020F0302020204030204" pitchFamily="34" charset="0"/>
                          </a:rPr>
                          <m:t>𝐻</m:t>
                        </m:r>
                      </m:e>
                    </m:acc>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𝑠</m:t>
                    </m:r>
                    <m:r>
                      <a:rPr lang="en-US">
                        <a:effectLst/>
                        <a:latin typeface="Cambria Math" panose="02040503050406030204" pitchFamily="18" charset="0"/>
                        <a:ea typeface="Calibri" panose="020F0502020204030204" pitchFamily="34" charset="0"/>
                        <a:cs typeface="Calibri Light" panose="020F0302020204030204" pitchFamily="34" charset="0"/>
                      </a:rPr>
                      <m:t>)</m:t>
                    </m:r>
                  </m:oMath>
                </a14:m>
                <a:r>
                  <a:rPr lang="en-US" dirty="0">
                    <a:effectLst/>
                    <a:ea typeface="Calibri" panose="020F0502020204030204" pitchFamily="34" charset="0"/>
                  </a:rPr>
                  <a:t> by</a:t>
                </a:r>
              </a:p>
              <a:p>
                <a:pPr>
                  <a:spcAft>
                    <a:spcPts val="1200"/>
                  </a:spcAft>
                </a:pPr>
                <a14:m>
                  <m:oMathPara xmlns:m="http://schemas.openxmlformats.org/officeDocument/2006/math">
                    <m:oMathParaPr>
                      <m:jc m:val="centerGroup"/>
                    </m:oMathParaPr>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𝐻</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𝑠</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𝓁</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𝑠</m:t>
                      </m:r>
                      <m:r>
                        <a:rPr lang="en-US">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𝐸</m:t>
                          </m:r>
                        </m:e>
                        <m:sub>
                          <m:r>
                            <a:rPr lang="en-US" i="1">
                              <a:effectLst/>
                              <a:latin typeface="Cambria Math" panose="02040503050406030204" pitchFamily="18" charset="0"/>
                              <a:ea typeface="Calibri" panose="020F0502020204030204" pitchFamily="34" charset="0"/>
                              <a:cs typeface="Calibri Light" panose="020F0302020204030204" pitchFamily="34" charset="0"/>
                            </a:rPr>
                            <m:t>𝓁</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𝑠</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𝓁</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𝑠</m:t>
                      </m:r>
                      <m:r>
                        <a:rPr lang="en-US">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dirty="0">
                  <a:effectLst/>
                  <a:ea typeface="Calibri" panose="020F0502020204030204" pitchFamily="34" charset="0"/>
                </a:endParaRPr>
              </a:p>
              <a:p>
                <a:pPr>
                  <a:spcAft>
                    <a:spcPts val="1200"/>
                  </a:spcAft>
                </a:pPr>
                <a:r>
                  <a:rPr lang="en-US" dirty="0">
                    <a:effectLst/>
                    <a:ea typeface="Calibri" panose="020F0502020204030204" pitchFamily="34" charset="0"/>
                  </a:rPr>
                  <a:t>with</a:t>
                </a:r>
              </a:p>
              <a:p>
                <a:pPr>
                  <a:spcAft>
                    <a:spcPts val="1200"/>
                  </a:spcAft>
                </a:pPr>
                <a14:m>
                  <m:oMathPara xmlns:m="http://schemas.openxmlformats.org/officeDocument/2006/math">
                    <m:oMathParaPr>
                      <m:jc m:val="centerGroup"/>
                    </m:oMathParaPr>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𝐸</m:t>
                          </m:r>
                        </m:e>
                        <m:sub>
                          <m:r>
                            <a:rPr lang="en-US">
                              <a:effectLst/>
                              <a:latin typeface="Cambria Math" panose="02040503050406030204" pitchFamily="18" charset="0"/>
                              <a:ea typeface="Calibri" panose="020F0502020204030204" pitchFamily="34" charset="0"/>
                              <a:cs typeface="Calibri Light" panose="020F0302020204030204" pitchFamily="34" charset="0"/>
                            </a:rPr>
                            <m:t>0</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𝑠</m:t>
                      </m:r>
                      <m:r>
                        <a:rPr lang="en-US">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𝐸</m:t>
                          </m:r>
                        </m:e>
                        <m:sub>
                          <m:r>
                            <a:rPr lang="en-US">
                              <a:effectLst/>
                              <a:latin typeface="Cambria Math" panose="02040503050406030204" pitchFamily="18" charset="0"/>
                              <a:ea typeface="Calibri" panose="020F0502020204030204" pitchFamily="34" charset="0"/>
                              <a:cs typeface="Calibri Light" panose="020F0302020204030204" pitchFamily="34" charset="0"/>
                            </a:rPr>
                            <m:t>1</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𝑠</m:t>
                      </m:r>
                      <m:r>
                        <a:rPr lang="en-US">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𝐸</m:t>
                          </m:r>
                        </m:e>
                        <m:sub>
                          <m:r>
                            <a:rPr lang="en-US" i="1">
                              <a:effectLst/>
                              <a:latin typeface="Cambria Math" panose="02040503050406030204" pitchFamily="18" charset="0"/>
                              <a:ea typeface="Calibri" panose="020F0502020204030204" pitchFamily="34" charset="0"/>
                              <a:cs typeface="Calibri Light" panose="020F0302020204030204" pitchFamily="34" charset="0"/>
                            </a:rPr>
                            <m:t>𝑁</m:t>
                          </m:r>
                          <m:r>
                            <a:rPr lang="en-US" i="1">
                              <a:effectLst/>
                              <a:latin typeface="Cambria Math" panose="02040503050406030204" pitchFamily="18" charset="0"/>
                              <a:ea typeface="Calibri" panose="020F0502020204030204" pitchFamily="34" charset="0"/>
                              <a:cs typeface="Calibri Light" panose="020F0302020204030204" pitchFamily="34" charset="0"/>
                            </a:rPr>
                            <m:t>−</m:t>
                          </m:r>
                          <m:r>
                            <a:rPr lang="en-US">
                              <a:effectLst/>
                              <a:latin typeface="Cambria Math" panose="02040503050406030204" pitchFamily="18" charset="0"/>
                              <a:ea typeface="Calibri" panose="020F0502020204030204" pitchFamily="34" charset="0"/>
                              <a:cs typeface="Calibri Light" panose="020F0302020204030204" pitchFamily="34" charset="0"/>
                            </a:rPr>
                            <m:t>1</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𝑠</m:t>
                      </m:r>
                      <m:r>
                        <a:rPr lang="en-US">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dirty="0">
                  <a:effectLst/>
                  <a:ea typeface="Calibri" panose="020F0502020204030204" pitchFamily="34" charset="0"/>
                </a:endParaRPr>
              </a:p>
              <a:p>
                <a:pPr>
                  <a:spcAft>
                    <a:spcPts val="1200"/>
                  </a:spcAft>
                </a:pPr>
                <a:r>
                  <a:rPr lang="en-US" dirty="0">
                    <a:effectLst/>
                    <a:ea typeface="Calibri" panose="020F0502020204030204" pitchFamily="34" charset="0"/>
                  </a:rPr>
                  <a:t>where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𝑁</m:t>
                    </m:r>
                  </m:oMath>
                </a14:m>
                <a:r>
                  <a:rPr lang="en-US" dirty="0">
                    <a:effectLst/>
                    <a:ea typeface="Calibri" panose="020F0502020204030204" pitchFamily="34" charset="0"/>
                  </a:rPr>
                  <a:t> is the dimension of the Hilbert space. </a:t>
                </a:r>
              </a:p>
            </p:txBody>
          </p:sp>
        </mc:Choice>
        <mc:Fallback xmlns="">
          <p:sp>
            <p:nvSpPr>
              <p:cNvPr id="6" name="CasellaDiTesto 5">
                <a:extLst>
                  <a:ext uri="{FF2B5EF4-FFF2-40B4-BE49-F238E27FC236}">
                    <a16:creationId xmlns:a16="http://schemas.microsoft.com/office/drawing/2014/main" id="{C497B35B-9B81-4EE4-A340-46CAC44F42BE}"/>
                  </a:ext>
                </a:extLst>
              </p:cNvPr>
              <p:cNvSpPr txBox="1">
                <a:spLocks noRot="1" noChangeAspect="1" noMove="1" noResize="1" noEditPoints="1" noAdjustHandles="1" noChangeArrowheads="1" noChangeShapeType="1" noTextEdit="1"/>
              </p:cNvSpPr>
              <p:nvPr/>
            </p:nvSpPr>
            <p:spPr>
              <a:xfrm>
                <a:off x="672690" y="4328485"/>
                <a:ext cx="10846620" cy="2099742"/>
              </a:xfrm>
              <a:prstGeom prst="rect">
                <a:avLst/>
              </a:prstGeom>
              <a:blipFill>
                <a:blip r:embed="rId5"/>
                <a:stretch>
                  <a:fillRect l="-449" t="-1453" b="-3779"/>
                </a:stretch>
              </a:blipFill>
            </p:spPr>
            <p:txBody>
              <a:bodyPr/>
              <a:lstStyle/>
              <a:p>
                <a:r>
                  <a:rPr lang="en-US">
                    <a:noFill/>
                  </a:rPr>
                  <a:t> </a:t>
                </a:r>
              </a:p>
            </p:txBody>
          </p:sp>
        </mc:Fallback>
      </mc:AlternateContent>
    </p:spTree>
    <p:extLst>
      <p:ext uri="{BB962C8B-B14F-4D97-AF65-F5344CB8AC3E}">
        <p14:creationId xmlns:p14="http://schemas.microsoft.com/office/powerpoint/2010/main" val="21201149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3DF7CF25-8984-40F5-B6E0-D892BF152AE7}"/>
                  </a:ext>
                </a:extLst>
              </p:cNvPr>
              <p:cNvSpPr txBox="1"/>
              <p:nvPr/>
            </p:nvSpPr>
            <p:spPr>
              <a:xfrm>
                <a:off x="806246" y="1335058"/>
                <a:ext cx="10903975" cy="3404522"/>
              </a:xfrm>
              <a:prstGeom prst="rect">
                <a:avLst/>
              </a:prstGeom>
              <a:noFill/>
            </p:spPr>
            <p:txBody>
              <a:bodyPr wrap="square">
                <a:spAutoFit/>
              </a:bodyPr>
              <a:lstStyle/>
              <a:p>
                <a:pPr>
                  <a:spcAft>
                    <a:spcPts val="1200"/>
                  </a:spcAft>
                </a:pPr>
                <a:r>
                  <a:rPr lang="en-US" dirty="0">
                    <a:effectLst/>
                    <a:ea typeface="Calibri" panose="020F0502020204030204" pitchFamily="34" charset="0"/>
                  </a:rPr>
                  <a:t>Suppose </a:t>
                </a:r>
                <a14:m>
                  <m:oMath xmlns:m="http://schemas.openxmlformats.org/officeDocument/2006/math">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𝜓</m:t>
                    </m:r>
                    <m:r>
                      <a:rPr lang="en-US">
                        <a:effectLst/>
                        <a:latin typeface="Cambria Math" panose="02040503050406030204" pitchFamily="18" charset="0"/>
                        <a:ea typeface="Calibri" panose="020F0502020204030204" pitchFamily="34" charset="0"/>
                        <a:cs typeface="Calibri Light" panose="020F0302020204030204" pitchFamily="34" charset="0"/>
                      </a:rPr>
                      <m:t>(0)⟩</m:t>
                    </m:r>
                  </m:oMath>
                </a14:m>
                <a:r>
                  <a:rPr lang="en-US" dirty="0">
                    <a:effectLst/>
                    <a:ea typeface="Calibri" panose="020F0502020204030204" pitchFamily="34" charset="0"/>
                  </a:rPr>
                  <a:t> is the ground state of </a:t>
                </a:r>
                <a14:m>
                  <m:oMath xmlns:m="http://schemas.openxmlformats.org/officeDocument/2006/math">
                    <m:acc>
                      <m:accPr>
                        <m: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accPr>
                      <m:e>
                        <m:r>
                          <a:rPr lang="en-US" i="1">
                            <a:effectLst/>
                            <a:latin typeface="Cambria Math" panose="02040503050406030204" pitchFamily="18" charset="0"/>
                            <a:ea typeface="Calibri" panose="020F0502020204030204" pitchFamily="34" charset="0"/>
                            <a:cs typeface="Calibri Light" panose="020F0302020204030204" pitchFamily="34" charset="0"/>
                          </a:rPr>
                          <m:t>𝐻</m:t>
                        </m:r>
                      </m:e>
                    </m:acc>
                    <m:r>
                      <a:rPr lang="en-US">
                        <a:effectLst/>
                        <a:latin typeface="Cambria Math" panose="02040503050406030204" pitchFamily="18" charset="0"/>
                        <a:ea typeface="Calibri" panose="020F0502020204030204" pitchFamily="34" charset="0"/>
                        <a:cs typeface="Calibri Light" panose="020F0302020204030204" pitchFamily="34" charset="0"/>
                      </a:rPr>
                      <m:t>(0)</m:t>
                    </m:r>
                  </m:oMath>
                </a14:m>
                <a:r>
                  <a:rPr lang="en-US" dirty="0">
                    <a:effectLst/>
                    <a:ea typeface="Calibri" panose="020F0502020204030204" pitchFamily="34" charset="0"/>
                  </a:rPr>
                  <a:t>, that is,</a:t>
                </a:r>
              </a:p>
              <a:p>
                <a:pPr>
                  <a:spcAft>
                    <a:spcPts val="1200"/>
                  </a:spcAft>
                </a:pPr>
                <a14:m>
                  <m:oMathPara xmlns:m="http://schemas.openxmlformats.org/officeDocument/2006/math">
                    <m:oMathParaPr>
                      <m:jc m:val="centerGroup"/>
                    </m:oMathParaPr>
                    <m:oMath xmlns:m="http://schemas.openxmlformats.org/officeDocument/2006/math">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𝜓</m:t>
                      </m:r>
                      <m:r>
                        <a:rPr lang="en-US">
                          <a:effectLst/>
                          <a:latin typeface="Cambria Math" panose="02040503050406030204" pitchFamily="18" charset="0"/>
                          <a:ea typeface="Calibri" panose="020F0502020204030204" pitchFamily="34" charset="0"/>
                          <a:cs typeface="Calibri Light" panose="020F0302020204030204" pitchFamily="34" charset="0"/>
                        </a:rPr>
                        <m:t>(0)⟩=|</m:t>
                      </m:r>
                      <m:r>
                        <a:rPr lang="en-US" i="1">
                          <a:effectLst/>
                          <a:latin typeface="Cambria Math" panose="02040503050406030204" pitchFamily="18" charset="0"/>
                          <a:ea typeface="Calibri" panose="020F0502020204030204" pitchFamily="34" charset="0"/>
                          <a:cs typeface="Calibri Light" panose="020F0302020204030204" pitchFamily="34" charset="0"/>
                        </a:rPr>
                        <m:t>𝓁</m:t>
                      </m:r>
                      <m:r>
                        <a:rPr lang="en-US">
                          <a:effectLst/>
                          <a:latin typeface="Cambria Math" panose="02040503050406030204" pitchFamily="18" charset="0"/>
                          <a:ea typeface="Calibri" panose="020F0502020204030204" pitchFamily="34" charset="0"/>
                          <a:cs typeface="Calibri Light" panose="020F0302020204030204" pitchFamily="34" charset="0"/>
                        </a:rPr>
                        <m:t>=0;</m:t>
                      </m:r>
                      <m:r>
                        <a:rPr lang="en-US" i="1">
                          <a:effectLst/>
                          <a:latin typeface="Cambria Math" panose="02040503050406030204" pitchFamily="18" charset="0"/>
                          <a:ea typeface="Calibri" panose="020F0502020204030204" pitchFamily="34" charset="0"/>
                          <a:cs typeface="Calibri Light" panose="020F0302020204030204" pitchFamily="34" charset="0"/>
                        </a:rPr>
                        <m:t>𝑠</m:t>
                      </m:r>
                      <m:r>
                        <a:rPr lang="en-US">
                          <a:effectLst/>
                          <a:latin typeface="Cambria Math" panose="02040503050406030204" pitchFamily="18" charset="0"/>
                          <a:ea typeface="Calibri" panose="020F0502020204030204" pitchFamily="34" charset="0"/>
                          <a:cs typeface="Calibri Light" panose="020F0302020204030204" pitchFamily="34" charset="0"/>
                        </a:rPr>
                        <m:t>=0⟩</m:t>
                      </m:r>
                    </m:oMath>
                  </m:oMathPara>
                </a14:m>
                <a:endParaRPr lang="en-US" dirty="0">
                  <a:effectLst/>
                  <a:ea typeface="Calibri" panose="020F0502020204030204" pitchFamily="34" charset="0"/>
                </a:endParaRPr>
              </a:p>
              <a:p>
                <a:pPr>
                  <a:spcAft>
                    <a:spcPts val="1200"/>
                  </a:spcAft>
                </a:pPr>
                <a:r>
                  <a:rPr lang="en-US" dirty="0">
                    <a:effectLst/>
                    <a:ea typeface="Calibri" panose="020F0502020204030204" pitchFamily="34" charset="0"/>
                  </a:rPr>
                  <a:t>According to the adiabatic theorem, if the gap between the two lowest levels, </a:t>
                </a:r>
                <a14:m>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𝐸</m:t>
                        </m:r>
                      </m:e>
                      <m:sub>
                        <m:r>
                          <a:rPr lang="en-US">
                            <a:effectLst/>
                            <a:latin typeface="Cambria Math" panose="02040503050406030204" pitchFamily="18" charset="0"/>
                            <a:ea typeface="Calibri" panose="020F0502020204030204" pitchFamily="34" charset="0"/>
                            <a:cs typeface="Calibri Light" panose="020F0302020204030204" pitchFamily="34" charset="0"/>
                          </a:rPr>
                          <m:t>1</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𝑠</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𝐸</m:t>
                        </m:r>
                      </m:e>
                      <m:sub>
                        <m:r>
                          <a:rPr lang="en-US">
                            <a:effectLst/>
                            <a:latin typeface="Cambria Math" panose="02040503050406030204" pitchFamily="18" charset="0"/>
                            <a:ea typeface="Calibri" panose="020F0502020204030204" pitchFamily="34" charset="0"/>
                            <a:cs typeface="Calibri Light" panose="020F0302020204030204" pitchFamily="34" charset="0"/>
                          </a:rPr>
                          <m:t>0</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𝑠</m:t>
                    </m:r>
                    <m:r>
                      <a:rPr lang="en-US">
                        <a:effectLst/>
                        <a:latin typeface="Cambria Math" panose="02040503050406030204" pitchFamily="18" charset="0"/>
                        <a:ea typeface="Calibri" panose="020F0502020204030204" pitchFamily="34" charset="0"/>
                        <a:cs typeface="Calibri Light" panose="020F0302020204030204" pitchFamily="34" charset="0"/>
                      </a:rPr>
                      <m:t>)</m:t>
                    </m:r>
                  </m:oMath>
                </a14:m>
                <a:r>
                  <a:rPr lang="en-US" dirty="0">
                    <a:effectLst/>
                    <a:ea typeface="Calibri" panose="020F0502020204030204" pitchFamily="34" charset="0"/>
                  </a:rPr>
                  <a:t>, is strictly greater than zero for all </a:t>
                </a:r>
                <a14:m>
                  <m:oMath xmlns:m="http://schemas.openxmlformats.org/officeDocument/2006/math">
                    <m:r>
                      <a:rPr lang="en-US">
                        <a:effectLst/>
                        <a:latin typeface="Cambria Math" panose="02040503050406030204" pitchFamily="18" charset="0"/>
                        <a:ea typeface="Calibri" panose="020F0502020204030204" pitchFamily="34" charset="0"/>
                        <a:cs typeface="Calibri Light" panose="020F0302020204030204" pitchFamily="34" charset="0"/>
                      </a:rPr>
                      <m:t>0≤</m:t>
                    </m:r>
                    <m:r>
                      <a:rPr lang="en-US" i="1">
                        <a:effectLst/>
                        <a:latin typeface="Cambria Math" panose="02040503050406030204" pitchFamily="18" charset="0"/>
                        <a:ea typeface="Calibri" panose="020F0502020204030204" pitchFamily="34" charset="0"/>
                        <a:cs typeface="Calibri Light" panose="020F0302020204030204" pitchFamily="34" charset="0"/>
                      </a:rPr>
                      <m:t>𝑠</m:t>
                    </m:r>
                    <m:r>
                      <a:rPr lang="en-US">
                        <a:effectLst/>
                        <a:latin typeface="Cambria Math" panose="02040503050406030204" pitchFamily="18" charset="0"/>
                        <a:ea typeface="Calibri" panose="020F0502020204030204" pitchFamily="34" charset="0"/>
                        <a:cs typeface="Calibri Light" panose="020F0302020204030204" pitchFamily="34" charset="0"/>
                      </a:rPr>
                      <m:t>≤1</m:t>
                    </m:r>
                  </m:oMath>
                </a14:m>
                <a:r>
                  <a:rPr lang="en-US" dirty="0">
                    <a:effectLst/>
                    <a:ea typeface="Calibri" panose="020F0502020204030204" pitchFamily="34" charset="0"/>
                  </a:rPr>
                  <a:t>, then</a:t>
                </a:r>
              </a:p>
              <a:p>
                <a:pPr>
                  <a:spcAft>
                    <a:spcPts val="1200"/>
                  </a:spcAft>
                </a:pPr>
                <a14:m>
                  <m:oMathPara xmlns:m="http://schemas.openxmlformats.org/officeDocument/2006/math">
                    <m:oMathParaPr>
                      <m:jc m:val="centerGroup"/>
                    </m:oMathParaPr>
                    <m:oMath xmlns:m="http://schemas.openxmlformats.org/officeDocument/2006/math">
                      <m:limLow>
                        <m:limLowPr>
                          <m:ctrlPr>
                            <a:rPr lang="en-US" i="1">
                              <a:effectLst/>
                              <a:latin typeface="Cambria Math" panose="02040503050406030204" pitchFamily="18" charset="0"/>
                              <a:ea typeface="Calibri" panose="020F0502020204030204" pitchFamily="34" charset="0"/>
                              <a:cs typeface="Calibri Light" panose="020F0302020204030204" pitchFamily="34" charset="0"/>
                            </a:rPr>
                          </m:ctrlPr>
                        </m:limLowPr>
                        <m:e>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lim</m:t>
                          </m:r>
                        </m:e>
                        <m:lim>
                          <m:r>
                            <a:rPr lang="en-US" i="1">
                              <a:effectLst/>
                              <a:latin typeface="Cambria Math" panose="02040503050406030204" pitchFamily="18" charset="0"/>
                              <a:ea typeface="Calibri" panose="020F0502020204030204" pitchFamily="34" charset="0"/>
                              <a:cs typeface="Calibri Light" panose="020F0302020204030204" pitchFamily="34" charset="0"/>
                            </a:rPr>
                            <m:t>𝑇</m:t>
                          </m:r>
                          <m:r>
                            <a:rPr lang="en-US">
                              <a:effectLst/>
                              <a:latin typeface="Cambria Math" panose="02040503050406030204" pitchFamily="18" charset="0"/>
                              <a:ea typeface="Calibri" panose="020F0502020204030204" pitchFamily="34" charset="0"/>
                              <a:cs typeface="Calibri Light" panose="020F0302020204030204" pitchFamily="34" charset="0"/>
                            </a:rPr>
                            <m:t>→∞</m:t>
                          </m:r>
                        </m:lim>
                      </m:limLow>
                      <m:r>
                        <a:rPr lang="en-US">
                          <a:effectLst/>
                          <a:latin typeface="Cambria Math" panose="02040503050406030204" pitchFamily="18" charset="0"/>
                          <a:ea typeface="Calibri" panose="020F0502020204030204" pitchFamily="34" charset="0"/>
                          <a:cs typeface="Calibri Light" panose="020F0302020204030204" pitchFamily="34" charset="0"/>
                        </a:rPr>
                        <m:t> |⟨</m:t>
                      </m:r>
                      <m:r>
                        <a:rPr lang="en-US" i="1">
                          <a:effectLst/>
                          <a:latin typeface="Cambria Math" panose="02040503050406030204" pitchFamily="18" charset="0"/>
                          <a:ea typeface="Calibri" panose="020F0502020204030204" pitchFamily="34" charset="0"/>
                          <a:cs typeface="Calibri Light" panose="020F0302020204030204" pitchFamily="34" charset="0"/>
                        </a:rPr>
                        <m:t>𝓁</m:t>
                      </m:r>
                      <m:r>
                        <a:rPr lang="en-US">
                          <a:effectLst/>
                          <a:latin typeface="Cambria Math" panose="02040503050406030204" pitchFamily="18" charset="0"/>
                          <a:ea typeface="Calibri" panose="020F0502020204030204" pitchFamily="34" charset="0"/>
                          <a:cs typeface="Calibri Light" panose="020F0302020204030204" pitchFamily="34" charset="0"/>
                        </a:rPr>
                        <m:t>=0;</m:t>
                      </m:r>
                      <m:r>
                        <a:rPr lang="en-US" i="1">
                          <a:effectLst/>
                          <a:latin typeface="Cambria Math" panose="02040503050406030204" pitchFamily="18" charset="0"/>
                          <a:ea typeface="Calibri" panose="020F0502020204030204" pitchFamily="34" charset="0"/>
                          <a:cs typeface="Calibri Light" panose="020F0302020204030204" pitchFamily="34" charset="0"/>
                        </a:rPr>
                        <m:t>𝑠</m:t>
                      </m:r>
                      <m:r>
                        <a:rPr lang="en-US">
                          <a:effectLst/>
                          <a:latin typeface="Cambria Math" panose="02040503050406030204" pitchFamily="18" charset="0"/>
                          <a:ea typeface="Calibri" panose="020F0502020204030204" pitchFamily="34" charset="0"/>
                          <a:cs typeface="Calibri Light" panose="020F0302020204030204" pitchFamily="34" charset="0"/>
                        </a:rPr>
                        <m:t>=1∣</m:t>
                      </m:r>
                      <m:r>
                        <a:rPr lang="en-US" i="1">
                          <a:effectLst/>
                          <a:latin typeface="Cambria Math" panose="02040503050406030204" pitchFamily="18" charset="0"/>
                          <a:ea typeface="Calibri" panose="020F0502020204030204" pitchFamily="34" charset="0"/>
                          <a:cs typeface="Calibri Light" panose="020F0302020204030204" pitchFamily="34" charset="0"/>
                        </a:rPr>
                        <m:t>𝜓</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𝑇</m:t>
                      </m:r>
                      <m:r>
                        <a:rPr lang="en-US">
                          <a:effectLst/>
                          <a:latin typeface="Cambria Math" panose="02040503050406030204" pitchFamily="18" charset="0"/>
                          <a:ea typeface="Calibri" panose="020F0502020204030204" pitchFamily="34" charset="0"/>
                          <a:cs typeface="Calibri Light" panose="020F0302020204030204" pitchFamily="34" charset="0"/>
                        </a:rPr>
                        <m:t>)⟩|=1.</m:t>
                      </m:r>
                    </m:oMath>
                  </m:oMathPara>
                </a14:m>
                <a:endParaRPr lang="en-US" dirty="0">
                  <a:effectLst/>
                  <a:ea typeface="Calibri" panose="020F0502020204030204" pitchFamily="34" charset="0"/>
                </a:endParaRPr>
              </a:p>
              <a:p>
                <a:pPr>
                  <a:spcAft>
                    <a:spcPts val="1200"/>
                  </a:spcAft>
                </a:pPr>
                <a:r>
                  <a:rPr lang="en-US" dirty="0">
                    <a:effectLst/>
                    <a:ea typeface="Calibri" panose="020F0502020204030204" pitchFamily="34" charset="0"/>
                  </a:rPr>
                  <a:t>the minimum spectral gap</a:t>
                </a:r>
              </a:p>
              <a:p>
                <a:pPr>
                  <a:spcAft>
                    <a:spcPts val="1200"/>
                  </a:spcAft>
                </a:pPr>
                <a14:m>
                  <m:oMathPara xmlns:m="http://schemas.openxmlformats.org/officeDocument/2006/math">
                    <m:oMathParaPr>
                      <m:jc m:val="centerGroup"/>
                    </m:oMathParaPr>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𝑔</m:t>
                          </m:r>
                        </m:e>
                        <m:sub>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min</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limLow>
                        <m:limLowPr>
                          <m:ctrlPr>
                            <a:rPr lang="en-US" i="1">
                              <a:effectLst/>
                              <a:latin typeface="Cambria Math" panose="02040503050406030204" pitchFamily="18" charset="0"/>
                              <a:ea typeface="Calibri" panose="020F0502020204030204" pitchFamily="34" charset="0"/>
                              <a:cs typeface="Calibri Light" panose="020F0302020204030204" pitchFamily="34" charset="0"/>
                            </a:rPr>
                          </m:ctrlPr>
                        </m:limLowPr>
                        <m:e>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min</m:t>
                          </m:r>
                        </m:e>
                        <m:lim>
                          <m:r>
                            <a:rPr lang="en-US">
                              <a:effectLst/>
                              <a:latin typeface="Cambria Math" panose="02040503050406030204" pitchFamily="18" charset="0"/>
                              <a:ea typeface="Calibri" panose="020F0502020204030204" pitchFamily="34" charset="0"/>
                              <a:cs typeface="Calibri Light" panose="020F0302020204030204" pitchFamily="34" charset="0"/>
                            </a:rPr>
                            <m:t>0≤</m:t>
                          </m:r>
                          <m:r>
                            <a:rPr lang="en-US" i="1">
                              <a:effectLst/>
                              <a:latin typeface="Cambria Math" panose="02040503050406030204" pitchFamily="18" charset="0"/>
                              <a:ea typeface="Calibri" panose="020F0502020204030204" pitchFamily="34" charset="0"/>
                              <a:cs typeface="Calibri Light" panose="020F0302020204030204" pitchFamily="34" charset="0"/>
                            </a:rPr>
                            <m:t>𝑠</m:t>
                          </m:r>
                          <m:r>
                            <a:rPr lang="en-US">
                              <a:effectLst/>
                              <a:latin typeface="Cambria Math" panose="02040503050406030204" pitchFamily="18" charset="0"/>
                              <a:ea typeface="Calibri" panose="020F0502020204030204" pitchFamily="34" charset="0"/>
                              <a:cs typeface="Calibri Light" panose="020F0302020204030204" pitchFamily="34" charset="0"/>
                            </a:rPr>
                            <m:t>≤1</m:t>
                          </m:r>
                        </m:lim>
                      </m:limLow>
                      <m:r>
                        <a:rPr lang="en-US">
                          <a:effectLst/>
                          <a:latin typeface="Cambria Math" panose="02040503050406030204" pitchFamily="18" charset="0"/>
                          <a:ea typeface="Calibri" panose="020F0502020204030204" pitchFamily="34" charset="0"/>
                          <a:cs typeface="Calibri Light" panose="020F0302020204030204" pitchFamily="34" charset="0"/>
                        </a:rPr>
                        <m:t> </m:t>
                      </m:r>
                      <m:d>
                        <m:dPr>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𝐸</m:t>
                              </m:r>
                            </m:e>
                            <m:sub>
                              <m:r>
                                <a:rPr lang="en-US">
                                  <a:effectLst/>
                                  <a:latin typeface="Cambria Math" panose="02040503050406030204" pitchFamily="18" charset="0"/>
                                  <a:ea typeface="Calibri" panose="020F0502020204030204" pitchFamily="34" charset="0"/>
                                  <a:cs typeface="Calibri Light" panose="020F0302020204030204" pitchFamily="34" charset="0"/>
                                </a:rPr>
                                <m:t>1</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𝑠</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𝐸</m:t>
                              </m:r>
                            </m:e>
                            <m:sub>
                              <m:r>
                                <a:rPr lang="en-US">
                                  <a:effectLst/>
                                  <a:latin typeface="Cambria Math" panose="02040503050406030204" pitchFamily="18" charset="0"/>
                                  <a:ea typeface="Calibri" panose="020F0502020204030204" pitchFamily="34" charset="0"/>
                                  <a:cs typeface="Calibri Light" panose="020F0302020204030204" pitchFamily="34" charset="0"/>
                                </a:rPr>
                                <m:t>0</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𝑠</m:t>
                          </m:r>
                          <m:r>
                            <a:rPr lang="en-US">
                              <a:effectLst/>
                              <a:latin typeface="Cambria Math" panose="02040503050406030204" pitchFamily="18" charset="0"/>
                              <a:ea typeface="Calibri" panose="020F0502020204030204" pitchFamily="34" charset="0"/>
                              <a:cs typeface="Calibri Light" panose="020F0302020204030204" pitchFamily="34" charset="0"/>
                            </a:rPr>
                            <m:t>)</m:t>
                          </m:r>
                        </m:e>
                      </m:d>
                      <m:r>
                        <a:rPr lang="en-US">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dirty="0">
                  <a:effectLst/>
                  <a:ea typeface="Calibri" panose="020F0502020204030204" pitchFamily="34" charset="0"/>
                </a:endParaRPr>
              </a:p>
              <a:p>
                <a:pPr>
                  <a:spcAft>
                    <a:spcPts val="1200"/>
                  </a:spcAft>
                </a:pPr>
                <a:r>
                  <a:rPr lang="en-US" dirty="0">
                    <a:effectLst/>
                    <a:ea typeface="Calibri" panose="020F0502020204030204" pitchFamily="34" charset="0"/>
                  </a:rPr>
                  <a:t>And</a:t>
                </a:r>
              </a:p>
            </p:txBody>
          </p:sp>
        </mc:Choice>
        <mc:Fallback xmlns="">
          <p:sp>
            <p:nvSpPr>
              <p:cNvPr id="5" name="CasellaDiTesto 4">
                <a:extLst>
                  <a:ext uri="{FF2B5EF4-FFF2-40B4-BE49-F238E27FC236}">
                    <a16:creationId xmlns:a16="http://schemas.microsoft.com/office/drawing/2014/main" id="{3DF7CF25-8984-40F5-B6E0-D892BF152AE7}"/>
                  </a:ext>
                </a:extLst>
              </p:cNvPr>
              <p:cNvSpPr txBox="1">
                <a:spLocks noRot="1" noChangeAspect="1" noMove="1" noResize="1" noEditPoints="1" noAdjustHandles="1" noChangeArrowheads="1" noChangeShapeType="1" noTextEdit="1"/>
              </p:cNvSpPr>
              <p:nvPr/>
            </p:nvSpPr>
            <p:spPr>
              <a:xfrm>
                <a:off x="806246" y="1335058"/>
                <a:ext cx="10903975" cy="3404522"/>
              </a:xfrm>
              <a:prstGeom prst="rect">
                <a:avLst/>
              </a:prstGeom>
              <a:blipFill>
                <a:blip r:embed="rId3"/>
                <a:stretch>
                  <a:fillRect l="-447" t="-896" b="-1971"/>
                </a:stretch>
              </a:blipFill>
            </p:spPr>
            <p:txBody>
              <a:bodyPr/>
              <a:lstStyle/>
              <a:p>
                <a:r>
                  <a:rPr lang="en-US">
                    <a:noFill/>
                  </a:rPr>
                  <a:t> </a:t>
                </a:r>
              </a:p>
            </p:txBody>
          </p:sp>
        </mc:Fallback>
      </mc:AlternateContent>
      <p:sp>
        <p:nvSpPr>
          <p:cNvPr id="6" name="CasellaDiTesto 5">
            <a:extLst>
              <a:ext uri="{FF2B5EF4-FFF2-40B4-BE49-F238E27FC236}">
                <a16:creationId xmlns:a16="http://schemas.microsoft.com/office/drawing/2014/main" id="{B198D132-05D1-4CD5-9E2B-07AA02AF7C41}"/>
              </a:ext>
            </a:extLst>
          </p:cNvPr>
          <p:cNvSpPr txBox="1"/>
          <p:nvPr/>
        </p:nvSpPr>
        <p:spPr>
          <a:xfrm>
            <a:off x="3191551" y="267438"/>
            <a:ext cx="6843252" cy="769441"/>
          </a:xfrm>
          <a:prstGeom prst="rect">
            <a:avLst/>
          </a:prstGeom>
          <a:noFill/>
        </p:spPr>
        <p:txBody>
          <a:bodyPr wrap="square" rtlCol="0">
            <a:spAutoFit/>
          </a:bodyPr>
          <a:lstStyle/>
          <a:p>
            <a:r>
              <a:rPr lang="it-IT" sz="4400" dirty="0">
                <a:solidFill>
                  <a:schemeClr val="accent1">
                    <a:lumMod val="50000"/>
                  </a:schemeClr>
                </a:solidFill>
                <a:latin typeface="+mj-lt"/>
              </a:rPr>
              <a:t>AQO a bit more in </a:t>
            </a:r>
            <a:r>
              <a:rPr lang="it-IT" sz="4400" dirty="0" err="1">
                <a:solidFill>
                  <a:schemeClr val="accent1">
                    <a:lumMod val="50000"/>
                  </a:schemeClr>
                </a:solidFill>
                <a:latin typeface="+mj-lt"/>
              </a:rPr>
              <a:t>detail</a:t>
            </a:r>
            <a:r>
              <a:rPr lang="it-IT" sz="4400" dirty="0">
                <a:solidFill>
                  <a:schemeClr val="accent1">
                    <a:lumMod val="50000"/>
                  </a:schemeClr>
                </a:solidFill>
                <a:latin typeface="+mj-lt"/>
              </a:rPr>
              <a:t> -2</a:t>
            </a:r>
            <a:endParaRPr lang="en-US" sz="4400" dirty="0">
              <a:solidFill>
                <a:schemeClr val="accent1">
                  <a:lumMod val="50000"/>
                </a:schemeClr>
              </a:solidFill>
              <a:latin typeface="+mj-lt"/>
            </a:endParaRPr>
          </a:p>
        </p:txBody>
      </p:sp>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F513E622-748C-4D1D-8B82-0AB637A59198}"/>
                  </a:ext>
                </a:extLst>
              </p:cNvPr>
              <p:cNvSpPr txBox="1"/>
              <p:nvPr/>
            </p:nvSpPr>
            <p:spPr>
              <a:xfrm>
                <a:off x="806246" y="4844515"/>
                <a:ext cx="11090786" cy="1269065"/>
              </a:xfrm>
              <a:prstGeom prst="rect">
                <a:avLst/>
              </a:prstGeom>
              <a:noFill/>
            </p:spPr>
            <p:txBody>
              <a:bodyPr wrap="square">
                <a:spAutoFit/>
              </a:bodyPr>
              <a:lstStyle/>
              <a:p>
                <a:pPr>
                  <a:spcAft>
                    <a:spcPts val="1200"/>
                  </a:spcAft>
                </a:pPr>
                <a14:m>
                  <m:oMathPara xmlns:m="http://schemas.openxmlformats.org/officeDocument/2006/math">
                    <m:oMathParaPr>
                      <m:jc m:val="centerGroup"/>
                    </m:oMathParaPr>
                    <m:oMath xmlns:m="http://schemas.openxmlformats.org/officeDocument/2006/math">
                      <m:r>
                        <a:rPr lang="en-US" sz="1800" i="1" smtClean="0">
                          <a:effectLst/>
                          <a:latin typeface="Cambria Math" panose="02040503050406030204" pitchFamily="18" charset="0"/>
                          <a:ea typeface="Calibri" panose="020F0502020204030204" pitchFamily="34" charset="0"/>
                          <a:cs typeface="Calibri Light" panose="020F0302020204030204" pitchFamily="34" charset="0"/>
                        </a:rPr>
                        <m:t>𝑇</m:t>
                      </m:r>
                      <m:r>
                        <a:rPr lang="en-US" sz="1800">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i="1">
                              <a:effectLst/>
                              <a:latin typeface="Cambria Math" panose="02040503050406030204" pitchFamily="18" charset="0"/>
                              <a:ea typeface="Calibri" panose="020F0502020204030204" pitchFamily="34" charset="0"/>
                              <a:cs typeface="Calibri Light" panose="020F0302020204030204" pitchFamily="34" charset="0"/>
                            </a:rPr>
                            <m:t>ℰ</m:t>
                          </m:r>
                        </m:num>
                        <m:den>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𝑔</m:t>
                              </m:r>
                            </m:e>
                            <m:sub>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min</m:t>
                              </m:r>
                            </m:sub>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bSup>
                        </m:den>
                      </m:f>
                    </m:oMath>
                  </m:oMathPara>
                </a14:m>
                <a:endParaRPr lang="en-US" sz="2800" dirty="0">
                  <a:effectLst/>
                  <a:latin typeface="Calibri" panose="020F0502020204030204" pitchFamily="34" charset="0"/>
                  <a:ea typeface="Calibri" panose="020F0502020204030204" pitchFamily="34" charset="0"/>
                </a:endParaRPr>
              </a:p>
              <a:p>
                <a:pPr>
                  <a:spcAft>
                    <a:spcPts val="1200"/>
                  </a:spcAft>
                </a:pPr>
                <a:endParaRPr lang="en-US" sz="2800" dirty="0">
                  <a:effectLst/>
                  <a:latin typeface="Calibri" panose="020F0502020204030204" pitchFamily="34" charset="0"/>
                  <a:ea typeface="Calibri" panose="020F0502020204030204" pitchFamily="34" charset="0"/>
                </a:endParaRPr>
              </a:p>
            </p:txBody>
          </p:sp>
        </mc:Choice>
        <mc:Fallback xmlns="">
          <p:sp>
            <p:nvSpPr>
              <p:cNvPr id="7" name="CasellaDiTesto 6">
                <a:extLst>
                  <a:ext uri="{FF2B5EF4-FFF2-40B4-BE49-F238E27FC236}">
                    <a16:creationId xmlns:a16="http://schemas.microsoft.com/office/drawing/2014/main" id="{F513E622-748C-4D1D-8B82-0AB637A59198}"/>
                  </a:ext>
                </a:extLst>
              </p:cNvPr>
              <p:cNvSpPr txBox="1">
                <a:spLocks noRot="1" noChangeAspect="1" noMove="1" noResize="1" noEditPoints="1" noAdjustHandles="1" noChangeArrowheads="1" noChangeShapeType="1" noTextEdit="1"/>
              </p:cNvSpPr>
              <p:nvPr/>
            </p:nvSpPr>
            <p:spPr>
              <a:xfrm>
                <a:off x="806246" y="4844515"/>
                <a:ext cx="11090786" cy="1269065"/>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948390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28EA31BE-5307-48AA-BE72-453CBB7E3D50}"/>
              </a:ext>
            </a:extLst>
          </p:cNvPr>
          <p:cNvSpPr txBox="1"/>
          <p:nvPr/>
        </p:nvSpPr>
        <p:spPr>
          <a:xfrm>
            <a:off x="3791973" y="737485"/>
            <a:ext cx="5220929" cy="769441"/>
          </a:xfrm>
          <a:prstGeom prst="rect">
            <a:avLst/>
          </a:prstGeom>
          <a:noFill/>
        </p:spPr>
        <p:txBody>
          <a:bodyPr wrap="square" rtlCol="0">
            <a:spAutoFit/>
          </a:bodyPr>
          <a:lstStyle/>
          <a:p>
            <a:r>
              <a:rPr lang="it-IT" sz="4400" dirty="0">
                <a:solidFill>
                  <a:schemeClr val="accent1">
                    <a:lumMod val="50000"/>
                  </a:schemeClr>
                </a:solidFill>
                <a:latin typeface="+mj-lt"/>
              </a:rPr>
              <a:t>The </a:t>
            </a:r>
            <a:r>
              <a:rPr lang="it-IT" sz="4400" dirty="0" err="1">
                <a:solidFill>
                  <a:schemeClr val="accent1">
                    <a:lumMod val="50000"/>
                  </a:schemeClr>
                </a:solidFill>
                <a:latin typeface="+mj-lt"/>
              </a:rPr>
              <a:t>three</a:t>
            </a:r>
            <a:r>
              <a:rPr lang="it-IT" sz="4400" dirty="0">
                <a:solidFill>
                  <a:schemeClr val="accent1">
                    <a:lumMod val="50000"/>
                  </a:schemeClr>
                </a:solidFill>
                <a:latin typeface="+mj-lt"/>
              </a:rPr>
              <a:t> </a:t>
            </a:r>
            <a:r>
              <a:rPr lang="it-IT" sz="4400" dirty="0" err="1">
                <a:solidFill>
                  <a:schemeClr val="accent1">
                    <a:lumMod val="50000"/>
                  </a:schemeClr>
                </a:solidFill>
                <a:latin typeface="+mj-lt"/>
              </a:rPr>
              <a:t>criteria</a:t>
            </a:r>
            <a:endParaRPr lang="en-US" sz="4400" dirty="0">
              <a:solidFill>
                <a:schemeClr val="accent1">
                  <a:lumMod val="50000"/>
                </a:schemeClr>
              </a:solidFill>
              <a:latin typeface="+mj-lt"/>
            </a:endParaRPr>
          </a:p>
        </p:txBody>
      </p:sp>
      <p:sp>
        <p:nvSpPr>
          <p:cNvPr id="5" name="CasellaDiTesto 4">
            <a:extLst>
              <a:ext uri="{FF2B5EF4-FFF2-40B4-BE49-F238E27FC236}">
                <a16:creationId xmlns:a16="http://schemas.microsoft.com/office/drawing/2014/main" id="{DE34EA27-72E9-4BA2-87E1-3B0490AC8DCD}"/>
              </a:ext>
            </a:extLst>
          </p:cNvPr>
          <p:cNvSpPr txBox="1"/>
          <p:nvPr/>
        </p:nvSpPr>
        <p:spPr>
          <a:xfrm>
            <a:off x="1696720" y="2476976"/>
            <a:ext cx="9164320" cy="2554545"/>
          </a:xfrm>
          <a:prstGeom prst="rect">
            <a:avLst/>
          </a:prstGeom>
          <a:noFill/>
        </p:spPr>
        <p:txBody>
          <a:bodyPr wrap="square">
            <a:spAutoFit/>
          </a:bodyPr>
          <a:lstStyle/>
          <a:p>
            <a:pPr marL="342900" indent="-342900">
              <a:buAutoNum type="arabicPeriod"/>
            </a:pPr>
            <a:r>
              <a:rPr lang="en-US" sz="3200" dirty="0">
                <a:effectLst/>
                <a:ea typeface="Calibri" panose="020F0502020204030204" pitchFamily="34" charset="0"/>
              </a:rPr>
              <a:t>The initial state of the quantum system encodes any binary string of length N. </a:t>
            </a:r>
          </a:p>
          <a:p>
            <a:pPr marL="342900" indent="-342900">
              <a:buAutoNum type="arabicPeriod"/>
            </a:pPr>
            <a:r>
              <a:rPr lang="en-US" sz="3200" dirty="0">
                <a:effectLst/>
                <a:ea typeface="Calibri" panose="020F0502020204030204" pitchFamily="34" charset="0"/>
              </a:rPr>
              <a:t>The QNN reflects one or more basic neural computing mechanisms </a:t>
            </a:r>
          </a:p>
          <a:p>
            <a:r>
              <a:rPr lang="en-US" sz="3200" dirty="0">
                <a:effectLst/>
                <a:ea typeface="Calibri" panose="020F0502020204030204" pitchFamily="34" charset="0"/>
              </a:rPr>
              <a:t>3.   The evolution is based on quantum effects</a:t>
            </a:r>
          </a:p>
        </p:txBody>
      </p:sp>
    </p:spTree>
    <p:extLst>
      <p:ext uri="{BB962C8B-B14F-4D97-AF65-F5344CB8AC3E}">
        <p14:creationId xmlns:p14="http://schemas.microsoft.com/office/powerpoint/2010/main" val="7141952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28EA31BE-5307-48AA-BE72-453CBB7E3D50}"/>
              </a:ext>
            </a:extLst>
          </p:cNvPr>
          <p:cNvSpPr txBox="1"/>
          <p:nvPr/>
        </p:nvSpPr>
        <p:spPr>
          <a:xfrm>
            <a:off x="3087329" y="550607"/>
            <a:ext cx="6872748" cy="769441"/>
          </a:xfrm>
          <a:prstGeom prst="rect">
            <a:avLst/>
          </a:prstGeom>
          <a:noFill/>
        </p:spPr>
        <p:txBody>
          <a:bodyPr wrap="square" rtlCol="0">
            <a:spAutoFit/>
          </a:bodyPr>
          <a:lstStyle/>
          <a:p>
            <a:r>
              <a:rPr lang="it-IT" sz="4400" dirty="0">
                <a:solidFill>
                  <a:schemeClr val="accent1">
                    <a:lumMod val="50000"/>
                  </a:schemeClr>
                </a:solidFill>
                <a:latin typeface="+mj-lt"/>
              </a:rPr>
              <a:t>A </a:t>
            </a:r>
            <a:r>
              <a:rPr lang="it-IT" sz="4400" dirty="0" err="1">
                <a:solidFill>
                  <a:schemeClr val="accent1">
                    <a:lumMod val="50000"/>
                  </a:schemeClr>
                </a:solidFill>
                <a:latin typeface="+mj-lt"/>
              </a:rPr>
              <a:t>foundamental</a:t>
            </a:r>
            <a:r>
              <a:rPr lang="it-IT" sz="4400" dirty="0">
                <a:solidFill>
                  <a:schemeClr val="accent1">
                    <a:lumMod val="50000"/>
                  </a:schemeClr>
                </a:solidFill>
                <a:latin typeface="+mj-lt"/>
              </a:rPr>
              <a:t> challenge</a:t>
            </a:r>
            <a:endParaRPr lang="en-US" sz="4400" dirty="0">
              <a:solidFill>
                <a:schemeClr val="accent1">
                  <a:lumMod val="50000"/>
                </a:schemeClr>
              </a:solidFill>
              <a:latin typeface="+mj-lt"/>
            </a:endParaRPr>
          </a:p>
        </p:txBody>
      </p:sp>
      <p:sp>
        <p:nvSpPr>
          <p:cNvPr id="5" name="CasellaDiTesto 4">
            <a:extLst>
              <a:ext uri="{FF2B5EF4-FFF2-40B4-BE49-F238E27FC236}">
                <a16:creationId xmlns:a16="http://schemas.microsoft.com/office/drawing/2014/main" id="{6E5D6764-659E-4501-848A-74618B06BBBD}"/>
              </a:ext>
            </a:extLst>
          </p:cNvPr>
          <p:cNvSpPr txBox="1"/>
          <p:nvPr/>
        </p:nvSpPr>
        <p:spPr>
          <a:xfrm>
            <a:off x="2986712" y="5571151"/>
            <a:ext cx="8150942" cy="369332"/>
          </a:xfrm>
          <a:prstGeom prst="rect">
            <a:avLst/>
          </a:prstGeom>
          <a:noFill/>
        </p:spPr>
        <p:txBody>
          <a:bodyPr wrap="square">
            <a:spAutoFit/>
          </a:bodyPr>
          <a:lstStyle/>
          <a:p>
            <a:r>
              <a:rPr lang="en-US" sz="1800" dirty="0">
                <a:solidFill>
                  <a:schemeClr val="accent1">
                    <a:lumMod val="50000"/>
                  </a:schemeClr>
                </a:solidFill>
                <a:effectLst/>
                <a:ea typeface="Calibri" panose="020F0502020204030204" pitchFamily="34" charset="0"/>
              </a:rPr>
              <a:t>dissipative dynamics </a:t>
            </a:r>
            <a:r>
              <a:rPr lang="en-US" sz="1800" dirty="0">
                <a:effectLst/>
                <a:ea typeface="Calibri" panose="020F0502020204030204" pitchFamily="34" charset="0"/>
              </a:rPr>
              <a:t>of attractor based NNs vs linear operator</a:t>
            </a:r>
            <a:endParaRPr lang="en-US" sz="2800" dirty="0">
              <a:effectLst/>
              <a:ea typeface="Calibri" panose="020F0502020204030204" pitchFamily="34" charset="0"/>
            </a:endParaRPr>
          </a:p>
        </p:txBody>
      </p:sp>
      <p:pic>
        <p:nvPicPr>
          <p:cNvPr id="2050" name="Picture 2" descr="What the Hell is Perceptron?. The Fundamentals of Neural Networks | by  SAGAR SHARMA | Towards Data Science">
            <a:extLst>
              <a:ext uri="{FF2B5EF4-FFF2-40B4-BE49-F238E27FC236}">
                <a16:creationId xmlns:a16="http://schemas.microsoft.com/office/drawing/2014/main" id="{3C034CB1-B509-4547-98C9-1DDF334A33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7329" y="1913255"/>
            <a:ext cx="5376615" cy="2841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49953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28EA31BE-5307-48AA-BE72-453CBB7E3D50}"/>
              </a:ext>
            </a:extLst>
          </p:cNvPr>
          <p:cNvSpPr txBox="1"/>
          <p:nvPr/>
        </p:nvSpPr>
        <p:spPr>
          <a:xfrm>
            <a:off x="2567927" y="609707"/>
            <a:ext cx="8206090" cy="769441"/>
          </a:xfrm>
          <a:prstGeom prst="rect">
            <a:avLst/>
          </a:prstGeom>
          <a:noFill/>
        </p:spPr>
        <p:txBody>
          <a:bodyPr wrap="square" rtlCol="0">
            <a:spAutoFit/>
          </a:bodyPr>
          <a:lstStyle/>
          <a:p>
            <a:r>
              <a:rPr lang="it-IT" sz="4400" dirty="0">
                <a:solidFill>
                  <a:schemeClr val="accent1">
                    <a:lumMod val="50000"/>
                  </a:schemeClr>
                </a:solidFill>
                <a:latin typeface="+mj-lt"/>
              </a:rPr>
              <a:t>A fast history –</a:t>
            </a:r>
            <a:r>
              <a:rPr lang="it-IT" sz="4400" dirty="0" err="1">
                <a:solidFill>
                  <a:schemeClr val="accent1">
                    <a:lumMod val="50000"/>
                  </a:schemeClr>
                </a:solidFill>
                <a:latin typeface="+mj-lt"/>
              </a:rPr>
              <a:t>quron</a:t>
            </a:r>
            <a:r>
              <a:rPr lang="it-IT" sz="4400" dirty="0">
                <a:solidFill>
                  <a:schemeClr val="accent1">
                    <a:lumMod val="50000"/>
                  </a:schemeClr>
                </a:solidFill>
                <a:latin typeface="+mj-lt"/>
              </a:rPr>
              <a:t> </a:t>
            </a:r>
            <a:r>
              <a:rPr lang="it-IT" sz="4400" dirty="0" err="1">
                <a:solidFill>
                  <a:schemeClr val="accent1">
                    <a:lumMod val="50000"/>
                  </a:schemeClr>
                </a:solidFill>
                <a:latin typeface="+mj-lt"/>
              </a:rPr>
              <a:t>approach</a:t>
            </a:r>
            <a:r>
              <a:rPr lang="it-IT" sz="4400" dirty="0">
                <a:solidFill>
                  <a:schemeClr val="accent1">
                    <a:lumMod val="50000"/>
                  </a:schemeClr>
                </a:solidFill>
                <a:latin typeface="+mj-lt"/>
              </a:rPr>
              <a:t> -1</a:t>
            </a:r>
            <a:endParaRPr lang="en-US" sz="4400" dirty="0">
              <a:solidFill>
                <a:schemeClr val="accent1">
                  <a:lumMod val="50000"/>
                </a:schemeClr>
              </a:solidFill>
              <a:latin typeface="+mj-lt"/>
            </a:endParaRPr>
          </a:p>
        </p:txBody>
      </p:sp>
      <p:pic>
        <p:nvPicPr>
          <p:cNvPr id="5" name="Immagine 4">
            <a:extLst>
              <a:ext uri="{FF2B5EF4-FFF2-40B4-BE49-F238E27FC236}">
                <a16:creationId xmlns:a16="http://schemas.microsoft.com/office/drawing/2014/main" id="{7C37B594-4B96-4A93-BB3F-34BCEACD1C13}"/>
              </a:ext>
            </a:extLst>
          </p:cNvPr>
          <p:cNvPicPr>
            <a:picLocks noChangeAspect="1"/>
          </p:cNvPicPr>
          <p:nvPr/>
        </p:nvPicPr>
        <p:blipFill>
          <a:blip r:embed="rId2"/>
          <a:stretch>
            <a:fillRect/>
          </a:stretch>
        </p:blipFill>
        <p:spPr>
          <a:xfrm>
            <a:off x="2190570" y="2001285"/>
            <a:ext cx="7090802" cy="1290555"/>
          </a:xfrm>
          <a:prstGeom prst="rect">
            <a:avLst/>
          </a:prstGeom>
        </p:spPr>
      </p:pic>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421E566F-E737-4E3C-AC79-C3D4D38F1277}"/>
                  </a:ext>
                </a:extLst>
              </p:cNvPr>
              <p:cNvSpPr txBox="1"/>
              <p:nvPr/>
            </p:nvSpPr>
            <p:spPr>
              <a:xfrm>
                <a:off x="1848465" y="3664187"/>
                <a:ext cx="9146484" cy="1780167"/>
              </a:xfrm>
              <a:prstGeom prst="rect">
                <a:avLst/>
              </a:prstGeom>
              <a:noFill/>
            </p:spPr>
            <p:txBody>
              <a:bodyPr wrap="square">
                <a:spAutoFit/>
              </a:bodyPr>
              <a:lstStyle/>
              <a:p>
                <a:pPr>
                  <a:spcAft>
                    <a:spcPts val="1200"/>
                  </a:spcAft>
                </a:pPr>
                <a:r>
                  <a:rPr lang="en-US" sz="1800" dirty="0">
                    <a:effectLst/>
                    <a:latin typeface="Calibri Light" panose="020F0302020204030204" pitchFamily="34" charset="0"/>
                    <a:ea typeface="Calibri" panose="020F0502020204030204" pitchFamily="34" charset="0"/>
                  </a:rPr>
                  <a:t>replace the McCulloch-Pitts neuron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r>
                      <a:rPr lang="en-US" sz="1800">
                        <a:effectLst/>
                        <a:latin typeface="Cambria Math" panose="02040503050406030204" pitchFamily="18" charset="0"/>
                        <a:ea typeface="Calibri" panose="020F0502020204030204" pitchFamily="34" charset="0"/>
                        <a:cs typeface="Calibri Light" panose="020F0302020204030204" pitchFamily="34" charset="0"/>
                      </a:rPr>
                      <m:t>1,1}</m:t>
                    </m:r>
                  </m:oMath>
                </a14:m>
                <a:r>
                  <a:rPr lang="en-US" sz="1800" dirty="0">
                    <a:effectLst/>
                    <a:latin typeface="Calibri Light" panose="020F0302020204030204" pitchFamily="34" charset="0"/>
                    <a:ea typeface="Calibri" panose="020F0502020204030204" pitchFamily="34" charset="0"/>
                  </a:rPr>
                  <a:t> by a '</a:t>
                </a:r>
                <a:r>
                  <a:rPr lang="en-US" sz="1800" dirty="0" err="1">
                    <a:effectLst/>
                    <a:latin typeface="Calibri Light" panose="020F0302020204030204" pitchFamily="34" charset="0"/>
                    <a:ea typeface="Calibri" panose="020F0502020204030204" pitchFamily="34" charset="0"/>
                  </a:rPr>
                  <a:t>quron</a:t>
                </a:r>
                <a:r>
                  <a:rPr lang="en-US" sz="1800" dirty="0">
                    <a:effectLst/>
                    <a:latin typeface="Calibri Light" panose="020F0302020204030204" pitchFamily="34" charset="0"/>
                    <a:ea typeface="Calibri" panose="020F0502020204030204" pitchFamily="34" charset="0"/>
                  </a:rPr>
                  <a:t>' </a:t>
                </a:r>
                <a14:m>
                  <m:oMath xmlns:m="http://schemas.openxmlformats.org/officeDocument/2006/math">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rPr>
                  <a:t> of the two-dimensional Hilbert space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ℋ</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p>
                  </m:oMath>
                </a14:m>
                <a:r>
                  <a:rPr lang="en-US" sz="1800" dirty="0">
                    <a:effectLst/>
                    <a:latin typeface="Calibri Light" panose="020F0302020204030204" pitchFamily="34" charset="0"/>
                    <a:ea typeface="Calibri" panose="020F0502020204030204" pitchFamily="34" charset="0"/>
                  </a:rPr>
                  <a:t> with basis </a:t>
                </a:r>
                <a14:m>
                  <m:oMath xmlns:m="http://schemas.openxmlformats.org/officeDocument/2006/math">
                    <m:r>
                      <a:rPr lang="en-US" sz="1800">
                        <a:effectLst/>
                        <a:latin typeface="Cambria Math" panose="02040503050406030204" pitchFamily="18" charset="0"/>
                        <a:ea typeface="Calibri" panose="020F0502020204030204" pitchFamily="34" charset="0"/>
                        <a:cs typeface="Calibri Light" panose="020F0302020204030204" pitchFamily="34" charset="0"/>
                      </a:rPr>
                      <m:t>{|0⟩,|1⟩}</m:t>
                    </m:r>
                  </m:oMath>
                </a14:m>
                <a:r>
                  <a:rPr lang="en-US" sz="1800" dirty="0">
                    <a:effectLst/>
                    <a:latin typeface="Calibri Light" panose="020F0302020204030204" pitchFamily="34" charset="0"/>
                    <a:ea typeface="Calibri" panose="020F0502020204030204" pitchFamily="34" charset="0"/>
                  </a:rPr>
                  <a:t>. The state </a:t>
                </a:r>
                <a14:m>
                  <m:oMath xmlns:m="http://schemas.openxmlformats.org/officeDocument/2006/math">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𝜓</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rPr>
                  <a:t> of a network with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𝑁</m:t>
                    </m:r>
                  </m:oMath>
                </a14:m>
                <a:r>
                  <a:rPr lang="en-US" sz="1800" dirty="0">
                    <a:effectLst/>
                    <a:latin typeface="Calibri Light" panose="020F0302020204030204" pitchFamily="34" charset="0"/>
                    <a:ea typeface="Calibri" panose="020F0502020204030204" pitchFamily="34" charset="0"/>
                  </a:rPr>
                  <a:t> </a:t>
                </a:r>
                <a:r>
                  <a:rPr lang="en-US" sz="1800" dirty="0" err="1">
                    <a:effectLst/>
                    <a:latin typeface="Calibri Light" panose="020F0302020204030204" pitchFamily="34" charset="0"/>
                    <a:ea typeface="Calibri" panose="020F0502020204030204" pitchFamily="34" charset="0"/>
                  </a:rPr>
                  <a:t>qurons</a:t>
                </a:r>
                <a:r>
                  <a:rPr lang="en-US" sz="1800" dirty="0">
                    <a:effectLst/>
                    <a:latin typeface="Calibri Light" panose="020F0302020204030204" pitchFamily="34" charset="0"/>
                    <a:ea typeface="Calibri" panose="020F0502020204030204" pitchFamily="34" charset="0"/>
                  </a:rPr>
                  <a:t> thus becomes</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𝜓</m:t>
                      </m:r>
                      <m:r>
                        <a:rPr lang="en-US" sz="1800">
                          <a:effectLst/>
                          <a:latin typeface="Cambria Math" panose="02040503050406030204" pitchFamily="18" charset="0"/>
                          <a:ea typeface="Calibri" panose="020F0502020204030204" pitchFamily="34" charset="0"/>
                          <a:cs typeface="Calibri Light" panose="020F0302020204030204" pitchFamily="34" charset="0"/>
                        </a:rPr>
                        <m:t>⟩=</m:t>
                      </m:r>
                      <m:nary>
                        <m:naryPr>
                          <m:chr m:val="∑"/>
                          <m:limLoc m:val="undOvr"/>
                          <m:grow m:val="on"/>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naryPr>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a:effectLst/>
                                  <a:latin typeface="Cambria Math" panose="02040503050406030204" pitchFamily="18" charset="0"/>
                                  <a:ea typeface="Calibri" panose="020F0502020204030204" pitchFamily="34" charset="0"/>
                                  <a:cs typeface="Calibri Light" panose="020F0302020204030204" pitchFamily="34" charset="0"/>
                                </a:rPr>
                                <m:t>2</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𝑁</m:t>
                              </m:r>
                            </m:sup>
                          </m:sSup>
                        </m:sup>
                        <m:e>
                          <m:r>
                            <a:rPr lang="en-US" sz="1800">
                              <a:effectLst/>
                              <a:latin typeface="Cambria Math" panose="02040503050406030204" pitchFamily="18" charset="0"/>
                              <a:ea typeface="Calibri" panose="020F0502020204030204" pitchFamily="34" charset="0"/>
                              <a:cs typeface="Calibri Light" panose="020F0302020204030204" pitchFamily="34" charset="0"/>
                            </a:rPr>
                            <m:t> </m:t>
                          </m:r>
                        </m:e>
                      </m:nary>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𝑎</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𝑁</m:t>
                                  </m:r>
                                </m:sub>
                              </m:sSub>
                            </m:e>
                          </m:d>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oMath>
                  </m:oMathPara>
                </a14:m>
                <a:endParaRPr lang="en-US" sz="2800" dirty="0">
                  <a:effectLst/>
                  <a:latin typeface="Calibri" panose="020F0502020204030204" pitchFamily="34" charset="0"/>
                  <a:ea typeface="Calibri" panose="020F0502020204030204" pitchFamily="34" charset="0"/>
                </a:endParaRPr>
              </a:p>
            </p:txBody>
          </p:sp>
        </mc:Choice>
        <mc:Fallback xmlns="">
          <p:sp>
            <p:nvSpPr>
              <p:cNvPr id="7" name="CasellaDiTesto 6">
                <a:extLst>
                  <a:ext uri="{FF2B5EF4-FFF2-40B4-BE49-F238E27FC236}">
                    <a16:creationId xmlns:a16="http://schemas.microsoft.com/office/drawing/2014/main" id="{421E566F-E737-4E3C-AC79-C3D4D38F1277}"/>
                  </a:ext>
                </a:extLst>
              </p:cNvPr>
              <p:cNvSpPr txBox="1">
                <a:spLocks noRot="1" noChangeAspect="1" noMove="1" noResize="1" noEditPoints="1" noAdjustHandles="1" noChangeArrowheads="1" noChangeShapeType="1" noTextEdit="1"/>
              </p:cNvSpPr>
              <p:nvPr/>
            </p:nvSpPr>
            <p:spPr>
              <a:xfrm>
                <a:off x="1848465" y="3664187"/>
                <a:ext cx="9146484" cy="1780167"/>
              </a:xfrm>
              <a:prstGeom prst="rect">
                <a:avLst/>
              </a:prstGeom>
              <a:blipFill>
                <a:blip r:embed="rId4"/>
                <a:stretch>
                  <a:fillRect l="-533" t="-1712"/>
                </a:stretch>
              </a:blipFill>
            </p:spPr>
            <p:txBody>
              <a:bodyPr/>
              <a:lstStyle/>
              <a:p>
                <a:r>
                  <a:rPr lang="en-US">
                    <a:noFill/>
                  </a:rPr>
                  <a:t> </a:t>
                </a:r>
              </a:p>
            </p:txBody>
          </p:sp>
        </mc:Fallback>
      </mc:AlternateContent>
    </p:spTree>
    <p:extLst>
      <p:ext uri="{BB962C8B-B14F-4D97-AF65-F5344CB8AC3E}">
        <p14:creationId xmlns:p14="http://schemas.microsoft.com/office/powerpoint/2010/main" val="18925188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26B827B0-AD96-4159-A4CA-B4DAF3E1A6F4}"/>
              </a:ext>
            </a:extLst>
          </p:cNvPr>
          <p:cNvSpPr/>
          <p:nvPr/>
        </p:nvSpPr>
        <p:spPr>
          <a:xfrm>
            <a:off x="6430297" y="4227871"/>
            <a:ext cx="5761703" cy="263012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asellaDiTesto 3">
            <a:extLst>
              <a:ext uri="{FF2B5EF4-FFF2-40B4-BE49-F238E27FC236}">
                <a16:creationId xmlns:a16="http://schemas.microsoft.com/office/drawing/2014/main" id="{28EA31BE-5307-48AA-BE72-453CBB7E3D50}"/>
              </a:ext>
            </a:extLst>
          </p:cNvPr>
          <p:cNvSpPr txBox="1"/>
          <p:nvPr/>
        </p:nvSpPr>
        <p:spPr>
          <a:xfrm>
            <a:off x="2474735" y="516598"/>
            <a:ext cx="8206090" cy="769441"/>
          </a:xfrm>
          <a:prstGeom prst="rect">
            <a:avLst/>
          </a:prstGeom>
          <a:noFill/>
        </p:spPr>
        <p:txBody>
          <a:bodyPr wrap="square" rtlCol="0">
            <a:spAutoFit/>
          </a:bodyPr>
          <a:lstStyle/>
          <a:p>
            <a:r>
              <a:rPr lang="it-IT" sz="4400" dirty="0">
                <a:solidFill>
                  <a:schemeClr val="accent1">
                    <a:lumMod val="50000"/>
                  </a:schemeClr>
                </a:solidFill>
                <a:latin typeface="+mj-lt"/>
              </a:rPr>
              <a:t>A fast history –</a:t>
            </a:r>
            <a:r>
              <a:rPr lang="it-IT" sz="4400" dirty="0" err="1">
                <a:solidFill>
                  <a:schemeClr val="accent1">
                    <a:lumMod val="50000"/>
                  </a:schemeClr>
                </a:solidFill>
                <a:latin typeface="+mj-lt"/>
              </a:rPr>
              <a:t>quron</a:t>
            </a:r>
            <a:r>
              <a:rPr lang="it-IT" sz="4400" dirty="0">
                <a:solidFill>
                  <a:schemeClr val="accent1">
                    <a:lumMod val="50000"/>
                  </a:schemeClr>
                </a:solidFill>
                <a:latin typeface="+mj-lt"/>
              </a:rPr>
              <a:t> </a:t>
            </a:r>
            <a:r>
              <a:rPr lang="it-IT" sz="4400" dirty="0" err="1">
                <a:solidFill>
                  <a:schemeClr val="accent1">
                    <a:lumMod val="50000"/>
                  </a:schemeClr>
                </a:solidFill>
                <a:latin typeface="+mj-lt"/>
              </a:rPr>
              <a:t>approach</a:t>
            </a:r>
            <a:r>
              <a:rPr lang="it-IT" sz="4400" dirty="0">
                <a:solidFill>
                  <a:schemeClr val="accent1">
                    <a:lumMod val="50000"/>
                  </a:schemeClr>
                </a:solidFill>
                <a:latin typeface="+mj-lt"/>
              </a:rPr>
              <a:t> -2</a:t>
            </a:r>
            <a:endParaRPr lang="en-US" sz="4400" dirty="0">
              <a:solidFill>
                <a:schemeClr val="accent1">
                  <a:lumMod val="50000"/>
                </a:schemeClr>
              </a:solidFill>
              <a:latin typeface="+mj-lt"/>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DC3E1F96-6965-454B-B1DC-124EE69B7E09}"/>
                  </a:ext>
                </a:extLst>
              </p:cNvPr>
              <p:cNvSpPr txBox="1"/>
              <p:nvPr/>
            </p:nvSpPr>
            <p:spPr>
              <a:xfrm>
                <a:off x="294967" y="4408327"/>
                <a:ext cx="5801033" cy="2021066"/>
              </a:xfrm>
              <a:prstGeom prst="rect">
                <a:avLst/>
              </a:prstGeom>
              <a:noFill/>
            </p:spPr>
            <p:txBody>
              <a:bodyPr wrap="square">
                <a:spAutoFit/>
              </a:bodyPr>
              <a:lstStyle/>
              <a:p>
                <a:r>
                  <a:rPr lang="en-US" sz="1800" dirty="0">
                    <a:effectLst/>
                    <a:ea typeface="Calibri" panose="020F0502020204030204" pitchFamily="34" charset="0"/>
                  </a:rPr>
                  <a:t>The learning phase of the patterns in T by the </a:t>
                </a:r>
                <a:r>
                  <a:rPr lang="en-US" sz="1800" dirty="0" err="1">
                    <a:effectLst/>
                    <a:ea typeface="Calibri" panose="020F0502020204030204" pitchFamily="34" charset="0"/>
                  </a:rPr>
                  <a:t>QuAM</a:t>
                </a:r>
                <a:r>
                  <a:rPr lang="en-US" sz="1800" dirty="0">
                    <a:effectLst/>
                    <a:ea typeface="Calibri" panose="020F0502020204030204" pitchFamily="34" charset="0"/>
                  </a:rPr>
                  <a:t> may be summarized as follows:</a:t>
                </a:r>
                <a:br>
                  <a:rPr lang="en-US" sz="1800" dirty="0">
                    <a:effectLst/>
                    <a:ea typeface="Calibri" panose="020F0502020204030204" pitchFamily="34" charset="0"/>
                  </a:rPr>
                </a:br>
                <a:endParaRPr lang="en-US" sz="2800" dirty="0">
                  <a:effectLst/>
                  <a:ea typeface="Calibri" panose="020F0502020204030204" pitchFamily="34" charset="0"/>
                </a:endParaRPr>
              </a:p>
              <a:p>
                <a:pPr marL="342900" lvl="0" indent="-342900">
                  <a:lnSpc>
                    <a:spcPts val="1200"/>
                  </a:lnSpc>
                  <a:spcAft>
                    <a:spcPts val="600"/>
                  </a:spcAft>
                  <a:buFont typeface="+mj-lt"/>
                  <a:buAutoNum type="arabicPeriod"/>
                  <a:tabLst>
                    <a:tab pos="457200" algn="l"/>
                  </a:tabLst>
                </a:pPr>
                <a:r>
                  <a:rPr lang="en-US" sz="1800" dirty="0">
                    <a:effectLst/>
                    <a:ea typeface="Calibri" panose="020F0502020204030204" pitchFamily="34" charset="0"/>
                  </a:rPr>
                  <a:t>Prepare </a:t>
                </a:r>
                <a14:m>
                  <m:oMath xmlns:m="http://schemas.openxmlformats.org/officeDocument/2006/math">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𝜓</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Σ</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𝑝</m:t>
                            </m:r>
                          </m:e>
                        </m:acc>
                      </m:sub>
                    </m:s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𝑐</m:t>
                        </m:r>
                      </m:e>
                      <m:sub>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acc>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acc>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𝑝</m:t>
                        </m:r>
                      </m:e>
                    </m:acc>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ea typeface="Calibri" panose="020F0502020204030204" pitchFamily="34" charset="0"/>
                  </a:rPr>
                  <a:t> </a:t>
                </a:r>
                <a:br>
                  <a:rPr lang="en-US" sz="1800" dirty="0">
                    <a:effectLst/>
                    <a:ea typeface="Calibri" panose="020F0502020204030204" pitchFamily="34" charset="0"/>
                  </a:rPr>
                </a:br>
                <a:endParaRPr lang="en-US" sz="1800" dirty="0">
                  <a:effectLst/>
                  <a:ea typeface="Calibri" panose="020F0502020204030204" pitchFamily="34" charset="0"/>
                </a:endParaRPr>
              </a:p>
              <a:p>
                <a:pPr marL="342900" lvl="0" indent="-342900">
                  <a:lnSpc>
                    <a:spcPts val="1200"/>
                  </a:lnSpc>
                  <a:spcAft>
                    <a:spcPts val="600"/>
                  </a:spcAft>
                  <a:buFont typeface="+mj-lt"/>
                  <a:buAutoNum type="arabicPeriod"/>
                  <a:tabLst>
                    <a:tab pos="457200" algn="l"/>
                  </a:tabLst>
                </a:pPr>
                <a:r>
                  <a:rPr lang="en-US" sz="1800" dirty="0">
                    <a:effectLst/>
                    <a:ea typeface="Calibri" panose="020F0502020204030204" pitchFamily="34" charset="0"/>
                  </a:rPr>
                  <a:t>Calculate the operator </a:t>
                </a:r>
                <a14:m>
                  <m:oMath xmlns:m="http://schemas.openxmlformats.org/officeDocument/2006/math">
                    <m:acc>
                      <m:accPr>
                        <m:chr m:val="ˆ"/>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𝑇</m:t>
                        </m:r>
                      </m:e>
                    </m:acc>
                  </m:oMath>
                </a14:m>
                <a:r>
                  <a:rPr lang="en-US" sz="1800" dirty="0">
                    <a:effectLst/>
                    <a:ea typeface="Calibri" panose="020F0502020204030204" pitchFamily="34" charset="0"/>
                  </a:rPr>
                  <a:t>.</a:t>
                </a:r>
                <a:br>
                  <a:rPr lang="en-US" sz="1800" dirty="0">
                    <a:effectLst/>
                    <a:ea typeface="Calibri" panose="020F0502020204030204" pitchFamily="34" charset="0"/>
                  </a:rPr>
                </a:br>
                <a:endParaRPr lang="en-US" sz="2800" dirty="0">
                  <a:effectLst/>
                  <a:ea typeface="Calibri" panose="020F0502020204030204" pitchFamily="34" charset="0"/>
                </a:endParaRPr>
              </a:p>
              <a:p>
                <a:pPr marL="342900" lvl="0" indent="-342900">
                  <a:lnSpc>
                    <a:spcPts val="1200"/>
                  </a:lnSpc>
                  <a:spcAft>
                    <a:spcPts val="600"/>
                  </a:spcAft>
                  <a:buFont typeface="+mj-lt"/>
                  <a:buAutoNum type="arabicPeriod"/>
                  <a:tabLst>
                    <a:tab pos="457200" algn="l"/>
                  </a:tabLst>
                </a:pPr>
                <a:r>
                  <a:rPr lang="en-US" sz="1800" dirty="0">
                    <a:effectLst/>
                    <a:ea typeface="Calibri" panose="020F0502020204030204" pitchFamily="34" charset="0"/>
                  </a:rPr>
                  <a:t>Apply the operator </a:t>
                </a:r>
                <a14:m>
                  <m:oMath xmlns:m="http://schemas.openxmlformats.org/officeDocument/2006/math">
                    <m:acc>
                      <m:accPr>
                        <m:chr m:val="ˆ"/>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𝑇</m:t>
                        </m:r>
                      </m:e>
                    </m:acc>
                  </m:oMath>
                </a14:m>
                <a:r>
                  <a:rPr lang="en-US" sz="1800" dirty="0">
                    <a:effectLst/>
                    <a:ea typeface="Calibri" panose="020F0502020204030204" pitchFamily="34" charset="0"/>
                  </a:rPr>
                  <a:t> to </a:t>
                </a:r>
                <a14:m>
                  <m:oMath xmlns:m="http://schemas.openxmlformats.org/officeDocument/2006/math">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𝜓</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ea typeface="Calibri" panose="020F0502020204030204" pitchFamily="34" charset="0"/>
                  </a:rPr>
                  <a:t>.</a:t>
                </a:r>
                <a:endParaRPr lang="en-US" sz="2800" dirty="0">
                  <a:effectLst/>
                  <a:ea typeface="Calibri" panose="020F0502020204030204" pitchFamily="34" charset="0"/>
                </a:endParaRPr>
              </a:p>
            </p:txBody>
          </p:sp>
        </mc:Choice>
        <mc:Fallback xmlns="">
          <p:sp>
            <p:nvSpPr>
              <p:cNvPr id="5" name="CasellaDiTesto 4">
                <a:extLst>
                  <a:ext uri="{FF2B5EF4-FFF2-40B4-BE49-F238E27FC236}">
                    <a16:creationId xmlns:a16="http://schemas.microsoft.com/office/drawing/2014/main" id="{DC3E1F96-6965-454B-B1DC-124EE69B7E09}"/>
                  </a:ext>
                </a:extLst>
              </p:cNvPr>
              <p:cNvSpPr txBox="1">
                <a:spLocks noRot="1" noChangeAspect="1" noMove="1" noResize="1" noEditPoints="1" noAdjustHandles="1" noChangeArrowheads="1" noChangeShapeType="1" noTextEdit="1"/>
              </p:cNvSpPr>
              <p:nvPr/>
            </p:nvSpPr>
            <p:spPr>
              <a:xfrm>
                <a:off x="294967" y="4408327"/>
                <a:ext cx="5801033" cy="2021066"/>
              </a:xfrm>
              <a:prstGeom prst="rect">
                <a:avLst/>
              </a:prstGeom>
              <a:blipFill>
                <a:blip r:embed="rId4"/>
                <a:stretch>
                  <a:fillRect l="-840" t="-1506" r="-1681" b="-39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asellaDiTesto 10">
                <a:extLst>
                  <a:ext uri="{FF2B5EF4-FFF2-40B4-BE49-F238E27FC236}">
                    <a16:creationId xmlns:a16="http://schemas.microsoft.com/office/drawing/2014/main" id="{E882100C-A2DC-4CB1-B546-6D16A437230A}"/>
                  </a:ext>
                </a:extLst>
              </p:cNvPr>
              <p:cNvSpPr txBox="1"/>
              <p:nvPr/>
            </p:nvSpPr>
            <p:spPr>
              <a:xfrm>
                <a:off x="3048000" y="1608858"/>
                <a:ext cx="6096000" cy="7630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r>
                            <a:rPr lang="en-US" i="1">
                              <a:latin typeface="Cambria Math" panose="02040503050406030204" pitchFamily="18" charset="0"/>
                            </a:rPr>
                            <m:t>𝜓</m:t>
                          </m:r>
                        </m:e>
                      </m:d>
                      <m:r>
                        <a:rPr lang="en-US" i="0">
                          <a:latin typeface="Cambria Math" panose="02040503050406030204" pitchFamily="18" charset="0"/>
                        </a:rPr>
                        <m:t>=</m:t>
                      </m:r>
                      <m:nary>
                        <m:naryPr>
                          <m:chr m:val="∑"/>
                          <m:subHide m:val="on"/>
                          <m:supHide m:val="on"/>
                          <m:ctrlPr>
                            <a:rPr lang="en-US" i="1" smtClean="0">
                              <a:latin typeface="Cambria Math" panose="02040503050406030204" pitchFamily="18" charset="0"/>
                            </a:rPr>
                          </m:ctrlPr>
                        </m:naryPr>
                        <m:sub/>
                        <m:sup/>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𝑐</m:t>
                              </m:r>
                            </m:e>
                            <m:sub>
                              <m:acc>
                                <m:accPr>
                                  <m:chr m:val="⃗"/>
                                  <m:ctrlPr>
                                    <a:rPr lang="en-US" i="1">
                                      <a:solidFill>
                                        <a:srgbClr val="836967"/>
                                      </a:solidFill>
                                      <a:latin typeface="Cambria Math" panose="02040503050406030204" pitchFamily="18" charset="0"/>
                                    </a:rPr>
                                  </m:ctrlPr>
                                </m:accPr>
                                <m:e>
                                  <m:r>
                                    <a:rPr lang="en-US" i="1">
                                      <a:latin typeface="Cambria Math" panose="02040503050406030204" pitchFamily="18" charset="0"/>
                                    </a:rPr>
                                    <m:t>𝑧</m:t>
                                  </m:r>
                                </m:e>
                              </m:acc>
                              <m:acc>
                                <m:accPr>
                                  <m:chr m:val="⃗"/>
                                  <m:ctrlPr>
                                    <a:rPr lang="en-US" i="1">
                                      <a:solidFill>
                                        <a:srgbClr val="836967"/>
                                      </a:solidFill>
                                      <a:latin typeface="Cambria Math" panose="02040503050406030204" pitchFamily="18" charset="0"/>
                                    </a:rPr>
                                  </m:ctrlPr>
                                </m:accPr>
                                <m:e>
                                  <m:r>
                                    <a:rPr lang="en-US" i="1">
                                      <a:latin typeface="Cambria Math" panose="02040503050406030204" pitchFamily="18" charset="0"/>
                                    </a:rPr>
                                    <m:t>𝑝</m:t>
                                  </m:r>
                                </m:e>
                              </m:acc>
                            </m:sub>
                          </m:sSub>
                          <m:d>
                            <m:dPr>
                              <m:begChr m:val="|"/>
                              <m:endChr m:val="⟩"/>
                              <m:ctrlPr>
                                <a:rPr lang="en-US" i="1">
                                  <a:latin typeface="Cambria Math" panose="02040503050406030204" pitchFamily="18" charset="0"/>
                                </a:rPr>
                              </m:ctrlPr>
                            </m:dPr>
                            <m:e>
                              <m:acc>
                                <m:accPr>
                                  <m:chr m:val="⃗"/>
                                  <m:ctrlPr>
                                    <a:rPr lang="en-US" i="1">
                                      <a:solidFill>
                                        <a:srgbClr val="836967"/>
                                      </a:solidFill>
                                      <a:latin typeface="Cambria Math" panose="02040503050406030204" pitchFamily="18" charset="0"/>
                                    </a:rPr>
                                  </m:ctrlPr>
                                </m:accPr>
                                <m:e>
                                  <m:r>
                                    <a:rPr lang="en-US" i="1">
                                      <a:latin typeface="Cambria Math" panose="02040503050406030204" pitchFamily="18" charset="0"/>
                                    </a:rPr>
                                    <m:t>𝑧</m:t>
                                  </m:r>
                                </m:e>
                              </m:acc>
                              <m:acc>
                                <m:accPr>
                                  <m:chr m:val="⃗"/>
                                  <m:ctrlPr>
                                    <a:rPr lang="en-US" i="1">
                                      <a:solidFill>
                                        <a:srgbClr val="836967"/>
                                      </a:solidFill>
                                      <a:latin typeface="Cambria Math" panose="02040503050406030204" pitchFamily="18" charset="0"/>
                                    </a:rPr>
                                  </m:ctrlPr>
                                </m:accPr>
                                <m:e>
                                  <m:r>
                                    <a:rPr lang="en-US" i="1">
                                      <a:latin typeface="Cambria Math" panose="02040503050406030204" pitchFamily="18" charset="0"/>
                                    </a:rPr>
                                    <m:t>𝑝</m:t>
                                  </m:r>
                                </m:e>
                              </m:acc>
                            </m:e>
                          </m:d>
                        </m:e>
                      </m:nary>
                      <m:r>
                        <a:rPr lang="en-US" i="0">
                          <a:latin typeface="Cambria Math" panose="02040503050406030204" pitchFamily="18" charset="0"/>
                        </a:rPr>
                        <m:t> </m:t>
                      </m:r>
                    </m:oMath>
                  </m:oMathPara>
                </a14:m>
                <a:endParaRPr lang="en-US" dirty="0"/>
              </a:p>
            </p:txBody>
          </p:sp>
        </mc:Choice>
        <mc:Fallback xmlns="">
          <p:sp>
            <p:nvSpPr>
              <p:cNvPr id="11" name="CasellaDiTesto 10">
                <a:extLst>
                  <a:ext uri="{FF2B5EF4-FFF2-40B4-BE49-F238E27FC236}">
                    <a16:creationId xmlns:a16="http://schemas.microsoft.com/office/drawing/2014/main" id="{E882100C-A2DC-4CB1-B546-6D16A437230A}"/>
                  </a:ext>
                </a:extLst>
              </p:cNvPr>
              <p:cNvSpPr txBox="1">
                <a:spLocks noRot="1" noChangeAspect="1" noMove="1" noResize="1" noEditPoints="1" noAdjustHandles="1" noChangeArrowheads="1" noChangeShapeType="1" noTextEdit="1"/>
              </p:cNvSpPr>
              <p:nvPr/>
            </p:nvSpPr>
            <p:spPr>
              <a:xfrm>
                <a:off x="3048000" y="1608858"/>
                <a:ext cx="6096000" cy="763094"/>
              </a:xfrm>
              <a:prstGeom prst="rect">
                <a:avLst/>
              </a:prstGeom>
              <a:blipFill>
                <a:blip r:embed="rId5"/>
                <a:stretch>
                  <a:fillRect/>
                </a:stretch>
              </a:blipFill>
            </p:spPr>
            <p:txBody>
              <a:bodyPr/>
              <a:lstStyle/>
              <a:p>
                <a:r>
                  <a:rPr lang="en-US">
                    <a:noFill/>
                  </a:rPr>
                  <a:t> </a:t>
                </a:r>
              </a:p>
            </p:txBody>
          </p:sp>
        </mc:Fallback>
      </mc:AlternateContent>
      <p:pic>
        <p:nvPicPr>
          <p:cNvPr id="3074" name="Picture 2" descr="PDF) Quantum associative memory with exponential capacity | Tony Martinez -  Academia.edu">
            <a:extLst>
              <a:ext uri="{FF2B5EF4-FFF2-40B4-BE49-F238E27FC236}">
                <a16:creationId xmlns:a16="http://schemas.microsoft.com/office/drawing/2014/main" id="{79ABDD07-EC90-4FA5-BE60-1706CF97DB7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7165" b="70609"/>
          <a:stretch/>
        </p:blipFill>
        <p:spPr bwMode="auto">
          <a:xfrm>
            <a:off x="6096000" y="4090219"/>
            <a:ext cx="6049969" cy="247733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9AC2950D-2608-4409-9C80-F797B33EB8D8}"/>
                  </a:ext>
                </a:extLst>
              </p:cNvPr>
              <p:cNvSpPr txBox="1"/>
              <p:nvPr/>
            </p:nvSpPr>
            <p:spPr>
              <a:xfrm>
                <a:off x="4695640" y="2557548"/>
                <a:ext cx="6101080" cy="1067665"/>
              </a:xfrm>
              <a:prstGeom prst="rect">
                <a:avLst/>
              </a:prstGeom>
              <a:noFill/>
            </p:spPr>
            <p:txBody>
              <a:bodyPr wrap="square">
                <a:spAutoFit/>
              </a:bodyPr>
              <a:lstStyle/>
              <a:p>
                <a:pPr>
                  <a:spcAft>
                    <a:spcPts val="1200"/>
                  </a:spcAft>
                </a:pPr>
                <a14:m>
                  <m:oMath xmlns:m="http://schemas.openxmlformats.org/officeDocument/2006/math">
                    <m:acc>
                      <m:accPr>
                        <m:chr m:val="ˆ"/>
                        <m:ctrlPr>
                          <a:rPr lang="en-US" sz="1800" i="1" smtClean="0">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e>
                    </m:acc>
                  </m:oMath>
                </a14:m>
                <a:r>
                  <a:rPr lang="en-US" sz="1800" dirty="0">
                    <a:effectLst/>
                    <a:latin typeface="Calibri Light" panose="020F0302020204030204" pitchFamily="34" charset="0"/>
                    <a:ea typeface="Calibri" panose="020F0502020204030204" pitchFamily="34" charset="0"/>
                  </a:rPr>
                  <a:t> as the operator </a:t>
                </a:r>
                <a14:m>
                  <m:oMath xmlns:m="http://schemas.openxmlformats.org/officeDocument/2006/math">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𝑞</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ˆ"/>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e>
                        </m:acc>
                      </m:e>
                      <m: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acc>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𝑜</m:t>
                                </m:r>
                              </m:e>
                            </m:acc>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sub>
                    </m:sSub>
                  </m:oMath>
                </a14:m>
                <a:r>
                  <a:rPr lang="en-US" sz="1800" dirty="0">
                    <a:effectLst/>
                    <a:latin typeface="Calibri Light" panose="020F0302020204030204" pitchFamily="34" charset="0"/>
                    <a:ea typeface="Calibri" panose="020F0502020204030204" pitchFamily="34" charset="0"/>
                  </a:rPr>
                  <a:t>,</a:t>
                </a:r>
                <a:br>
                  <a:rPr lang="en-US" sz="1800" dirty="0">
                    <a:effectLst/>
                    <a:latin typeface="Calibri Light" panose="020F0302020204030204" pitchFamily="34" charset="0"/>
                    <a:ea typeface="Calibri" panose="020F0502020204030204" pitchFamily="34" charset="0"/>
                  </a:rPr>
                </a:br>
                <a14:m>
                  <m:oMath xmlns:m="http://schemas.openxmlformats.org/officeDocument/2006/math">
                    <m:acc>
                      <m:accPr>
                        <m:chr m:val="ˆ"/>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𝐵</m:t>
                        </m:r>
                      </m:e>
                    </m:acc>
                  </m:oMath>
                </a14:m>
                <a:r>
                  <a:rPr lang="en-US" sz="1800" dirty="0">
                    <a:effectLst/>
                    <a:latin typeface="Calibri Light" panose="020F0302020204030204" pitchFamily="34" charset="0"/>
                    <a:ea typeface="Calibri" panose="020F0502020204030204" pitchFamily="34" charset="0"/>
                  </a:rPr>
                  <a:t> as the operator </a:t>
                </a:r>
                <a14:m>
                  <m:oMath xmlns:m="http://schemas.openxmlformats.org/officeDocument/2006/math">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𝑞</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ˆ"/>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𝐵</m:t>
                            </m:r>
                          </m:e>
                        </m:acc>
                      </m:e>
                      <m: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acc>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𝐷</m:t>
                                </m:r>
                              </m:e>
                            </m:acc>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sub>
                    </m:sSub>
                  </m:oMath>
                </a14:m>
                <a:r>
                  <a:rPr lang="en-US" sz="1800" dirty="0">
                    <a:effectLst/>
                    <a:latin typeface="Calibri Light" panose="020F0302020204030204" pitchFamily="34" charset="0"/>
                    <a:ea typeface="Calibri" panose="020F0502020204030204" pitchFamily="34" charset="0"/>
                  </a:rPr>
                  <a:t>, and</a:t>
                </a:r>
                <a:br>
                  <a:rPr lang="en-US" sz="1800" dirty="0">
                    <a:effectLst/>
                    <a:latin typeface="Calibri Light" panose="020F0302020204030204" pitchFamily="34" charset="0"/>
                    <a:ea typeface="Calibri" panose="020F0502020204030204" pitchFamily="34" charset="0"/>
                  </a:rPr>
                </a:br>
                <a14:m>
                  <m:oMath xmlns:m="http://schemas.openxmlformats.org/officeDocument/2006/math">
                    <m:acc>
                      <m:accPr>
                        <m:chr m:val="ˆ"/>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𝑇</m:t>
                        </m:r>
                      </m:e>
                    </m:acc>
                  </m:oMath>
                </a14:m>
                <a:r>
                  <a:rPr lang="en-US" sz="1800" dirty="0">
                    <a:effectLst/>
                    <a:latin typeface="Calibri Light" panose="020F0302020204030204" pitchFamily="34" charset="0"/>
                    <a:ea typeface="Calibri" panose="020F0502020204030204" pitchFamily="34" charset="0"/>
                  </a:rPr>
                  <a:t> as the operator </a:t>
                </a:r>
                <a14:m>
                  <m:oMath xmlns:m="http://schemas.openxmlformats.org/officeDocument/2006/math">
                    <m:acc>
                      <m:accPr>
                        <m:chr m:val="ˆ"/>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e>
                    </m:acc>
                    <m:acc>
                      <m:accPr>
                        <m:chr m:val="ˆ"/>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𝐵</m:t>
                        </m:r>
                      </m:e>
                    </m:acc>
                  </m:oMath>
                </a14:m>
                <a:r>
                  <a:rPr lang="en-US" sz="1800" dirty="0">
                    <a:effectLst/>
                    <a:latin typeface="Calibri Light" panose="020F0302020204030204" pitchFamily="34" charset="0"/>
                    <a:ea typeface="Calibri" panose="020F0502020204030204" pitchFamily="34" charset="0"/>
                  </a:rPr>
                  <a:t>.</a:t>
                </a:r>
                <a:endParaRPr lang="en-US" sz="2800" dirty="0">
                  <a:effectLst/>
                  <a:latin typeface="Calibri" panose="020F0502020204030204" pitchFamily="34" charset="0"/>
                  <a:ea typeface="Calibri" panose="020F0502020204030204" pitchFamily="34" charset="0"/>
                </a:endParaRPr>
              </a:p>
            </p:txBody>
          </p:sp>
        </mc:Choice>
        <mc:Fallback xmlns="">
          <p:sp>
            <p:nvSpPr>
              <p:cNvPr id="10" name="CasellaDiTesto 9">
                <a:extLst>
                  <a:ext uri="{FF2B5EF4-FFF2-40B4-BE49-F238E27FC236}">
                    <a16:creationId xmlns:a16="http://schemas.microsoft.com/office/drawing/2014/main" id="{9AC2950D-2608-4409-9C80-F797B33EB8D8}"/>
                  </a:ext>
                </a:extLst>
              </p:cNvPr>
              <p:cNvSpPr txBox="1">
                <a:spLocks noRot="1" noChangeAspect="1" noMove="1" noResize="1" noEditPoints="1" noAdjustHandles="1" noChangeArrowheads="1" noChangeShapeType="1" noTextEdit="1"/>
              </p:cNvSpPr>
              <p:nvPr/>
            </p:nvSpPr>
            <p:spPr>
              <a:xfrm>
                <a:off x="4695640" y="2557548"/>
                <a:ext cx="6101080" cy="1067665"/>
              </a:xfrm>
              <a:prstGeom prst="rect">
                <a:avLst/>
              </a:prstGeom>
              <a:blipFill>
                <a:blip r:embed="rId7"/>
                <a:stretch>
                  <a:fillRect t="-3429" b="-8571"/>
                </a:stretch>
              </a:blipFill>
            </p:spPr>
            <p:txBody>
              <a:bodyPr/>
              <a:lstStyle/>
              <a:p>
                <a:r>
                  <a:rPr lang="en-US">
                    <a:noFill/>
                  </a:rPr>
                  <a:t> </a:t>
                </a:r>
              </a:p>
            </p:txBody>
          </p:sp>
        </mc:Fallback>
      </mc:AlternateContent>
    </p:spTree>
    <p:extLst>
      <p:ext uri="{BB962C8B-B14F-4D97-AF65-F5344CB8AC3E}">
        <p14:creationId xmlns:p14="http://schemas.microsoft.com/office/powerpoint/2010/main" val="26797567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28EA31BE-5307-48AA-BE72-453CBB7E3D50}"/>
              </a:ext>
            </a:extLst>
          </p:cNvPr>
          <p:cNvSpPr txBox="1"/>
          <p:nvPr/>
        </p:nvSpPr>
        <p:spPr>
          <a:xfrm>
            <a:off x="2567927" y="609707"/>
            <a:ext cx="8206090" cy="769441"/>
          </a:xfrm>
          <a:prstGeom prst="rect">
            <a:avLst/>
          </a:prstGeom>
          <a:noFill/>
        </p:spPr>
        <p:txBody>
          <a:bodyPr wrap="square" rtlCol="0">
            <a:spAutoFit/>
          </a:bodyPr>
          <a:lstStyle/>
          <a:p>
            <a:r>
              <a:rPr lang="it-IT" sz="4400" dirty="0">
                <a:solidFill>
                  <a:schemeClr val="accent1">
                    <a:lumMod val="50000"/>
                  </a:schemeClr>
                </a:solidFill>
                <a:latin typeface="+mj-lt"/>
              </a:rPr>
              <a:t>A fast history –</a:t>
            </a:r>
            <a:r>
              <a:rPr lang="it-IT" sz="4400" dirty="0" err="1">
                <a:solidFill>
                  <a:schemeClr val="accent1">
                    <a:lumMod val="50000"/>
                  </a:schemeClr>
                </a:solidFill>
                <a:latin typeface="+mj-lt"/>
              </a:rPr>
              <a:t>quron</a:t>
            </a:r>
            <a:r>
              <a:rPr lang="it-IT" sz="4400" dirty="0">
                <a:solidFill>
                  <a:schemeClr val="accent1">
                    <a:lumMod val="50000"/>
                  </a:schemeClr>
                </a:solidFill>
                <a:latin typeface="+mj-lt"/>
              </a:rPr>
              <a:t> </a:t>
            </a:r>
            <a:r>
              <a:rPr lang="it-IT" sz="4400" dirty="0" err="1">
                <a:solidFill>
                  <a:schemeClr val="accent1">
                    <a:lumMod val="50000"/>
                  </a:schemeClr>
                </a:solidFill>
                <a:latin typeface="+mj-lt"/>
              </a:rPr>
              <a:t>approach</a:t>
            </a:r>
            <a:r>
              <a:rPr lang="it-IT" sz="4400" dirty="0">
                <a:solidFill>
                  <a:schemeClr val="accent1">
                    <a:lumMod val="50000"/>
                  </a:schemeClr>
                </a:solidFill>
                <a:latin typeface="+mj-lt"/>
              </a:rPr>
              <a:t> -3</a:t>
            </a:r>
            <a:endParaRPr lang="en-US" sz="4400" dirty="0">
              <a:solidFill>
                <a:schemeClr val="accent1">
                  <a:lumMod val="50000"/>
                </a:schemeClr>
              </a:solidFill>
              <a:latin typeface="+mj-lt"/>
            </a:endParaRPr>
          </a:p>
        </p:txBody>
      </p:sp>
      <p:pic>
        <p:nvPicPr>
          <p:cNvPr id="5" name="Immagine 4">
            <a:extLst>
              <a:ext uri="{FF2B5EF4-FFF2-40B4-BE49-F238E27FC236}">
                <a16:creationId xmlns:a16="http://schemas.microsoft.com/office/drawing/2014/main" id="{ECA27413-AB5D-4A05-A9BD-7DBAB25832C7}"/>
              </a:ext>
            </a:extLst>
          </p:cNvPr>
          <p:cNvPicPr>
            <a:picLocks noChangeAspect="1"/>
          </p:cNvPicPr>
          <p:nvPr/>
        </p:nvPicPr>
        <p:blipFill>
          <a:blip r:embed="rId2"/>
          <a:stretch>
            <a:fillRect/>
          </a:stretch>
        </p:blipFill>
        <p:spPr>
          <a:xfrm>
            <a:off x="457295" y="1898620"/>
            <a:ext cx="5298507" cy="2057399"/>
          </a:xfrm>
          <a:prstGeom prst="rect">
            <a:avLst/>
          </a:prstGeom>
        </p:spPr>
      </p:pic>
      <p:pic>
        <p:nvPicPr>
          <p:cNvPr id="7" name="Immagine 6">
            <a:extLst>
              <a:ext uri="{FF2B5EF4-FFF2-40B4-BE49-F238E27FC236}">
                <a16:creationId xmlns:a16="http://schemas.microsoft.com/office/drawing/2014/main" id="{62494E25-D262-4F16-A6FD-B861746FFF07}"/>
              </a:ext>
            </a:extLst>
          </p:cNvPr>
          <p:cNvPicPr>
            <a:picLocks noChangeAspect="1"/>
          </p:cNvPicPr>
          <p:nvPr/>
        </p:nvPicPr>
        <p:blipFill>
          <a:blip r:embed="rId3"/>
          <a:stretch>
            <a:fillRect/>
          </a:stretch>
        </p:blipFill>
        <p:spPr>
          <a:xfrm>
            <a:off x="6293913" y="1867388"/>
            <a:ext cx="5440792" cy="2057400"/>
          </a:xfrm>
          <a:prstGeom prst="rect">
            <a:avLst/>
          </a:prstGeom>
        </p:spPr>
      </p:pic>
      <p:sp>
        <p:nvSpPr>
          <p:cNvPr id="8" name="CasellaDiTesto 7">
            <a:extLst>
              <a:ext uri="{FF2B5EF4-FFF2-40B4-BE49-F238E27FC236}">
                <a16:creationId xmlns:a16="http://schemas.microsoft.com/office/drawing/2014/main" id="{9FDB65AA-FBD9-4B93-AA9F-B1EC3266E8AA}"/>
              </a:ext>
            </a:extLst>
          </p:cNvPr>
          <p:cNvSpPr txBox="1"/>
          <p:nvPr/>
        </p:nvSpPr>
        <p:spPr>
          <a:xfrm>
            <a:off x="7157514" y="4015359"/>
            <a:ext cx="4058712" cy="646331"/>
          </a:xfrm>
          <a:prstGeom prst="rect">
            <a:avLst/>
          </a:prstGeom>
          <a:noFill/>
        </p:spPr>
        <p:txBody>
          <a:bodyPr wrap="square">
            <a:spAutoFit/>
          </a:bodyPr>
          <a:lstStyle/>
          <a:p>
            <a:r>
              <a:rPr lang="en-US" sz="1800" dirty="0">
                <a:effectLst/>
                <a:ea typeface="Calibri" panose="020F0502020204030204" pitchFamily="34" charset="0"/>
              </a:rPr>
              <a:t>The state of one of the quantum dot in the discretized quantum path integral</a:t>
            </a:r>
            <a:endParaRPr lang="en-US" dirty="0"/>
          </a:p>
        </p:txBody>
      </p:sp>
      <p:sp>
        <p:nvSpPr>
          <p:cNvPr id="10" name="CasellaDiTesto 9">
            <a:extLst>
              <a:ext uri="{FF2B5EF4-FFF2-40B4-BE49-F238E27FC236}">
                <a16:creationId xmlns:a16="http://schemas.microsoft.com/office/drawing/2014/main" id="{D2A9694F-B5C8-4693-809E-63F200F20730}"/>
              </a:ext>
            </a:extLst>
          </p:cNvPr>
          <p:cNvSpPr txBox="1"/>
          <p:nvPr/>
        </p:nvSpPr>
        <p:spPr>
          <a:xfrm>
            <a:off x="1697090" y="3969193"/>
            <a:ext cx="4058712" cy="369332"/>
          </a:xfrm>
          <a:prstGeom prst="rect">
            <a:avLst/>
          </a:prstGeom>
          <a:noFill/>
        </p:spPr>
        <p:txBody>
          <a:bodyPr wrap="square">
            <a:spAutoFit/>
          </a:bodyPr>
          <a:lstStyle/>
          <a:p>
            <a:r>
              <a:rPr lang="en-US" sz="1800" dirty="0">
                <a:effectLst/>
                <a:ea typeface="Calibri" panose="020F0502020204030204" pitchFamily="34" charset="0"/>
              </a:rPr>
              <a:t>Group of four quantum dots</a:t>
            </a:r>
            <a:endParaRPr lang="en-US" dirty="0"/>
          </a:p>
        </p:txBody>
      </p:sp>
      <p:pic>
        <p:nvPicPr>
          <p:cNvPr id="4098" name="Picture 2" descr="PDF) A Quantum Dot Neural Network">
            <a:extLst>
              <a:ext uri="{FF2B5EF4-FFF2-40B4-BE49-F238E27FC236}">
                <a16:creationId xmlns:a16="http://schemas.microsoft.com/office/drawing/2014/main" id="{961D6044-496B-46E0-8BE9-37D649873FE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260" b="66222"/>
          <a:stretch/>
        </p:blipFill>
        <p:spPr bwMode="auto">
          <a:xfrm>
            <a:off x="3333591" y="4826470"/>
            <a:ext cx="4845209" cy="2031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53093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28EA31BE-5307-48AA-BE72-453CBB7E3D50}"/>
              </a:ext>
            </a:extLst>
          </p:cNvPr>
          <p:cNvSpPr txBox="1"/>
          <p:nvPr/>
        </p:nvSpPr>
        <p:spPr>
          <a:xfrm>
            <a:off x="2567927" y="609707"/>
            <a:ext cx="8206090" cy="769441"/>
          </a:xfrm>
          <a:prstGeom prst="rect">
            <a:avLst/>
          </a:prstGeom>
          <a:noFill/>
        </p:spPr>
        <p:txBody>
          <a:bodyPr wrap="square" rtlCol="0">
            <a:spAutoFit/>
          </a:bodyPr>
          <a:lstStyle/>
          <a:p>
            <a:r>
              <a:rPr lang="it-IT" sz="4400" dirty="0">
                <a:solidFill>
                  <a:schemeClr val="accent1">
                    <a:lumMod val="50000"/>
                  </a:schemeClr>
                </a:solidFill>
                <a:latin typeface="+mj-lt"/>
              </a:rPr>
              <a:t>A fast history –</a:t>
            </a:r>
            <a:r>
              <a:rPr lang="it-IT" sz="4400" dirty="0" err="1">
                <a:solidFill>
                  <a:schemeClr val="accent1">
                    <a:lumMod val="50000"/>
                  </a:schemeClr>
                </a:solidFill>
                <a:latin typeface="+mj-lt"/>
              </a:rPr>
              <a:t>quron</a:t>
            </a:r>
            <a:r>
              <a:rPr lang="it-IT" sz="4400" dirty="0">
                <a:solidFill>
                  <a:schemeClr val="accent1">
                    <a:lumMod val="50000"/>
                  </a:schemeClr>
                </a:solidFill>
                <a:latin typeface="+mj-lt"/>
              </a:rPr>
              <a:t> </a:t>
            </a:r>
            <a:r>
              <a:rPr lang="it-IT" sz="4400" dirty="0" err="1">
                <a:solidFill>
                  <a:schemeClr val="accent1">
                    <a:lumMod val="50000"/>
                  </a:schemeClr>
                </a:solidFill>
                <a:latin typeface="+mj-lt"/>
              </a:rPr>
              <a:t>approach</a:t>
            </a:r>
            <a:r>
              <a:rPr lang="it-IT" sz="4400" dirty="0">
                <a:solidFill>
                  <a:schemeClr val="accent1">
                    <a:lumMod val="50000"/>
                  </a:schemeClr>
                </a:solidFill>
                <a:latin typeface="+mj-lt"/>
              </a:rPr>
              <a:t> -4</a:t>
            </a:r>
            <a:endParaRPr lang="en-US" sz="4400" dirty="0">
              <a:solidFill>
                <a:schemeClr val="accent1">
                  <a:lumMod val="50000"/>
                </a:schemeClr>
              </a:solidFill>
              <a:latin typeface="+mj-lt"/>
            </a:endParaRPr>
          </a:p>
        </p:txBody>
      </p:sp>
      <p:pic>
        <p:nvPicPr>
          <p:cNvPr id="6" name="Immagine 5">
            <a:extLst>
              <a:ext uri="{FF2B5EF4-FFF2-40B4-BE49-F238E27FC236}">
                <a16:creationId xmlns:a16="http://schemas.microsoft.com/office/drawing/2014/main" id="{7763C08F-746D-41A4-AE6F-840086EDB7FD}"/>
              </a:ext>
            </a:extLst>
          </p:cNvPr>
          <p:cNvPicPr>
            <a:picLocks noChangeAspect="1"/>
          </p:cNvPicPr>
          <p:nvPr/>
        </p:nvPicPr>
        <p:blipFill rotWithShape="1">
          <a:blip r:embed="rId2"/>
          <a:srcRect b="34836"/>
          <a:stretch/>
        </p:blipFill>
        <p:spPr bwMode="auto">
          <a:xfrm>
            <a:off x="1347041" y="1791929"/>
            <a:ext cx="9426976" cy="2347452"/>
          </a:xfrm>
          <a:prstGeom prst="rect">
            <a:avLst/>
          </a:prstGeom>
          <a:ln>
            <a:noFill/>
          </a:ln>
          <a:extLst>
            <a:ext uri="{53640926-AAD7-44D8-BBD7-CCE9431645EC}">
              <a14:shadowObscured xmlns:a14="http://schemas.microsoft.com/office/drawing/2010/main"/>
            </a:ext>
          </a:extLst>
        </p:spPr>
      </p:pic>
      <p:pic>
        <p:nvPicPr>
          <p:cNvPr id="9" name="Immagine 8">
            <a:extLst>
              <a:ext uri="{FF2B5EF4-FFF2-40B4-BE49-F238E27FC236}">
                <a16:creationId xmlns:a16="http://schemas.microsoft.com/office/drawing/2014/main" id="{54549A69-909B-436A-ACF8-12EEB8560897}"/>
              </a:ext>
            </a:extLst>
          </p:cNvPr>
          <p:cNvPicPr>
            <a:picLocks noChangeAspect="1"/>
          </p:cNvPicPr>
          <p:nvPr/>
        </p:nvPicPr>
        <p:blipFill>
          <a:blip r:embed="rId3"/>
          <a:stretch>
            <a:fillRect/>
          </a:stretch>
        </p:blipFill>
        <p:spPr>
          <a:xfrm>
            <a:off x="7310437" y="4248150"/>
            <a:ext cx="3667125" cy="2609850"/>
          </a:xfrm>
          <a:prstGeom prst="rect">
            <a:avLst/>
          </a:prstGeom>
        </p:spPr>
      </p:pic>
      <p:pic>
        <p:nvPicPr>
          <p:cNvPr id="5122" name="Picture 2" descr="PDF) A quantum Hopfield associative memory implemented on an actual quantum  processor">
            <a:extLst>
              <a:ext uri="{FF2B5EF4-FFF2-40B4-BE49-F238E27FC236}">
                <a16:creationId xmlns:a16="http://schemas.microsoft.com/office/drawing/2014/main" id="{6370C232-9CA3-4D35-928C-9F0010798B0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 r="-167" b="52832"/>
          <a:stretch/>
        </p:blipFill>
        <p:spPr bwMode="auto">
          <a:xfrm>
            <a:off x="1906331" y="4248150"/>
            <a:ext cx="4189669" cy="2595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42422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FE76CBD5-1122-4EAD-9D95-19D33AF70AE2}"/>
              </a:ext>
            </a:extLst>
          </p:cNvPr>
          <p:cNvPicPr>
            <a:picLocks noChangeAspect="1"/>
          </p:cNvPicPr>
          <p:nvPr/>
        </p:nvPicPr>
        <p:blipFill>
          <a:blip r:embed="rId2"/>
          <a:stretch>
            <a:fillRect/>
          </a:stretch>
        </p:blipFill>
        <p:spPr>
          <a:xfrm>
            <a:off x="7229157" y="1266190"/>
            <a:ext cx="4576763" cy="2457450"/>
          </a:xfrm>
          <a:prstGeom prst="rect">
            <a:avLst/>
          </a:prstGeom>
        </p:spPr>
      </p:pic>
      <p:sp>
        <p:nvSpPr>
          <p:cNvPr id="4" name="CasellaDiTesto 3">
            <a:extLst>
              <a:ext uri="{FF2B5EF4-FFF2-40B4-BE49-F238E27FC236}">
                <a16:creationId xmlns:a16="http://schemas.microsoft.com/office/drawing/2014/main" id="{28EA31BE-5307-48AA-BE72-453CBB7E3D50}"/>
              </a:ext>
            </a:extLst>
          </p:cNvPr>
          <p:cNvSpPr txBox="1"/>
          <p:nvPr/>
        </p:nvSpPr>
        <p:spPr>
          <a:xfrm>
            <a:off x="506361" y="673345"/>
            <a:ext cx="10199260" cy="769441"/>
          </a:xfrm>
          <a:prstGeom prst="rect">
            <a:avLst/>
          </a:prstGeom>
          <a:noFill/>
        </p:spPr>
        <p:txBody>
          <a:bodyPr wrap="square" rtlCol="0">
            <a:spAutoFit/>
          </a:bodyPr>
          <a:lstStyle/>
          <a:p>
            <a:r>
              <a:rPr lang="it-IT" sz="4400" dirty="0">
                <a:solidFill>
                  <a:schemeClr val="accent1">
                    <a:lumMod val="50000"/>
                  </a:schemeClr>
                </a:solidFill>
                <a:latin typeface="+mj-lt"/>
              </a:rPr>
              <a:t>A fast history – </a:t>
            </a:r>
            <a:r>
              <a:rPr lang="it-IT" sz="4400" dirty="0" err="1">
                <a:solidFill>
                  <a:schemeClr val="accent1">
                    <a:lumMod val="50000"/>
                  </a:schemeClr>
                </a:solidFill>
                <a:latin typeface="+mj-lt"/>
              </a:rPr>
              <a:t>measurement</a:t>
            </a:r>
            <a:r>
              <a:rPr lang="it-IT" sz="4400" dirty="0">
                <a:solidFill>
                  <a:schemeClr val="accent1">
                    <a:lumMod val="50000"/>
                  </a:schemeClr>
                </a:solidFill>
                <a:latin typeface="+mj-lt"/>
              </a:rPr>
              <a:t> </a:t>
            </a:r>
            <a:r>
              <a:rPr lang="it-IT" sz="4400" dirty="0" err="1">
                <a:solidFill>
                  <a:schemeClr val="accent1">
                    <a:lumMod val="50000"/>
                  </a:schemeClr>
                </a:solidFill>
                <a:latin typeface="+mj-lt"/>
              </a:rPr>
              <a:t>approach</a:t>
            </a:r>
            <a:r>
              <a:rPr lang="it-IT" sz="4400" dirty="0">
                <a:solidFill>
                  <a:schemeClr val="accent1">
                    <a:lumMod val="50000"/>
                  </a:schemeClr>
                </a:solidFill>
                <a:latin typeface="+mj-lt"/>
              </a:rPr>
              <a:t> -1 </a:t>
            </a:r>
            <a:endParaRPr lang="en-US" sz="4400" dirty="0">
              <a:solidFill>
                <a:schemeClr val="accent1">
                  <a:lumMod val="50000"/>
                </a:schemeClr>
              </a:solidFill>
              <a:latin typeface="+mj-lt"/>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2546C524-2E25-4728-A553-36AEBC125684}"/>
                  </a:ext>
                </a:extLst>
              </p:cNvPr>
              <p:cNvSpPr txBox="1"/>
              <p:nvPr/>
            </p:nvSpPr>
            <p:spPr>
              <a:xfrm>
                <a:off x="506361" y="1675071"/>
                <a:ext cx="11484078" cy="4771563"/>
              </a:xfrm>
              <a:prstGeom prst="rect">
                <a:avLst/>
              </a:prstGeom>
              <a:noFill/>
            </p:spPr>
            <p:txBody>
              <a:bodyPr wrap="square">
                <a:spAutoFit/>
              </a:bodyPr>
              <a:lstStyle/>
              <a:p>
                <a:pPr>
                  <a:spcAft>
                    <a:spcPts val="1200"/>
                  </a:spcAft>
                </a:pPr>
                <a:r>
                  <a:rPr lang="en-US" sz="1800" dirty="0">
                    <a:effectLst/>
                    <a:latin typeface="Calibri Light" panose="020F0302020204030204" pitchFamily="34" charset="0"/>
                    <a:ea typeface="Calibri" panose="020F0502020204030204" pitchFamily="34" charset="0"/>
                  </a:rPr>
                  <a:t>The time evolution of a quantum state given by Path Integrals</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left"/>
                    </m:oMathParaPr>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𝜓</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nary>
                        <m:naryPr>
                          <m:chr m:val="∬"/>
                          <m:limLoc m:val="undOvr"/>
                          <m:subHide m:val="on"/>
                          <m:supHide m:val="on"/>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naryPr>
                        <m:sub/>
                        <m:sup/>
                        <m:e>
                          <m:r>
                            <a:rPr lang="en-US" sz="1800" i="1">
                              <a:effectLst/>
                              <a:latin typeface="Cambria Math" panose="02040503050406030204" pitchFamily="18" charset="0"/>
                              <a:ea typeface="Calibri" panose="020F0502020204030204" pitchFamily="34" charset="0"/>
                              <a:cs typeface="Calibri Light" panose="020F0302020204030204" pitchFamily="34" charset="0"/>
                            </a:rPr>
                            <m:t> </m:t>
                          </m:r>
                        </m:e>
                      </m:nary>
                      <m:r>
                        <a:rPr lang="en-US" sz="1800" i="1">
                          <a:effectLst/>
                          <a:latin typeface="Cambria Math" panose="02040503050406030204" pitchFamily="18" charset="0"/>
                          <a:ea typeface="Calibri" panose="020F0502020204030204" pitchFamily="34" charset="0"/>
                          <a:cs typeface="Calibri Light" panose="020F0302020204030204" pitchFamily="34" charset="0"/>
                        </a:rPr>
                        <m:t>𝐺</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e>
                      </m:d>
                      <m:r>
                        <a:rPr lang="en-US" sz="1800" i="1">
                          <a:effectLst/>
                          <a:latin typeface="Cambria Math" panose="02040503050406030204" pitchFamily="18" charset="0"/>
                          <a:ea typeface="Calibri" panose="020F0502020204030204" pitchFamily="34" charset="0"/>
                          <a:cs typeface="Calibri Light" panose="020F0302020204030204" pitchFamily="34" charset="0"/>
                        </a:rPr>
                        <m:t>𝜓</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e>
                      </m:d>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sz="2800" dirty="0">
                  <a:effectLst/>
                  <a:latin typeface="Calibri" panose="020F0502020204030204" pitchFamily="34" charset="0"/>
                  <a:ea typeface="Calibri" panose="020F0502020204030204" pitchFamily="34" charset="0"/>
                </a:endParaRPr>
              </a:p>
              <a:p>
                <a:pPr>
                  <a:spcAft>
                    <a:spcPts val="1200"/>
                  </a:spcAft>
                </a:pPr>
                <a:r>
                  <a:rPr lang="en-US" sz="1800" dirty="0">
                    <a:effectLst/>
                    <a:latin typeface="Calibri Light" panose="020F0302020204030204" pitchFamily="34" charset="0"/>
                    <a:ea typeface="Calibri" panose="020F0502020204030204" pitchFamily="34" charset="0"/>
                  </a:rPr>
                  <a:t>The memory recall is done by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𝑞</m:t>
                            </m:r>
                          </m:e>
                        </m:acc>
                      </m:e>
                      <m:sub>
                        <m:r>
                          <m:rPr>
                            <m:nor/>
                          </m:rPr>
                          <a:rPr lang="en-US" sz="1800">
                            <a:effectLst/>
                            <a:latin typeface="Calibri Light" panose="020F0302020204030204" pitchFamily="34" charset="0"/>
                            <a:ea typeface="Calibri" panose="020F0502020204030204" pitchFamily="34" charset="0"/>
                          </a:rPr>
                          <m:t>output</m:t>
                        </m:r>
                        <m:r>
                          <m:rPr>
                            <m:nor/>
                          </m:rPr>
                          <a:rPr lang="en-US" sz="1800" i="1">
                            <a:effectLst/>
                            <a:latin typeface="Calibri Light" panose="020F0302020204030204" pitchFamily="34" charset="0"/>
                            <a:ea typeface="Calibri" panose="020F0502020204030204" pitchFamily="34" charset="0"/>
                          </a:rPr>
                          <m:t> </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𝐉</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𝑞</m:t>
                            </m:r>
                          </m:e>
                        </m:acc>
                      </m:e>
                      <m:sub>
                        <m:r>
                          <m:rPr>
                            <m:nor/>
                          </m:rPr>
                          <a:rPr lang="en-US" sz="1800">
                            <a:effectLst/>
                            <a:latin typeface="Calibri Light" panose="020F0302020204030204" pitchFamily="34" charset="0"/>
                            <a:ea typeface="Calibri" panose="020F0502020204030204" pitchFamily="34" charset="0"/>
                          </a:rPr>
                          <m:t>input</m:t>
                        </m:r>
                        <m:r>
                          <m:rPr>
                            <m:nor/>
                          </m:rPr>
                          <a:rPr lang="en-US" sz="1800" i="1">
                            <a:effectLst/>
                            <a:latin typeface="Calibri Light" panose="020F0302020204030204" pitchFamily="34" charset="0"/>
                            <a:ea typeface="Calibri" panose="020F0502020204030204" pitchFamily="34" charset="0"/>
                          </a:rPr>
                          <m:t> </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𝐉</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𝑞</m:t>
                            </m:r>
                          </m:e>
                        </m:acc>
                      </m:e>
                      <m:sup>
                        <m:r>
                          <a:rPr lang="en-US" sz="1800" i="1">
                            <a:effectLst/>
                            <a:latin typeface="Cambria Math" panose="02040503050406030204" pitchFamily="18" charset="0"/>
                            <a:ea typeface="Calibri" panose="020F0502020204030204" pitchFamily="34" charset="0"/>
                            <a:cs typeface="Calibri Light" panose="020F0302020204030204" pitchFamily="34" charset="0"/>
                          </a:rPr>
                          <m:t>′</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rPr>
                  <a:t> </a:t>
                </a:r>
                <a:br>
                  <a:rPr lang="en-US" sz="1800" dirty="0">
                    <a:effectLst/>
                    <a:latin typeface="Calibri Light" panose="020F0302020204030204" pitchFamily="34" charset="0"/>
                    <a:ea typeface="Calibri" panose="020F0502020204030204" pitchFamily="34" charset="0"/>
                  </a:rPr>
                </a:br>
                <a:r>
                  <a:rPr lang="en-US" sz="1800" dirty="0">
                    <a:effectLst/>
                    <a:latin typeface="Calibri Light" panose="020F0302020204030204" pitchFamily="34" charset="0"/>
                    <a:ea typeface="Calibri" panose="020F0502020204030204" pitchFamily="34" charset="0"/>
                  </a:rPr>
                  <a:t>This can be analyzed as follows:</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𝑞</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acc>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𝛿</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𝐽</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acc>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acc>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e>
                      </m:d>
                      <m:r>
                        <a:rPr lang="en-US" sz="1800" i="1">
                          <a:effectLst/>
                          <a:latin typeface="Cambria Math" panose="02040503050406030204" pitchFamily="18" charset="0"/>
                          <a:ea typeface="Calibri" panose="020F0502020204030204" pitchFamily="34" charset="0"/>
                          <a:cs typeface="Calibri Light" panose="020F0302020204030204" pitchFamily="34" charset="0"/>
                        </a:rPr>
                        <m:t>𝑞</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acc>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e>
                      </m:d>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acc>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nary>
                        <m:naryPr>
                          <m:limLoc m:val="undOvr"/>
                          <m:subHide m:val="on"/>
                          <m:supHide m:val="on"/>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naryPr>
                        <m:sub/>
                        <m:sup/>
                        <m:e>
                          <m:r>
                            <a:rPr lang="en-US" sz="1800" i="1">
                              <a:effectLst/>
                              <a:latin typeface="Cambria Math" panose="02040503050406030204" pitchFamily="18" charset="0"/>
                              <a:ea typeface="Calibri" panose="020F0502020204030204" pitchFamily="34" charset="0"/>
                              <a:cs typeface="Calibri Light" panose="020F0302020204030204" pitchFamily="34" charset="0"/>
                            </a:rPr>
                            <m:t> </m:t>
                          </m:r>
                        </m:e>
                      </m:nary>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nary>
                            <m:naryPr>
                              <m:chr m:val="∑"/>
                              <m:limLoc m:val="undOvr"/>
                              <m:grow m:val="on"/>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naryPr>
                            <m:sub>
                              <m:r>
                                <a:rPr lang="en-US" sz="1800" i="1">
                                  <a:effectLst/>
                                  <a:latin typeface="Cambria Math" panose="02040503050406030204" pitchFamily="18" charset="0"/>
                                  <a:ea typeface="Calibri" panose="020F0502020204030204" pitchFamily="34" charset="0"/>
                                  <a:cs typeface="Calibri Light" panose="020F0302020204030204" pitchFamily="34" charset="0"/>
                                </a:rPr>
                                <m:t>𝑘</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𝑃</m:t>
                              </m:r>
                            </m:sup>
                            <m:e>
                              <m:r>
                                <a:rPr lang="en-US" sz="1800">
                                  <a:effectLst/>
                                  <a:latin typeface="Cambria Math" panose="02040503050406030204" pitchFamily="18" charset="0"/>
                                  <a:ea typeface="Calibri" panose="020F0502020204030204" pitchFamily="34" charset="0"/>
                                  <a:cs typeface="Calibri Light" panose="020F0302020204030204" pitchFamily="34" charset="0"/>
                                </a:rPr>
                                <m:t> </m:t>
                              </m:r>
                            </m:e>
                          </m:nary>
                          <m:r>
                            <a:rPr lang="en-US" sz="1800">
                              <a:effectLst/>
                              <a:latin typeface="Cambria Math" panose="02040503050406030204" pitchFamily="18" charset="0"/>
                              <a:ea typeface="Calibri" panose="020F0502020204030204" pitchFamily="34" charset="0"/>
                              <a:cs typeface="Calibri Light" panose="020F0302020204030204" pitchFamily="34" charset="0"/>
                            </a:rPr>
                            <m:t> </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𝑣</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𝑘</m:t>
                              </m:r>
                            </m:sup>
                          </m:sSup>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acc>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e>
                          </m:d>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𝑣</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𝑘</m:t>
                              </m:r>
                            </m:sup>
                          </m:sSup>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acc>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e>
                          </m:d>
                        </m:e>
                      </m:d>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𝑞</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m:t>
                          </m:r>
                        </m:sup>
                      </m:sSup>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acc>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e>
                      </m:d>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acc>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oMath>
                  </m:oMathPara>
                </a14:m>
                <a:endParaRPr lang="en-US" sz="2800" dirty="0">
                  <a:effectLst/>
                  <a:latin typeface="Calibri" panose="020F0502020204030204" pitchFamily="34" charset="0"/>
                  <a:ea typeface="Calibri" panose="020F0502020204030204" pitchFamily="34" charset="0"/>
                </a:endParaRPr>
              </a:p>
              <a:p>
                <a:pPr>
                  <a:spcAft>
                    <a:spcPts val="1200"/>
                  </a:spcAft>
                </a:pPr>
                <a:r>
                  <a:rPr lang="en-US" sz="1800" dirty="0">
                    <a:effectLst/>
                    <a:latin typeface="Calibri Light" panose="020F0302020204030204" pitchFamily="34" charset="0"/>
                    <a:ea typeface="Calibri" panose="020F0502020204030204" pitchFamily="34" charset="0"/>
                  </a:rPr>
                  <a:t> </a:t>
                </a:r>
                <a:endParaRPr lang="en-US" sz="2800" dirty="0">
                  <a:effectLst/>
                  <a:latin typeface="Calibri" panose="020F0502020204030204" pitchFamily="34" charset="0"/>
                  <a:ea typeface="Calibri" panose="020F0502020204030204" pitchFamily="34" charset="0"/>
                </a:endParaRPr>
              </a:p>
              <a:p>
                <a:pPr>
                  <a:spcAft>
                    <a:spcPts val="1200"/>
                  </a:spcAft>
                </a:pPr>
                <a:r>
                  <a:rPr lang="en-US" sz="1800" dirty="0">
                    <a:effectLst/>
                    <a:latin typeface="Calibri Light" panose="020F0302020204030204" pitchFamily="34" charset="0"/>
                    <a:ea typeface="Calibri" panose="020F0502020204030204" pitchFamily="34" charset="0"/>
                  </a:rPr>
                  <a:t>Where </a:t>
                </a:r>
                <a:r>
                  <a:rPr lang="en-US" sz="1800" b="1" dirty="0">
                    <a:effectLst/>
                    <a:latin typeface="Calibri Light" panose="020F0302020204030204" pitchFamily="34" charset="0"/>
                    <a:ea typeface="Calibri" panose="020F0502020204030204" pitchFamily="34" charset="0"/>
                  </a:rPr>
                  <a:t>J </a:t>
                </a:r>
                <a:r>
                  <a:rPr lang="en-US" sz="1800" dirty="0">
                    <a:effectLst/>
                    <a:latin typeface="Calibri Light" panose="020F0302020204030204" pitchFamily="34" charset="0"/>
                    <a:ea typeface="Calibri" panose="020F0502020204030204" pitchFamily="34" charset="0"/>
                  </a:rPr>
                  <a:t>is the Hebb dynamical equation for synaptic connections </a:t>
                </a:r>
                <a:br>
                  <a:rPr lang="en-US" sz="1800" dirty="0">
                    <a:effectLst/>
                    <a:latin typeface="Calibri Light" panose="020F0302020204030204" pitchFamily="34" charset="0"/>
                    <a:ea typeface="Calibri" panose="020F0502020204030204" pitchFamily="34" charset="0"/>
                  </a:rPr>
                </a:br>
                <a:r>
                  <a:rPr lang="en-US" sz="1800" dirty="0">
                    <a:effectLst/>
                    <a:latin typeface="Calibri Light" panose="020F0302020204030204" pitchFamily="34" charset="0"/>
                    <a:ea typeface="Calibri" panose="020F0502020204030204" pitchFamily="34" charset="0"/>
                  </a:rPr>
                  <a:t>at the same time if we operate quantum memory recall realized by wave-function collapse</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Ψ</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acc>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𝛿</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𝐺</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acc>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acc>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e>
                      </m:d>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Ψ</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m:t>
                          </m:r>
                        </m:sup>
                      </m:sSup>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acc>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e>
                      </m:d>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acc>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𝜓</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𝑙</m:t>
                              </m:r>
                            </m:sup>
                          </m:sSup>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acc>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e>
                              </m:d>
                            </m:e>
                            <m:sup>
                              <m:r>
                                <a:rPr lang="en-US" sz="1800" i="1">
                                  <a:effectLst/>
                                  <a:latin typeface="Cambria Math" panose="02040503050406030204" pitchFamily="18" charset="0"/>
                                  <a:ea typeface="Calibri" panose="020F0502020204030204" pitchFamily="34" charset="0"/>
                                  <a:cs typeface="Calibri Light" panose="020F0302020204030204" pitchFamily="34" charset="0"/>
                                </a:rPr>
                                <m:t>∗</m:t>
                              </m:r>
                            </m:sup>
                          </m:sSup>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𝜓</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𝑙</m:t>
                              </m:r>
                            </m:sup>
                          </m:sSup>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acc>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e>
                          </m:d>
                        </m:e>
                      </m:d>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Ψ</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m:t>
                          </m:r>
                        </m:sup>
                      </m:sSup>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acc>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e>
                      </m:d>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e>
                          </m:acc>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oMath>
                  </m:oMathPara>
                </a14:m>
                <a:endParaRPr lang="en-US" sz="2800" dirty="0">
                  <a:effectLst/>
                  <a:latin typeface="Calibri" panose="020F0502020204030204" pitchFamily="34" charset="0"/>
                  <a:ea typeface="Calibri" panose="020F0502020204030204" pitchFamily="34" charset="0"/>
                </a:endParaRPr>
              </a:p>
            </p:txBody>
          </p:sp>
        </mc:Choice>
        <mc:Fallback xmlns="">
          <p:sp>
            <p:nvSpPr>
              <p:cNvPr id="5" name="CasellaDiTesto 4">
                <a:extLst>
                  <a:ext uri="{FF2B5EF4-FFF2-40B4-BE49-F238E27FC236}">
                    <a16:creationId xmlns:a16="http://schemas.microsoft.com/office/drawing/2014/main" id="{2546C524-2E25-4728-A553-36AEBC125684}"/>
                  </a:ext>
                </a:extLst>
              </p:cNvPr>
              <p:cNvSpPr txBox="1">
                <a:spLocks noRot="1" noChangeAspect="1" noMove="1" noResize="1" noEditPoints="1" noAdjustHandles="1" noChangeArrowheads="1" noChangeShapeType="1" noTextEdit="1"/>
              </p:cNvSpPr>
              <p:nvPr/>
            </p:nvSpPr>
            <p:spPr>
              <a:xfrm>
                <a:off x="506361" y="1675071"/>
                <a:ext cx="11484078" cy="4771563"/>
              </a:xfrm>
              <a:prstGeom prst="rect">
                <a:avLst/>
              </a:prstGeom>
              <a:blipFill>
                <a:blip r:embed="rId4"/>
                <a:stretch>
                  <a:fillRect l="-425" t="-766"/>
                </a:stretch>
              </a:blipFill>
            </p:spPr>
            <p:txBody>
              <a:bodyPr/>
              <a:lstStyle/>
              <a:p>
                <a:r>
                  <a:rPr lang="en-US">
                    <a:noFill/>
                  </a:rPr>
                  <a:t> </a:t>
                </a:r>
              </a:p>
            </p:txBody>
          </p:sp>
        </mc:Fallback>
      </mc:AlternateContent>
    </p:spTree>
    <p:extLst>
      <p:ext uri="{BB962C8B-B14F-4D97-AF65-F5344CB8AC3E}">
        <p14:creationId xmlns:p14="http://schemas.microsoft.com/office/powerpoint/2010/main" val="38783491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28EA31BE-5307-48AA-BE72-453CBB7E3D50}"/>
              </a:ext>
            </a:extLst>
          </p:cNvPr>
          <p:cNvSpPr txBox="1"/>
          <p:nvPr/>
        </p:nvSpPr>
        <p:spPr>
          <a:xfrm>
            <a:off x="375435" y="333802"/>
            <a:ext cx="10199260" cy="769441"/>
          </a:xfrm>
          <a:prstGeom prst="rect">
            <a:avLst/>
          </a:prstGeom>
          <a:noFill/>
        </p:spPr>
        <p:txBody>
          <a:bodyPr wrap="square" rtlCol="0">
            <a:spAutoFit/>
          </a:bodyPr>
          <a:lstStyle/>
          <a:p>
            <a:r>
              <a:rPr lang="it-IT" sz="4400" dirty="0">
                <a:solidFill>
                  <a:schemeClr val="accent1">
                    <a:lumMod val="50000"/>
                  </a:schemeClr>
                </a:solidFill>
                <a:latin typeface="+mj-lt"/>
              </a:rPr>
              <a:t>A fast history – </a:t>
            </a:r>
            <a:r>
              <a:rPr lang="it-IT" sz="4400" dirty="0" err="1">
                <a:solidFill>
                  <a:schemeClr val="accent1">
                    <a:lumMod val="50000"/>
                  </a:schemeClr>
                </a:solidFill>
                <a:latin typeface="+mj-lt"/>
              </a:rPr>
              <a:t>measurement</a:t>
            </a:r>
            <a:r>
              <a:rPr lang="it-IT" sz="4400" dirty="0">
                <a:solidFill>
                  <a:schemeClr val="accent1">
                    <a:lumMod val="50000"/>
                  </a:schemeClr>
                </a:solidFill>
                <a:latin typeface="+mj-lt"/>
              </a:rPr>
              <a:t> </a:t>
            </a:r>
            <a:r>
              <a:rPr lang="it-IT" sz="4400" dirty="0" err="1">
                <a:solidFill>
                  <a:schemeClr val="accent1">
                    <a:lumMod val="50000"/>
                  </a:schemeClr>
                </a:solidFill>
                <a:latin typeface="+mj-lt"/>
              </a:rPr>
              <a:t>approach</a:t>
            </a:r>
            <a:r>
              <a:rPr lang="it-IT" sz="4400" dirty="0">
                <a:solidFill>
                  <a:schemeClr val="accent1">
                    <a:lumMod val="50000"/>
                  </a:schemeClr>
                </a:solidFill>
                <a:latin typeface="+mj-lt"/>
              </a:rPr>
              <a:t> -2 </a:t>
            </a:r>
            <a:endParaRPr lang="en-US" sz="4400" dirty="0">
              <a:solidFill>
                <a:schemeClr val="accent1">
                  <a:lumMod val="50000"/>
                </a:schemeClr>
              </a:solidFill>
              <a:latin typeface="+mj-lt"/>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3A96A407-515E-4839-8932-F1AA9E6D63B8}"/>
                  </a:ext>
                </a:extLst>
              </p:cNvPr>
              <p:cNvSpPr txBox="1"/>
              <p:nvPr/>
            </p:nvSpPr>
            <p:spPr>
              <a:xfrm>
                <a:off x="245806" y="1382913"/>
                <a:ext cx="11946194" cy="5969326"/>
              </a:xfrm>
              <a:prstGeom prst="rect">
                <a:avLst/>
              </a:prstGeom>
              <a:noFill/>
            </p:spPr>
            <p:txBody>
              <a:bodyPr wrap="square">
                <a:spAutoFit/>
              </a:bodyPr>
              <a:lstStyle/>
              <a:p>
                <a:r>
                  <a:rPr lang="en-US" dirty="0">
                    <a:ea typeface="Calibri" panose="020F0502020204030204" pitchFamily="34" charset="0"/>
                  </a:rPr>
                  <a:t>R</a:t>
                </a:r>
                <a:r>
                  <a:rPr lang="en-US" dirty="0">
                    <a:effectLst/>
                    <a:ea typeface="Calibri" panose="020F0502020204030204" pitchFamily="34" charset="0"/>
                  </a:rPr>
                  <a:t>eplacing the step-or sigmoid-activation function with a quantum measurement. </a:t>
                </a:r>
              </a:p>
              <a:p>
                <a:r>
                  <a:rPr lang="en-US" dirty="0">
                    <a:effectLst/>
                    <a:ea typeface="Calibri" panose="020F0502020204030204" pitchFamily="34" charset="0"/>
                  </a:rPr>
                  <a:t> </a:t>
                </a:r>
              </a:p>
              <a:p>
                <a:pPr>
                  <a:spcAft>
                    <a:spcPts val="1200"/>
                  </a:spcAft>
                </a:pPr>
                <a14:m>
                  <m:oMathPara xmlns:m="http://schemas.openxmlformats.org/officeDocument/2006/math">
                    <m:oMathParaPr>
                      <m:jc m:val="left"/>
                    </m:oMathParaPr>
                    <m:oMath xmlns:m="http://schemas.openxmlformats.org/officeDocument/2006/math">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𝜓</m:t>
                      </m:r>
                      <m:r>
                        <a:rPr lang="en-US">
                          <a:effectLst/>
                          <a:latin typeface="Cambria Math" panose="02040503050406030204" pitchFamily="18" charset="0"/>
                          <a:ea typeface="Calibri" panose="020F0502020204030204" pitchFamily="34" charset="0"/>
                          <a:cs typeface="Calibri Light" panose="020F0302020204030204" pitchFamily="34" charset="0"/>
                        </a:rPr>
                        <m:t>(0)⟩→</m:t>
                      </m:r>
                      <m:r>
                        <a:rPr lang="en-US" i="1">
                          <a:effectLst/>
                          <a:latin typeface="Cambria Math" panose="02040503050406030204" pitchFamily="18" charset="0"/>
                          <a:ea typeface="Calibri" panose="020F0502020204030204" pitchFamily="34" charset="0"/>
                          <a:cs typeface="Calibri Light" panose="020F0302020204030204" pitchFamily="34" charset="0"/>
                        </a:rPr>
                        <m:t>𝑈</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𝜓</m:t>
                      </m:r>
                      <m:r>
                        <a:rPr lang="en-US">
                          <a:effectLst/>
                          <a:latin typeface="Cambria Math" panose="02040503050406030204" pitchFamily="18" charset="0"/>
                          <a:ea typeface="Calibri" panose="020F0502020204030204" pitchFamily="34" charset="0"/>
                          <a:cs typeface="Calibri Light" panose="020F0302020204030204" pitchFamily="34" charset="0"/>
                        </a:rPr>
                        <m:t>(0)⟩→</m:t>
                      </m:r>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𝜎</m:t>
                          </m:r>
                        </m:e>
                        <m:sub>
                          <m:r>
                            <a:rPr lang="en-US">
                              <a:effectLst/>
                              <a:latin typeface="Cambria Math" panose="02040503050406030204" pitchFamily="18" charset="0"/>
                              <a:ea typeface="Calibri" panose="020F0502020204030204" pitchFamily="34" charset="0"/>
                              <a:cs typeface="Calibri Light" panose="020F0302020204030204" pitchFamily="34" charset="0"/>
                            </a:rPr>
                            <m:t>1</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𝑈</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𝜓</m:t>
                      </m:r>
                      <m:r>
                        <a:rPr lang="en-US">
                          <a:effectLst/>
                          <a:latin typeface="Cambria Math" panose="02040503050406030204" pitchFamily="18" charset="0"/>
                          <a:ea typeface="Calibri" panose="020F0502020204030204" pitchFamily="34" charset="0"/>
                          <a:cs typeface="Calibri Light" panose="020F0302020204030204" pitchFamily="34" charset="0"/>
                        </a:rPr>
                        <m:t>(0)⟩}=|</m:t>
                      </m:r>
                      <m:r>
                        <a:rPr lang="en-US" i="1">
                          <a:effectLst/>
                          <a:latin typeface="Cambria Math" panose="02040503050406030204" pitchFamily="18" charset="0"/>
                          <a:ea typeface="Calibri" panose="020F0502020204030204" pitchFamily="34" charset="0"/>
                          <a:cs typeface="Calibri Light" panose="020F0302020204030204" pitchFamily="34" charset="0"/>
                        </a:rPr>
                        <m:t>𝜓</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𝑡</m:t>
                      </m:r>
                      <m:r>
                        <a:rPr lang="en-US">
                          <a:effectLst/>
                          <a:latin typeface="Cambria Math" panose="02040503050406030204" pitchFamily="18" charset="0"/>
                          <a:ea typeface="Calibri" panose="020F0502020204030204" pitchFamily="34" charset="0"/>
                          <a:cs typeface="Calibri Light" panose="020F0302020204030204" pitchFamily="34" charset="0"/>
                        </a:rPr>
                        <m:t>+1)⟩</m:t>
                      </m:r>
                    </m:oMath>
                  </m:oMathPara>
                </a14:m>
                <a:endParaRPr lang="en-US" dirty="0">
                  <a:effectLst/>
                  <a:ea typeface="Calibri" panose="020F0502020204030204" pitchFamily="34" charset="0"/>
                </a:endParaRPr>
              </a:p>
              <a:p>
                <a:pPr>
                  <a:spcAft>
                    <a:spcPts val="1200"/>
                  </a:spcAft>
                </a:pPr>
                <a:r>
                  <a:rPr lang="en-US" dirty="0">
                    <a:effectLst/>
                    <a:ea typeface="Calibri" panose="020F0502020204030204" pitchFamily="34" charset="0"/>
                  </a:rPr>
                  <a:t>with </a:t>
                </a:r>
                <a14:m>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𝜎</m:t>
                        </m:r>
                      </m:e>
                      <m:sub>
                        <m:r>
                          <a:rPr lang="en-US">
                            <a:effectLst/>
                            <a:latin typeface="Cambria Math" panose="02040503050406030204" pitchFamily="18" charset="0"/>
                            <a:ea typeface="Calibri" panose="020F0502020204030204" pitchFamily="34" charset="0"/>
                            <a:cs typeface="Calibri Light" panose="020F0302020204030204" pitchFamily="34" charset="0"/>
                          </a:rPr>
                          <m:t>1</m:t>
                        </m:r>
                      </m:sub>
                    </m:sSub>
                  </m:oMath>
                </a14:m>
                <a:r>
                  <a:rPr lang="en-US" dirty="0">
                    <a:effectLst/>
                    <a:ea typeface="Calibri" panose="020F0502020204030204" pitchFamily="34" charset="0"/>
                  </a:rPr>
                  <a:t> denoting a "quantum" sigmoid function (the observation). </a:t>
                </a:r>
              </a:p>
              <a:p>
                <a:pPr>
                  <a:spcAft>
                    <a:spcPts val="1200"/>
                  </a:spcAft>
                </a:pPr>
                <a:r>
                  <a:rPr lang="en-US" dirty="0">
                    <a:effectLst/>
                    <a:ea typeface="Calibri" panose="020F0502020204030204" pitchFamily="34" charset="0"/>
                  </a:rPr>
                  <a:t>For a set of neurons, we arrive at the following neural net:</a:t>
                </a:r>
              </a:p>
              <a:p>
                <a:pPr>
                  <a:spcAft>
                    <a:spcPts val="1200"/>
                  </a:spcAft>
                </a:pPr>
                <a14:m>
                  <m:oMathPara xmlns:m="http://schemas.openxmlformats.org/officeDocument/2006/math">
                    <m:oMathParaPr>
                      <m:jc m:val="centerGroup"/>
                    </m:oMathParaPr>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𝑎</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𝑡</m:t>
                      </m:r>
                      <m:r>
                        <a:rPr lang="en-US">
                          <a:effectLst/>
                          <a:latin typeface="Cambria Math" panose="02040503050406030204" pitchFamily="18" charset="0"/>
                          <a:ea typeface="Calibri" panose="020F0502020204030204" pitchFamily="34" charset="0"/>
                          <a:cs typeface="Calibri Light" panose="020F0302020204030204" pitchFamily="34" charset="0"/>
                        </a:rPr>
                        <m:t>+1)=</m:t>
                      </m:r>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𝜎</m:t>
                          </m:r>
                        </m:e>
                        <m:sub>
                          <m:r>
                            <a:rPr lang="en-US">
                              <a:effectLst/>
                              <a:latin typeface="Cambria Math" panose="02040503050406030204" pitchFamily="18" charset="0"/>
                              <a:ea typeface="Calibri" panose="020F0502020204030204" pitchFamily="34" charset="0"/>
                              <a:cs typeface="Calibri Light" panose="020F0302020204030204" pitchFamily="34" charset="0"/>
                            </a:rPr>
                            <m:t>1</m:t>
                          </m:r>
                        </m:sub>
                      </m:sSub>
                      <m:d>
                        <m:dPr>
                          <m:begChr m:val="{"/>
                          <m:end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nary>
                            <m:naryPr>
                              <m:chr m:val="∑"/>
                              <m:limLoc m:val="undOvr"/>
                              <m:subHide m:val="on"/>
                              <m:supHide m:val="on"/>
                              <m:ctrlPr>
                                <a:rPr lang="en-US" i="1">
                                  <a:effectLst/>
                                  <a:latin typeface="Cambria Math" panose="02040503050406030204" pitchFamily="18" charset="0"/>
                                  <a:ea typeface="Calibri" panose="020F0502020204030204" pitchFamily="34" charset="0"/>
                                  <a:cs typeface="Calibri Light" panose="020F0302020204030204" pitchFamily="34" charset="0"/>
                                </a:rPr>
                              </m:ctrlPr>
                            </m:naryPr>
                            <m:sub/>
                            <m:sup/>
                            <m:e>
                              <m:r>
                                <a:rPr lang="en-US" i="1">
                                  <a:effectLst/>
                                  <a:latin typeface="Cambria Math" panose="02040503050406030204" pitchFamily="18" charset="0"/>
                                  <a:ea typeface="Calibri" panose="020F0502020204030204" pitchFamily="34" charset="0"/>
                                  <a:cs typeface="Calibri Light" panose="020F0302020204030204" pitchFamily="34" charset="0"/>
                                </a:rPr>
                                <m:t> </m:t>
                              </m:r>
                            </m:e>
                          </m:nary>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𝑈</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𝑖𝑗</m:t>
                              </m:r>
                            </m:sub>
                          </m:sSub>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𝑎</m:t>
                              </m:r>
                            </m:e>
                            <m:sub>
                              <m:r>
                                <a:rPr lang="en-US"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𝑡</m:t>
                          </m:r>
                          <m:r>
                            <a:rPr lang="en-US">
                              <a:effectLst/>
                              <a:latin typeface="Cambria Math" panose="02040503050406030204" pitchFamily="18" charset="0"/>
                              <a:ea typeface="Calibri" panose="020F0502020204030204" pitchFamily="34" charset="0"/>
                              <a:cs typeface="Calibri Light" panose="020F0302020204030204" pitchFamily="34" charset="0"/>
                            </a:rPr>
                            <m:t>)</m:t>
                          </m:r>
                        </m:e>
                      </m:d>
                      <m:r>
                        <a:rPr lang="en-US">
                          <a:effectLst/>
                          <a:latin typeface="Cambria Math" panose="02040503050406030204" pitchFamily="18" charset="0"/>
                          <a:ea typeface="Calibri" panose="020F0502020204030204" pitchFamily="34" charset="0"/>
                          <a:cs typeface="Calibri Light" panose="020F0302020204030204" pitchFamily="34" charset="0"/>
                        </a:rPr>
                        <m:t>,</m:t>
                      </m:r>
                      <m:box>
                        <m:boxPr>
                          <m:ctrlPr>
                            <a:rPr lang="en-US" i="1">
                              <a:effectLst/>
                              <a:latin typeface="Cambria Math" panose="02040503050406030204" pitchFamily="18" charset="0"/>
                              <a:ea typeface="Calibri" panose="020F0502020204030204" pitchFamily="34" charset="0"/>
                              <a:cs typeface="Calibri Light" panose="020F0302020204030204" pitchFamily="34" charset="0"/>
                            </a:rPr>
                          </m:ctrlPr>
                        </m:boxPr>
                        <m:e>
                          <m:r>
                            <a:rPr lang="en-US">
                              <a:effectLst/>
                              <a:latin typeface="Cambria Math" panose="02040503050406030204" pitchFamily="18" charset="0"/>
                              <a:ea typeface="Calibri" panose="020F0502020204030204" pitchFamily="34" charset="0"/>
                              <a:cs typeface="Calibri Light" panose="020F0302020204030204" pitchFamily="34" charset="0"/>
                            </a:rPr>
                            <m:t> </m:t>
                          </m:r>
                        </m:e>
                      </m:box>
                      <m:r>
                        <a:rPr lang="en-US" i="1">
                          <a:effectLst/>
                          <a:latin typeface="Cambria Math" panose="02040503050406030204" pitchFamily="18" charset="0"/>
                          <a:ea typeface="Calibri" panose="020F0502020204030204" pitchFamily="34" charset="0"/>
                          <a:cs typeface="Calibri Light" panose="020F0302020204030204" pitchFamily="34" charset="0"/>
                        </a:rPr>
                        <m:t>𝑖</m:t>
                      </m:r>
                      <m:r>
                        <a:rPr lang="en-US">
                          <a:effectLst/>
                          <a:latin typeface="Cambria Math" panose="02040503050406030204" pitchFamily="18" charset="0"/>
                          <a:ea typeface="Calibri" panose="020F0502020204030204" pitchFamily="34" charset="0"/>
                          <a:cs typeface="Calibri Light" panose="020F0302020204030204" pitchFamily="34" charset="0"/>
                        </a:rPr>
                        <m:t>=1,2,…,</m:t>
                      </m:r>
                      <m:r>
                        <a:rPr lang="en-US" i="1">
                          <a:effectLst/>
                          <a:latin typeface="Cambria Math" panose="02040503050406030204" pitchFamily="18" charset="0"/>
                          <a:ea typeface="Calibri" panose="020F0502020204030204" pitchFamily="34" charset="0"/>
                          <a:cs typeface="Calibri Light" panose="020F0302020204030204" pitchFamily="34" charset="0"/>
                        </a:rPr>
                        <m:t>𝑛</m:t>
                      </m:r>
                    </m:oMath>
                  </m:oMathPara>
                </a14:m>
                <a:endParaRPr lang="en-US" dirty="0">
                  <a:effectLst/>
                  <a:ea typeface="Calibri" panose="020F0502020204030204" pitchFamily="34" charset="0"/>
                </a:endParaRPr>
              </a:p>
              <a:p>
                <a:pPr>
                  <a:spcAft>
                    <a:spcPts val="1200"/>
                  </a:spcAft>
                </a:pPr>
                <a:r>
                  <a:rPr lang="en-US" dirty="0">
                    <a:effectLst/>
                    <a:ea typeface="Calibri" panose="020F0502020204030204" pitchFamily="34" charset="0"/>
                  </a:rPr>
                  <a:t>By replacing </a:t>
                </a:r>
                <a:r>
                  <a:rPr lang="en-US" dirty="0" err="1">
                    <a:effectLst/>
                    <a:ea typeface="Calibri" panose="020F0502020204030204" pitchFamily="34" charset="0"/>
                  </a:rPr>
                  <a:t>sgn</a:t>
                </a:r>
                <a:r>
                  <a:rPr lang="en-US" dirty="0">
                    <a:effectLst/>
                    <a:ea typeface="Calibri" panose="020F0502020204030204" pitchFamily="34" charset="0"/>
                  </a:rPr>
                  <a:t> with a stochastic rule S (given by a random generator not probabilistic nature of quantum mechanics)</a:t>
                </a:r>
              </a:p>
              <a:p>
                <a:pPr>
                  <a:spcAft>
                    <a:spcPts val="1200"/>
                  </a:spcAft>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a:effectLst/>
                              <a:latin typeface="Cambria Math" panose="02040503050406030204" pitchFamily="18" charset="0"/>
                              <a:ea typeface="Calibri" panose="020F0502020204030204" pitchFamily="34" charset="0"/>
                              <a:cs typeface="Calibri Light" panose="020F0302020204030204" pitchFamily="34" charset="0"/>
                            </a:rPr>
                          </m:ctrlPr>
                        </m:mPr>
                        <m:mr>
                          <m:e>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𝑡</m:t>
                            </m:r>
                            <m:r>
                              <a:rPr lang="en-US">
                                <a:effectLst/>
                                <a:latin typeface="Cambria Math" panose="02040503050406030204" pitchFamily="18" charset="0"/>
                                <a:ea typeface="Calibri" panose="020F0502020204030204" pitchFamily="34" charset="0"/>
                                <a:cs typeface="Calibri Light" panose="020F0302020204030204" pitchFamily="34" charset="0"/>
                              </a:rPr>
                              <m:t>+1)=</m:t>
                            </m:r>
                            <m:r>
                              <a:rPr lang="en-US" i="1">
                                <a:effectLst/>
                                <a:latin typeface="Cambria Math" panose="02040503050406030204" pitchFamily="18" charset="0"/>
                                <a:ea typeface="Calibri" panose="020F0502020204030204" pitchFamily="34" charset="0"/>
                                <a:cs typeface="Calibri Light" panose="020F0302020204030204" pitchFamily="34" charset="0"/>
                              </a:rPr>
                              <m:t>𝑆</m:t>
                            </m:r>
                            <m:nary>
                              <m:naryPr>
                                <m:chr m:val="∑"/>
                                <m:limLoc m:val="undOvr"/>
                                <m:subHide m:val="on"/>
                                <m:supHide m:val="on"/>
                                <m:ctrlPr>
                                  <a:rPr lang="en-US" i="1">
                                    <a:effectLst/>
                                    <a:latin typeface="Cambria Math" panose="02040503050406030204" pitchFamily="18" charset="0"/>
                                    <a:ea typeface="Calibri" panose="020F0502020204030204" pitchFamily="34" charset="0"/>
                                    <a:cs typeface="Calibri Light" panose="020F0302020204030204" pitchFamily="34" charset="0"/>
                                  </a:rPr>
                                </m:ctrlPr>
                              </m:naryPr>
                              <m:sub/>
                              <m:sup/>
                              <m:e>
                                <m:r>
                                  <a:rPr lang="en-US" i="1">
                                    <a:effectLst/>
                                    <a:latin typeface="Cambria Math" panose="02040503050406030204" pitchFamily="18" charset="0"/>
                                    <a:ea typeface="Calibri" panose="020F0502020204030204" pitchFamily="34" charset="0"/>
                                    <a:cs typeface="Calibri Light" panose="020F0302020204030204" pitchFamily="34" charset="0"/>
                                  </a:rPr>
                                  <m:t> </m:t>
                                </m:r>
                              </m:e>
                            </m:nary>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𝑇</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𝑖𝑗</m:t>
                                </m:r>
                              </m:sub>
                            </m:sSub>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𝑡</m:t>
                            </m:r>
                            <m:r>
                              <a:rPr lang="en-US">
                                <a:effectLst/>
                                <a:latin typeface="Cambria Math" panose="02040503050406030204" pitchFamily="18" charset="0"/>
                                <a:ea typeface="Calibri" panose="020F0502020204030204" pitchFamily="34" charset="0"/>
                                <a:cs typeface="Calibri Light" panose="020F0302020204030204" pitchFamily="34" charset="0"/>
                              </a:rPr>
                              <m:t>)</m:t>
                            </m:r>
                          </m:e>
                        </m:mr>
                        <m:mr>
                          <m:e>
                            <m:r>
                              <a:rPr lang="en-US" i="1">
                                <a:effectLst/>
                                <a:latin typeface="Cambria Math" panose="02040503050406030204" pitchFamily="18" charset="0"/>
                                <a:ea typeface="Calibri" panose="020F0502020204030204" pitchFamily="34" charset="0"/>
                                <a:cs typeface="Calibri Light" panose="020F0302020204030204" pitchFamily="34" charset="0"/>
                              </a:rPr>
                              <m:t>𝑆</m:t>
                            </m:r>
                            <m:r>
                              <a:rPr lang="en-US">
                                <a:effectLst/>
                                <a:latin typeface="Cambria Math" panose="02040503050406030204" pitchFamily="18" charset="0"/>
                                <a:ea typeface="Calibri" panose="020F0502020204030204" pitchFamily="34" charset="0"/>
                                <a:cs typeface="Calibri Light" panose="020F0302020204030204" pitchFamily="34" charset="0"/>
                              </a:rPr>
                              <m:t>=</m:t>
                            </m:r>
                            <m:d>
                              <m:dPr>
                                <m:begChr m:val="{"/>
                                <m:end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m>
                                  <m:mPr>
                                    <m:plcHide m:val="on"/>
                                    <m:mcs>
                                      <m:mc>
                                        <m:mcPr>
                                          <m:count m:val="2"/>
                                          <m:mcJc m:val="center"/>
                                        </m:mcPr>
                                      </m:mc>
                                    </m:mcs>
                                    <m:ctrlPr>
                                      <a:rPr lang="en-US" i="1">
                                        <a:effectLst/>
                                        <a:latin typeface="Cambria Math" panose="02040503050406030204" pitchFamily="18" charset="0"/>
                                        <a:ea typeface="Calibri" panose="020F0502020204030204" pitchFamily="34" charset="0"/>
                                        <a:cs typeface="Calibri Light" panose="020F0302020204030204" pitchFamily="34" charset="0"/>
                                      </a:rPr>
                                    </m:ctrlPr>
                                  </m:mPr>
                                  <m:mr>
                                    <m:e>
                                      <m:r>
                                        <a:rPr lang="en-US">
                                          <a:effectLst/>
                                          <a:latin typeface="Cambria Math" panose="02040503050406030204" pitchFamily="18" charset="0"/>
                                          <a:ea typeface="Calibri" panose="020F0502020204030204" pitchFamily="34" charset="0"/>
                                          <a:cs typeface="Calibri Light" panose="020F0302020204030204" pitchFamily="34" charset="0"/>
                                        </a:rPr>
                                        <m:t>+1</m:t>
                                      </m:r>
                                    </m:e>
                                    <m:e>
                                      <m:r>
                                        <m:rPr>
                                          <m:nor/>
                                        </m:rPr>
                                        <a:rPr lang="en-US" i="1">
                                          <a:effectLst/>
                                          <a:ea typeface="Calibri" panose="020F0502020204030204" pitchFamily="34" charset="0"/>
                                        </a:rPr>
                                        <m:t> </m:t>
                                      </m:r>
                                      <m:r>
                                        <m:rPr>
                                          <m:nor/>
                                        </m:rPr>
                                        <a:rPr lang="en-US">
                                          <a:effectLst/>
                                          <a:ea typeface="Calibri" panose="020F0502020204030204" pitchFamily="34" charset="0"/>
                                        </a:rPr>
                                        <m:t>with</m:t>
                                      </m:r>
                                      <m:r>
                                        <m:rPr>
                                          <m:nor/>
                                        </m:rPr>
                                        <a:rPr lang="en-US">
                                          <a:effectLst/>
                                          <a:ea typeface="Calibri" panose="020F0502020204030204" pitchFamily="34" charset="0"/>
                                        </a:rPr>
                                        <m:t> </m:t>
                                      </m:r>
                                      <m:r>
                                        <m:rPr>
                                          <m:nor/>
                                        </m:rPr>
                                        <a:rPr lang="en-US">
                                          <a:effectLst/>
                                          <a:ea typeface="Calibri" panose="020F0502020204030204" pitchFamily="34" charset="0"/>
                                        </a:rPr>
                                        <m:t>probability</m:t>
                                      </m:r>
                                      <m:r>
                                        <m:rPr>
                                          <m:nor/>
                                        </m:rPr>
                                        <a:rPr lang="en-US" i="1">
                                          <a:effectLst/>
                                          <a:ea typeface="Calibri" panose="020F0502020204030204" pitchFamily="34" charset="0"/>
                                        </a:rPr>
                                        <m:t> </m:t>
                                      </m:r>
                                      <m:r>
                                        <a:rPr lang="en-US" i="1">
                                          <a:effectLst/>
                                          <a:latin typeface="Cambria Math" panose="02040503050406030204" pitchFamily="18" charset="0"/>
                                          <a:ea typeface="Calibri" panose="020F0502020204030204" pitchFamily="34" charset="0"/>
                                          <a:cs typeface="Calibri Light" panose="020F0302020204030204" pitchFamily="34" charset="0"/>
                                        </a:rPr>
                                        <m:t>𝑓</m:t>
                                      </m:r>
                                      <m:d>
                                        <m:dPr>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nary>
                                            <m:naryPr>
                                              <m:chr m:val="∑"/>
                                              <m:limLoc m:val="undOvr"/>
                                              <m:subHide m:val="on"/>
                                              <m:supHide m:val="on"/>
                                              <m:ctrlPr>
                                                <a:rPr lang="en-US" i="1">
                                                  <a:effectLst/>
                                                  <a:latin typeface="Cambria Math" panose="02040503050406030204" pitchFamily="18" charset="0"/>
                                                  <a:ea typeface="Calibri" panose="020F0502020204030204" pitchFamily="34" charset="0"/>
                                                  <a:cs typeface="Calibri Light" panose="020F0302020204030204" pitchFamily="34" charset="0"/>
                                                </a:rPr>
                                              </m:ctrlPr>
                                            </m:naryPr>
                                            <m:sub/>
                                            <m:sup/>
                                            <m:e>
                                              <m:r>
                                                <a:rPr lang="en-US" i="1">
                                                  <a:effectLst/>
                                                  <a:latin typeface="Cambria Math" panose="02040503050406030204" pitchFamily="18" charset="0"/>
                                                  <a:ea typeface="Calibri" panose="020F0502020204030204" pitchFamily="34" charset="0"/>
                                                  <a:cs typeface="Calibri Light" panose="020F0302020204030204" pitchFamily="34" charset="0"/>
                                                </a:rPr>
                                                <m:t> </m:t>
                                              </m:r>
                                            </m:e>
                                          </m:nary>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𝑇</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𝑖𝑗</m:t>
                                              </m:r>
                                            </m:sub>
                                          </m:sSub>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i="1">
                                                  <a:effectLst/>
                                                  <a:latin typeface="Cambria Math" panose="02040503050406030204" pitchFamily="18" charset="0"/>
                                                  <a:ea typeface="Calibri" panose="020F0502020204030204" pitchFamily="34" charset="0"/>
                                                  <a:cs typeface="Calibri Light" panose="020F0302020204030204" pitchFamily="34" charset="0"/>
                                                </a:rPr>
                                                <m:t>𝑗</m:t>
                                              </m:r>
                                            </m:sub>
                                          </m:sSub>
                                        </m:e>
                                      </m:d>
                                    </m:e>
                                  </m:mr>
                                  <m:mr>
                                    <m:e>
                                      <m:r>
                                        <a:rPr lang="en-US" i="1">
                                          <a:effectLst/>
                                          <a:latin typeface="Cambria Math" panose="02040503050406030204" pitchFamily="18" charset="0"/>
                                          <a:ea typeface="Calibri" panose="020F0502020204030204" pitchFamily="34" charset="0"/>
                                          <a:cs typeface="Calibri Light" panose="020F0302020204030204" pitchFamily="34" charset="0"/>
                                        </a:rPr>
                                        <m:t>−</m:t>
                                      </m:r>
                                      <m:r>
                                        <a:rPr lang="en-US">
                                          <a:effectLst/>
                                          <a:latin typeface="Cambria Math" panose="02040503050406030204" pitchFamily="18" charset="0"/>
                                          <a:ea typeface="Calibri" panose="020F0502020204030204" pitchFamily="34" charset="0"/>
                                          <a:cs typeface="Calibri Light" panose="020F0302020204030204" pitchFamily="34" charset="0"/>
                                        </a:rPr>
                                        <m:t>1</m:t>
                                      </m:r>
                                    </m:e>
                                    <m:e>
                                      <m:r>
                                        <m:rPr>
                                          <m:nor/>
                                        </m:rPr>
                                        <a:rPr lang="en-US" i="1">
                                          <a:effectLst/>
                                          <a:ea typeface="Calibri" panose="020F0502020204030204" pitchFamily="34" charset="0"/>
                                        </a:rPr>
                                        <m:t> </m:t>
                                      </m:r>
                                      <m:r>
                                        <m:rPr>
                                          <m:nor/>
                                        </m:rPr>
                                        <a:rPr lang="en-US">
                                          <a:effectLst/>
                                          <a:ea typeface="Calibri" panose="020F0502020204030204" pitchFamily="34" charset="0"/>
                                        </a:rPr>
                                        <m:t>with</m:t>
                                      </m:r>
                                      <m:r>
                                        <m:rPr>
                                          <m:nor/>
                                        </m:rPr>
                                        <a:rPr lang="en-US">
                                          <a:effectLst/>
                                          <a:ea typeface="Calibri" panose="020F0502020204030204" pitchFamily="34" charset="0"/>
                                        </a:rPr>
                                        <m:t> </m:t>
                                      </m:r>
                                      <m:r>
                                        <m:rPr>
                                          <m:nor/>
                                        </m:rPr>
                                        <a:rPr lang="en-US">
                                          <a:effectLst/>
                                          <a:ea typeface="Calibri" panose="020F0502020204030204" pitchFamily="34" charset="0"/>
                                        </a:rPr>
                                        <m:t>probability</m:t>
                                      </m:r>
                                      <m:r>
                                        <m:rPr>
                                          <m:nor/>
                                        </m:rPr>
                                        <a:rPr lang="en-US" i="1">
                                          <a:effectLst/>
                                          <a:ea typeface="Calibri" panose="020F0502020204030204" pitchFamily="34" charset="0"/>
                                        </a:rPr>
                                        <m:t> </m:t>
                                      </m:r>
                                      <m:r>
                                        <a:rPr lang="en-US">
                                          <a:effectLst/>
                                          <a:latin typeface="Cambria Math" panose="02040503050406030204" pitchFamily="18" charset="0"/>
                                          <a:ea typeface="Calibri" panose="020F0502020204030204" pitchFamily="34" charset="0"/>
                                          <a:cs typeface="Calibri Light" panose="020F0302020204030204" pitchFamily="34" charset="0"/>
                                        </a:rPr>
                                        <m:t>1</m:t>
                                      </m:r>
                                      <m:r>
                                        <a:rPr lang="en-US" i="1">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𝑓</m:t>
                                      </m:r>
                                      <m:d>
                                        <m:dPr>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nary>
                                            <m:naryPr>
                                              <m:chr m:val="∑"/>
                                              <m:limLoc m:val="undOvr"/>
                                              <m:subHide m:val="on"/>
                                              <m:supHide m:val="on"/>
                                              <m:ctrlPr>
                                                <a:rPr lang="en-US" i="1">
                                                  <a:effectLst/>
                                                  <a:latin typeface="Cambria Math" panose="02040503050406030204" pitchFamily="18" charset="0"/>
                                                  <a:ea typeface="Calibri" panose="020F0502020204030204" pitchFamily="34" charset="0"/>
                                                  <a:cs typeface="Calibri Light" panose="020F0302020204030204" pitchFamily="34" charset="0"/>
                                                </a:rPr>
                                              </m:ctrlPr>
                                            </m:naryPr>
                                            <m:sub/>
                                            <m:sup/>
                                            <m:e>
                                              <m:r>
                                                <a:rPr lang="en-US" i="1">
                                                  <a:effectLst/>
                                                  <a:latin typeface="Cambria Math" panose="02040503050406030204" pitchFamily="18" charset="0"/>
                                                  <a:ea typeface="Calibri" panose="020F0502020204030204" pitchFamily="34" charset="0"/>
                                                  <a:cs typeface="Calibri Light" panose="020F0302020204030204" pitchFamily="34" charset="0"/>
                                                </a:rPr>
                                                <m:t> </m:t>
                                              </m:r>
                                            </m:e>
                                          </m:nary>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𝑇</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𝑖𝑗</m:t>
                                              </m:r>
                                            </m:sub>
                                          </m:sSub>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i="1">
                                                  <a:effectLst/>
                                                  <a:latin typeface="Cambria Math" panose="02040503050406030204" pitchFamily="18" charset="0"/>
                                                  <a:ea typeface="Calibri" panose="020F0502020204030204" pitchFamily="34" charset="0"/>
                                                  <a:cs typeface="Calibri Light" panose="020F0302020204030204" pitchFamily="34" charset="0"/>
                                                </a:rPr>
                                                <m:t>𝑗</m:t>
                                              </m:r>
                                            </m:sub>
                                          </m:sSub>
                                        </m:e>
                                      </m:d>
                                    </m:e>
                                  </m:mr>
                                </m:m>
                              </m:e>
                            </m:d>
                          </m:e>
                        </m:mr>
                      </m:m>
                    </m:oMath>
                  </m:oMathPara>
                </a14:m>
                <a:endParaRPr lang="en-US" dirty="0">
                  <a:effectLst/>
                  <a:ea typeface="Calibri" panose="020F0502020204030204" pitchFamily="34" charset="0"/>
                </a:endParaRPr>
              </a:p>
              <a:p>
                <a:pPr>
                  <a:spcAft>
                    <a:spcPts val="1200"/>
                  </a:spcAft>
                </a:pPr>
                <a:r>
                  <a:rPr lang="en-US" dirty="0">
                    <a:effectLst/>
                    <a:ea typeface="Calibri" panose="020F0502020204030204" pitchFamily="34" charset="0"/>
                  </a:rPr>
                  <a:t> </a:t>
                </a:r>
              </a:p>
            </p:txBody>
          </p:sp>
        </mc:Choice>
        <mc:Fallback xmlns="">
          <p:sp>
            <p:nvSpPr>
              <p:cNvPr id="5" name="CasellaDiTesto 4">
                <a:extLst>
                  <a:ext uri="{FF2B5EF4-FFF2-40B4-BE49-F238E27FC236}">
                    <a16:creationId xmlns:a16="http://schemas.microsoft.com/office/drawing/2014/main" id="{3A96A407-515E-4839-8932-F1AA9E6D63B8}"/>
                  </a:ext>
                </a:extLst>
              </p:cNvPr>
              <p:cNvSpPr txBox="1">
                <a:spLocks noRot="1" noChangeAspect="1" noMove="1" noResize="1" noEditPoints="1" noAdjustHandles="1" noChangeArrowheads="1" noChangeShapeType="1" noTextEdit="1"/>
              </p:cNvSpPr>
              <p:nvPr/>
            </p:nvSpPr>
            <p:spPr>
              <a:xfrm>
                <a:off x="245806" y="1382913"/>
                <a:ext cx="11946194" cy="5969326"/>
              </a:xfrm>
              <a:prstGeom prst="rect">
                <a:avLst/>
              </a:prstGeom>
              <a:blipFill>
                <a:blip r:embed="rId3"/>
                <a:stretch>
                  <a:fillRect l="-408" t="-613"/>
                </a:stretch>
              </a:blipFill>
            </p:spPr>
            <p:txBody>
              <a:bodyPr/>
              <a:lstStyle/>
              <a:p>
                <a:r>
                  <a:rPr lang="en-US">
                    <a:noFill/>
                  </a:rPr>
                  <a:t> </a:t>
                </a:r>
              </a:p>
            </p:txBody>
          </p:sp>
        </mc:Fallback>
      </mc:AlternateContent>
      <p:pic>
        <p:nvPicPr>
          <p:cNvPr id="1026" name="Picture 2" descr="arXiv:quant-ph/0305072v1 13 May 2003 A neural-network-like quantum  information processing system">
            <a:extLst>
              <a:ext uri="{FF2B5EF4-FFF2-40B4-BE49-F238E27FC236}">
                <a16:creationId xmlns:a16="http://schemas.microsoft.com/office/drawing/2014/main" id="{39233F23-5396-426C-921F-662A6F161DF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920" b="57107"/>
          <a:stretch/>
        </p:blipFill>
        <p:spPr bwMode="auto">
          <a:xfrm>
            <a:off x="8349401" y="1280524"/>
            <a:ext cx="3596793" cy="2078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41006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28EA31BE-5307-48AA-BE72-453CBB7E3D50}"/>
              </a:ext>
            </a:extLst>
          </p:cNvPr>
          <p:cNvSpPr txBox="1"/>
          <p:nvPr/>
        </p:nvSpPr>
        <p:spPr>
          <a:xfrm>
            <a:off x="2578087" y="329163"/>
            <a:ext cx="8206090" cy="769441"/>
          </a:xfrm>
          <a:prstGeom prst="rect">
            <a:avLst/>
          </a:prstGeom>
          <a:noFill/>
        </p:spPr>
        <p:txBody>
          <a:bodyPr wrap="square" rtlCol="0">
            <a:spAutoFit/>
          </a:bodyPr>
          <a:lstStyle/>
          <a:p>
            <a:r>
              <a:rPr lang="it-IT" sz="4400" dirty="0">
                <a:solidFill>
                  <a:schemeClr val="accent1">
                    <a:lumMod val="50000"/>
                  </a:schemeClr>
                </a:solidFill>
                <a:latin typeface="+mj-lt"/>
              </a:rPr>
              <a:t>A fast history – operator network</a:t>
            </a:r>
            <a:endParaRPr lang="en-US" sz="4400" dirty="0">
              <a:solidFill>
                <a:schemeClr val="accent1">
                  <a:lumMod val="50000"/>
                </a:schemeClr>
              </a:solidFill>
              <a:latin typeface="+mj-lt"/>
            </a:endParaRPr>
          </a:p>
        </p:txBody>
      </p:sp>
      <p:pic>
        <p:nvPicPr>
          <p:cNvPr id="5" name="Immagine 4">
            <a:extLst>
              <a:ext uri="{FF2B5EF4-FFF2-40B4-BE49-F238E27FC236}">
                <a16:creationId xmlns:a16="http://schemas.microsoft.com/office/drawing/2014/main" id="{3A5ED32B-45AF-4448-9358-7D352AB73D5E}"/>
              </a:ext>
            </a:extLst>
          </p:cNvPr>
          <p:cNvPicPr>
            <a:picLocks noChangeAspect="1"/>
          </p:cNvPicPr>
          <p:nvPr/>
        </p:nvPicPr>
        <p:blipFill rotWithShape="1">
          <a:blip r:embed="rId2"/>
          <a:srcRect l="21342" b="53386"/>
          <a:stretch/>
        </p:blipFill>
        <p:spPr bwMode="auto">
          <a:xfrm>
            <a:off x="5218993" y="1191260"/>
            <a:ext cx="6973007" cy="2456180"/>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7AE0215C-D04E-4EC6-B5AA-2A6C2EBD0653}"/>
                  </a:ext>
                </a:extLst>
              </p:cNvPr>
              <p:cNvSpPr txBox="1"/>
              <p:nvPr/>
            </p:nvSpPr>
            <p:spPr>
              <a:xfrm>
                <a:off x="111760" y="3647440"/>
                <a:ext cx="12080240" cy="3476914"/>
              </a:xfrm>
              <a:prstGeom prst="rect">
                <a:avLst/>
              </a:prstGeom>
              <a:noFill/>
            </p:spPr>
            <p:txBody>
              <a:bodyPr wrap="square">
                <a:spAutoFit/>
              </a:bodyPr>
              <a:lstStyle/>
              <a:p>
                <a:pPr>
                  <a:spcAft>
                    <a:spcPts val="1200"/>
                  </a:spcAft>
                </a:pPr>
                <a:r>
                  <a:rPr lang="en-US" sz="1800" dirty="0">
                    <a:effectLst/>
                    <a:latin typeface="Calibri Light" panose="020F0302020204030204" pitchFamily="34" charset="0"/>
                    <a:ea typeface="Calibri" panose="020F0502020204030204" pitchFamily="34" charset="0"/>
                  </a:rPr>
                  <a:t>QNN is a quantum circuit of quantum </a:t>
                </a:r>
                <a:r>
                  <a:rPr lang="en-US" sz="1800" dirty="0" err="1">
                    <a:effectLst/>
                    <a:latin typeface="Calibri Light" panose="020F0302020204030204" pitchFamily="34" charset="0"/>
                    <a:ea typeface="Calibri" panose="020F0502020204030204" pitchFamily="34" charset="0"/>
                  </a:rPr>
                  <a:t>perceptrons</a:t>
                </a:r>
                <a:r>
                  <a:rPr lang="en-US" sz="1800" dirty="0">
                    <a:effectLst/>
                    <a:latin typeface="Calibri Light" panose="020F0302020204030204" pitchFamily="34" charset="0"/>
                    <a:ea typeface="Calibri" panose="020F0502020204030204" pitchFamily="34" charset="0"/>
                  </a:rPr>
                  <a:t> organized into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𝐿</m:t>
                    </m:r>
                  </m:oMath>
                </a14:m>
                <a:r>
                  <a:rPr lang="en-US" sz="1800" dirty="0">
                    <a:effectLst/>
                    <a:latin typeface="Calibri Light" panose="020F0302020204030204" pitchFamily="34" charset="0"/>
                    <a:ea typeface="Calibri" panose="020F0502020204030204" pitchFamily="34" charset="0"/>
                  </a:rPr>
                  <a:t> hidden layers of qubits, acting on an initial state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𝜌</m:t>
                        </m:r>
                      </m:e>
                      <m:sup>
                        <m:r>
                          <m:rPr>
                            <m:nor/>
                          </m:rPr>
                          <a:rPr lang="en-US" sz="1800">
                            <a:effectLst/>
                            <a:latin typeface="Calibri Light" panose="020F0302020204030204" pitchFamily="34" charset="0"/>
                            <a:ea typeface="Calibri" panose="020F0502020204030204" pitchFamily="34" charset="0"/>
                          </a:rPr>
                          <m:t>in</m:t>
                        </m:r>
                        <m:r>
                          <m:rPr>
                            <m:nor/>
                          </m:rPr>
                          <a:rPr lang="en-US" sz="1800" i="1">
                            <a:effectLst/>
                            <a:latin typeface="Calibri Light" panose="020F0302020204030204" pitchFamily="34" charset="0"/>
                            <a:ea typeface="Calibri" panose="020F0502020204030204" pitchFamily="34" charset="0"/>
                          </a:rPr>
                          <m:t> </m:t>
                        </m:r>
                      </m:sup>
                    </m:sSup>
                  </m:oMath>
                </a14:m>
                <a:r>
                  <a:rPr lang="en-US" sz="1800" dirty="0">
                    <a:effectLst/>
                    <a:latin typeface="Calibri Light" panose="020F0302020204030204" pitchFamily="34" charset="0"/>
                    <a:ea typeface="Calibri" panose="020F0502020204030204" pitchFamily="34" charset="0"/>
                  </a:rPr>
                  <a:t> of the input qubits producing mixed state </a:t>
                </a:r>
              </a:p>
              <a:p>
                <a:pPr>
                  <a:spcAft>
                    <a:spcPts val="120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𝜌</m:t>
                          </m:r>
                        </m:e>
                        <m:sup>
                          <m:r>
                            <m:rPr>
                              <m:nor/>
                            </m:rPr>
                            <a:rPr lang="en-US" sz="1800">
                              <a:effectLst/>
                              <a:latin typeface="Calibri Light" panose="020F0302020204030204" pitchFamily="34" charset="0"/>
                              <a:ea typeface="Calibri" panose="020F0502020204030204" pitchFamily="34" charset="0"/>
                            </a:rPr>
                            <m:t>out</m:t>
                          </m:r>
                          <m:r>
                            <m:rPr>
                              <m:nor/>
                            </m:rPr>
                            <a:rPr lang="en-US" sz="1800" i="1">
                              <a:effectLst/>
                              <a:latin typeface="Calibri Light" panose="020F0302020204030204" pitchFamily="34" charset="0"/>
                              <a:ea typeface="Calibri" panose="020F0502020204030204" pitchFamily="34" charset="0"/>
                            </a:rPr>
                            <m:t> </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tr</m:t>
                          </m:r>
                        </m:e>
                        <m:sub>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in</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hid</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r>
                            <a:rPr lang="en-US" sz="1800" i="1">
                              <a:effectLst/>
                              <a:latin typeface="Cambria Math" panose="02040503050406030204" pitchFamily="18" charset="0"/>
                              <a:ea typeface="Calibri" panose="020F0502020204030204" pitchFamily="34" charset="0"/>
                              <a:cs typeface="Calibri Light" panose="020F0302020204030204" pitchFamily="34" charset="0"/>
                            </a:rPr>
                            <m:t>𝒰</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𝜌</m:t>
                                  </m:r>
                                </m:e>
                                <m:sup>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in</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⊗|0⋯0</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m:rPr>
                                      <m:nor/>
                                    </m:rPr>
                                    <a:rPr lang="en-US" sz="1800">
                                      <a:effectLst/>
                                      <a:latin typeface="Calibri Light" panose="020F0302020204030204" pitchFamily="34" charset="0"/>
                                      <a:ea typeface="Calibri" panose="020F0502020204030204" pitchFamily="34" charset="0"/>
                                    </a:rPr>
                                    <m:t>hid</m:t>
                                  </m:r>
                                  <m:r>
                                    <m:rPr>
                                      <m:nor/>
                                    </m:rPr>
                                    <a:rPr lang="en-US" sz="1800">
                                      <a:effectLst/>
                                      <a:latin typeface="Calibri Light" panose="020F0302020204030204" pitchFamily="34" charset="0"/>
                                      <a:ea typeface="Calibri" panose="020F0502020204030204" pitchFamily="34" charset="0"/>
                                    </a:rPr>
                                    <m:t>,</m:t>
                                  </m:r>
                                  <m:r>
                                    <m:rPr>
                                      <m:nor/>
                                    </m:rPr>
                                    <a:rPr lang="en-US" sz="1800">
                                      <a:effectLst/>
                                      <a:latin typeface="Calibri Light" panose="020F0302020204030204" pitchFamily="34" charset="0"/>
                                      <a:ea typeface="Calibri" panose="020F0502020204030204" pitchFamily="34" charset="0"/>
                                    </a:rPr>
                                    <m:t>out</m:t>
                                  </m:r>
                                  <m:r>
                                    <m:rPr>
                                      <m:nor/>
                                    </m:rPr>
                                    <a:rPr lang="en-US" sz="1800" i="1">
                                      <a:effectLst/>
                                      <a:latin typeface="Calibri Light" panose="020F0302020204030204" pitchFamily="34" charset="0"/>
                                      <a:ea typeface="Calibri" panose="020F0502020204030204" pitchFamily="34" charset="0"/>
                                    </a:rPr>
                                    <m:t> </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⟨0⋯0|</m:t>
                              </m:r>
                            </m:e>
                          </m:d>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𝒰</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p>
                        </m:e>
                      </m:d>
                    </m:oMath>
                  </m:oMathPara>
                </a14:m>
                <a:endParaRPr lang="en-US" sz="2800" dirty="0">
                  <a:effectLst/>
                  <a:latin typeface="Calibri" panose="020F0502020204030204" pitchFamily="34" charset="0"/>
                  <a:ea typeface="Calibri" panose="020F0502020204030204" pitchFamily="34" charset="0"/>
                </a:endParaRPr>
              </a:p>
              <a:p>
                <a:r>
                  <a:rPr lang="en-US" sz="1800" dirty="0">
                    <a:effectLst/>
                    <a:latin typeface="Calibri Light" panose="020F0302020204030204" pitchFamily="34" charset="0"/>
                    <a:ea typeface="Calibri" panose="020F0502020204030204" pitchFamily="34" charset="0"/>
                  </a:rPr>
                  <a:t>where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𝒰</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𝑈</m:t>
                        </m:r>
                      </m:e>
                      <m:sup>
                        <m:r>
                          <m:rPr>
                            <m:nor/>
                          </m:rPr>
                          <a:rPr lang="en-US" sz="1800">
                            <a:effectLst/>
                            <a:latin typeface="Calibri Light" panose="020F0302020204030204" pitchFamily="34" charset="0"/>
                            <a:ea typeface="Calibri" panose="020F0502020204030204" pitchFamily="34" charset="0"/>
                          </a:rPr>
                          <m:t>out</m:t>
                        </m:r>
                        <m:r>
                          <m:rPr>
                            <m:nor/>
                          </m:rPr>
                          <a:rPr lang="en-US" sz="1800" i="1">
                            <a:effectLst/>
                            <a:latin typeface="Calibri Light" panose="020F0302020204030204" pitchFamily="34" charset="0"/>
                            <a:ea typeface="Calibri" panose="020F0502020204030204" pitchFamily="34" charset="0"/>
                          </a:rPr>
                          <m:t> </m:t>
                        </m:r>
                      </m:sup>
                    </m:sSup>
                    <m:sSup>
                      <m:sSupPr>
                        <m:ctrlPr>
                          <a:rPr lang="en-US" sz="1800" i="1">
                            <a:effectLst/>
                            <a:latin typeface="Cambria Math" panose="02040503050406030204" pitchFamily="18"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𝑈</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𝐿</m:t>
                        </m:r>
                      </m:sup>
                    </m:sSup>
                    <m:sSup>
                      <m:sSupPr>
                        <m:ctrlPr>
                          <a:rPr lang="en-US" sz="1800" i="1">
                            <a:effectLst/>
                            <a:latin typeface="Cambria Math" panose="02040503050406030204" pitchFamily="18"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𝑈</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𝐿</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𝑈</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1</m:t>
                        </m:r>
                      </m:sup>
                    </m:sSup>
                  </m:oMath>
                </a14:m>
                <a:r>
                  <a:rPr lang="en-US" sz="1800" dirty="0">
                    <a:effectLst/>
                    <a:latin typeface="Calibri Light" panose="020F0302020204030204" pitchFamily="34" charset="0"/>
                    <a:ea typeface="Calibri" panose="020F0502020204030204" pitchFamily="34" charset="0"/>
                  </a:rPr>
                  <a:t> is the QNN quantum circuit, </a:t>
                </a:r>
                <a14:m>
                  <m:oMath xmlns:m="http://schemas.openxmlformats.org/officeDocument/2006/math">
                    <m:sSup>
                      <m:sSupPr>
                        <m:ctrlPr>
                          <a:rPr lang="en-US" sz="1800" i="1">
                            <a:effectLst/>
                            <a:latin typeface="Cambria Math" panose="02040503050406030204" pitchFamily="18"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𝑈</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𝑙</m:t>
                        </m:r>
                      </m:sup>
                    </m:sSup>
                  </m:oMath>
                </a14:m>
                <a:r>
                  <a:rPr lang="en-US" sz="1800" dirty="0">
                    <a:effectLst/>
                    <a:latin typeface="Calibri Light" panose="020F0302020204030204" pitchFamily="34" charset="0"/>
                    <a:ea typeface="Calibri" panose="020F0502020204030204" pitchFamily="34" charset="0"/>
                  </a:rPr>
                  <a:t> are the layer </a:t>
                </a:r>
                <a:r>
                  <a:rPr lang="en-US" sz="1800" dirty="0" err="1">
                    <a:effectLst/>
                    <a:latin typeface="Calibri Light" panose="020F0302020204030204" pitchFamily="34" charset="0"/>
                    <a:ea typeface="Calibri" panose="020F0502020204030204" pitchFamily="34" charset="0"/>
                  </a:rPr>
                  <a:t>unitaries</a:t>
                </a:r>
                <a:r>
                  <a:rPr lang="en-US" sz="1800" dirty="0">
                    <a:effectLst/>
                    <a:latin typeface="Calibri Light" panose="020F0302020204030204" pitchFamily="34" charset="0"/>
                    <a:ea typeface="Calibri" panose="020F0502020204030204" pitchFamily="34" charset="0"/>
                  </a:rPr>
                  <a:t>, comprised of a product of quantum </a:t>
                </a:r>
                <a:r>
                  <a:rPr lang="en-US" sz="1800" dirty="0" err="1">
                    <a:effectLst/>
                    <a:latin typeface="Calibri Light" panose="020F0302020204030204" pitchFamily="34" charset="0"/>
                    <a:ea typeface="Calibri" panose="020F0502020204030204" pitchFamily="34" charset="0"/>
                  </a:rPr>
                  <a:t>perceptrons</a:t>
                </a:r>
                <a:r>
                  <a:rPr lang="en-US" sz="1800" dirty="0">
                    <a:effectLst/>
                    <a:latin typeface="Calibri Light" panose="020F0302020204030204" pitchFamily="34" charset="0"/>
                    <a:ea typeface="Calibri" panose="020F0502020204030204" pitchFamily="34" charset="0"/>
                  </a:rPr>
                  <a:t> acting on the qubits in layers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𝑙</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oMath>
                </a14:m>
                <a:r>
                  <a:rPr lang="en-US" sz="1800" dirty="0">
                    <a:effectLst/>
                    <a:latin typeface="Calibri Light" panose="020F0302020204030204" pitchFamily="34" charset="0"/>
                    <a:ea typeface="Calibri" panose="020F0502020204030204" pitchFamily="34" charset="0"/>
                  </a:rPr>
                  <a:t> and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𝑙</m:t>
                    </m:r>
                  </m:oMath>
                </a14:m>
                <a:r>
                  <a:rPr lang="en-US" sz="1800" dirty="0">
                    <a:effectLst/>
                    <a:latin typeface="Calibri Light" panose="020F0302020204030204" pitchFamily="34" charset="0"/>
                    <a:ea typeface="Calibri" panose="020F0502020204030204" pitchFamily="34" charset="0"/>
                  </a:rPr>
                  <a:t>.  </a:t>
                </a:r>
                <a:r>
                  <a:rPr lang="en-US" dirty="0">
                    <a:latin typeface="Calibri Light" panose="020F0302020204030204" pitchFamily="34" charset="0"/>
                    <a:ea typeface="Calibri" panose="020F0502020204030204" pitchFamily="34" charset="0"/>
                  </a:rPr>
                  <a:t>T</a:t>
                </a:r>
                <a:r>
                  <a:rPr lang="en-US" sz="1800" dirty="0">
                    <a:effectLst/>
                    <a:latin typeface="Calibri Light" panose="020F0302020204030204" pitchFamily="34" charset="0"/>
                    <a:ea typeface="Calibri" panose="020F0502020204030204" pitchFamily="34" charset="0"/>
                  </a:rPr>
                  <a:t>hey defined a cost function to be the fidelity between the QNN output and the desired output averaged over the training data:</a:t>
                </a:r>
                <a:endParaRPr lang="en-US" sz="1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r>
                        <a:rPr lang="en-US" sz="1800">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i="1">
                              <a:effectLst/>
                              <a:latin typeface="Cambria Math" panose="02040503050406030204" pitchFamily="18" charset="0"/>
                              <a:ea typeface="Calibri" panose="020F0502020204030204" pitchFamily="34" charset="0"/>
                              <a:cs typeface="Calibri Light" panose="020F0302020204030204" pitchFamily="34" charset="0"/>
                            </a:rPr>
                            <m:t>𝑁</m:t>
                          </m:r>
                        </m:den>
                      </m:f>
                      <m:nary>
                        <m:naryPr>
                          <m:chr m:val="∑"/>
                          <m:limLoc m:val="undOvr"/>
                          <m:grow m:val="on"/>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naryPr>
                        <m:sub>
                          <m:r>
                            <a:rPr lang="en-US" sz="1800" i="1">
                              <a:effectLst/>
                              <a:latin typeface="Cambria Math" panose="02040503050406030204" pitchFamily="18" charset="0"/>
                              <a:ea typeface="Calibri" panose="020F0502020204030204" pitchFamily="34" charset="0"/>
                              <a:cs typeface="Calibri Light" panose="020F0302020204030204" pitchFamily="34" charset="0"/>
                            </a:rPr>
                            <m:t>𝑘</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𝑁</m:t>
                          </m:r>
                        </m:sup>
                        <m:e>
                          <m:r>
                            <a:rPr lang="en-US" sz="1800">
                              <a:effectLst/>
                              <a:latin typeface="Cambria Math" panose="02040503050406030204" pitchFamily="18" charset="0"/>
                              <a:ea typeface="Calibri" panose="020F0502020204030204" pitchFamily="34" charset="0"/>
                              <a:cs typeface="Calibri Light" panose="020F0302020204030204" pitchFamily="34" charset="0"/>
                            </a:rPr>
                            <m:t> </m:t>
                          </m:r>
                        </m:e>
                      </m:nary>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𝜙</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𝑘</m:t>
                              </m:r>
                            </m:sub>
                            <m:sup>
                              <m:r>
                                <m:rPr>
                                  <m:nor/>
                                </m:rPr>
                                <a:rPr lang="en-US" sz="1800">
                                  <a:effectLst/>
                                  <a:latin typeface="Calibri Light" panose="020F0302020204030204" pitchFamily="34" charset="0"/>
                                  <a:ea typeface="Calibri" panose="020F0502020204030204" pitchFamily="34" charset="0"/>
                                </a:rPr>
                                <m:t>out</m:t>
                              </m:r>
                              <m:r>
                                <m:rPr>
                                  <m:nor/>
                                </m:rPr>
                                <a:rPr lang="en-US" sz="1800" i="1">
                                  <a:effectLst/>
                                  <a:latin typeface="Calibri Light" panose="020F0302020204030204" pitchFamily="34" charset="0"/>
                                  <a:ea typeface="Calibri" panose="020F0502020204030204" pitchFamily="34" charset="0"/>
                                </a:rPr>
                                <m:t> </m:t>
                              </m:r>
                            </m:sup>
                          </m:sSubSup>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𝜌</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𝑘</m:t>
                                  </m:r>
                                </m:sub>
                                <m:sup>
                                  <m:r>
                                    <m:rPr>
                                      <m:nor/>
                                    </m:rPr>
                                    <a:rPr lang="en-US" sz="1800">
                                      <a:effectLst/>
                                      <a:latin typeface="Calibri Light" panose="020F0302020204030204" pitchFamily="34" charset="0"/>
                                      <a:ea typeface="Calibri" panose="020F0502020204030204" pitchFamily="34" charset="0"/>
                                    </a:rPr>
                                    <m:t>out</m:t>
                                  </m:r>
                                  <m:r>
                                    <m:rPr>
                                      <m:nor/>
                                    </m:rPr>
                                    <a:rPr lang="en-US" sz="1800" i="1">
                                      <a:effectLst/>
                                      <a:latin typeface="Calibri Light" panose="020F0302020204030204" pitchFamily="34" charset="0"/>
                                      <a:ea typeface="Calibri" panose="020F0502020204030204" pitchFamily="34" charset="0"/>
                                    </a:rPr>
                                    <m:t> </m:t>
                                  </m:r>
                                </m:sup>
                              </m:sSubSup>
                            </m:e>
                          </m:d>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𝜙</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𝑘</m:t>
                              </m:r>
                            </m:sub>
                            <m:sup>
                              <m:r>
                                <m:rPr>
                                  <m:nor/>
                                </m:rPr>
                                <a:rPr lang="en-US" sz="1800">
                                  <a:effectLst/>
                                  <a:latin typeface="Calibri Light" panose="020F0302020204030204" pitchFamily="34" charset="0"/>
                                  <a:ea typeface="Calibri" panose="020F0502020204030204" pitchFamily="34" charset="0"/>
                                </a:rPr>
                                <m:t>out</m:t>
                              </m:r>
                              <m:r>
                                <m:rPr>
                                  <m:nor/>
                                </m:rPr>
                                <a:rPr lang="en-US" sz="1800" i="1">
                                  <a:effectLst/>
                                  <a:latin typeface="Calibri Light" panose="020F0302020204030204" pitchFamily="34" charset="0"/>
                                  <a:ea typeface="Calibri" panose="020F0502020204030204" pitchFamily="34" charset="0"/>
                                </a:rPr>
                                <m:t> </m:t>
                              </m:r>
                            </m:sup>
                          </m:sSubSup>
                        </m:e>
                      </m:d>
                    </m:oMath>
                  </m:oMathPara>
                </a14:m>
                <a:endParaRPr lang="en-US" sz="1800" dirty="0">
                  <a:effectLst/>
                  <a:latin typeface="Calibri" panose="020F0502020204030204" pitchFamily="34" charset="0"/>
                  <a:ea typeface="Calibri" panose="020F0502020204030204" pitchFamily="34" charset="0"/>
                </a:endParaRPr>
              </a:p>
              <a:p>
                <a:endParaRPr lang="en-US" dirty="0"/>
              </a:p>
            </p:txBody>
          </p:sp>
        </mc:Choice>
        <mc:Fallback xmlns="">
          <p:sp>
            <p:nvSpPr>
              <p:cNvPr id="8" name="CasellaDiTesto 7">
                <a:extLst>
                  <a:ext uri="{FF2B5EF4-FFF2-40B4-BE49-F238E27FC236}">
                    <a16:creationId xmlns:a16="http://schemas.microsoft.com/office/drawing/2014/main" id="{7AE0215C-D04E-4EC6-B5AA-2A6C2EBD0653}"/>
                  </a:ext>
                </a:extLst>
              </p:cNvPr>
              <p:cNvSpPr txBox="1">
                <a:spLocks noRot="1" noChangeAspect="1" noMove="1" noResize="1" noEditPoints="1" noAdjustHandles="1" noChangeArrowheads="1" noChangeShapeType="1" noTextEdit="1"/>
              </p:cNvSpPr>
              <p:nvPr/>
            </p:nvSpPr>
            <p:spPr>
              <a:xfrm>
                <a:off x="111760" y="3647440"/>
                <a:ext cx="12080240" cy="3476914"/>
              </a:xfrm>
              <a:prstGeom prst="rect">
                <a:avLst/>
              </a:prstGeom>
              <a:blipFill>
                <a:blip r:embed="rId4"/>
                <a:stretch>
                  <a:fillRect l="-404"/>
                </a:stretch>
              </a:blipFill>
            </p:spPr>
            <p:txBody>
              <a:bodyPr/>
              <a:lstStyle/>
              <a:p>
                <a:r>
                  <a:rPr lang="en-US">
                    <a:noFill/>
                  </a:rPr>
                  <a:t> </a:t>
                </a:r>
              </a:p>
            </p:txBody>
          </p:sp>
        </mc:Fallback>
      </mc:AlternateContent>
      <p:pic>
        <p:nvPicPr>
          <p:cNvPr id="2050" name="Picture 2" descr="PDF) Quantum Hopfield neural networks: A new approach and its storage  capacity">
            <a:extLst>
              <a:ext uri="{FF2B5EF4-FFF2-40B4-BE49-F238E27FC236}">
                <a16:creationId xmlns:a16="http://schemas.microsoft.com/office/drawing/2014/main" id="{1DACA67C-22A7-4BD9-90AD-ECF57AD58DC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3858" b="63077"/>
          <a:stretch/>
        </p:blipFill>
        <p:spPr bwMode="auto">
          <a:xfrm>
            <a:off x="347967" y="1191260"/>
            <a:ext cx="4460240" cy="2216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91801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7BE3287B-3C6B-4162-B9D3-5F7BD0A4C22E}"/>
              </a:ext>
            </a:extLst>
          </p:cNvPr>
          <p:cNvSpPr txBox="1"/>
          <p:nvPr/>
        </p:nvSpPr>
        <p:spPr>
          <a:xfrm>
            <a:off x="4009860" y="1949009"/>
            <a:ext cx="5299587" cy="769441"/>
          </a:xfrm>
          <a:prstGeom prst="rect">
            <a:avLst/>
          </a:prstGeom>
          <a:noFill/>
        </p:spPr>
        <p:txBody>
          <a:bodyPr wrap="square" rtlCol="0">
            <a:spAutoFit/>
          </a:bodyPr>
          <a:lstStyle/>
          <a:p>
            <a:r>
              <a:rPr lang="it-IT" sz="4400" dirty="0">
                <a:solidFill>
                  <a:schemeClr val="accent1">
                    <a:lumMod val="50000"/>
                  </a:schemeClr>
                </a:solidFill>
                <a:latin typeface="+mj-lt"/>
              </a:rPr>
              <a:t>Quantum </a:t>
            </a:r>
            <a:r>
              <a:rPr lang="it-IT" sz="4400" dirty="0" err="1">
                <a:solidFill>
                  <a:schemeClr val="accent1">
                    <a:lumMod val="50000"/>
                  </a:schemeClr>
                </a:solidFill>
                <a:latin typeface="+mj-lt"/>
              </a:rPr>
              <a:t>circuit</a:t>
            </a:r>
            <a:endParaRPr lang="en-US" sz="4400" dirty="0">
              <a:solidFill>
                <a:schemeClr val="accent1">
                  <a:lumMod val="50000"/>
                </a:schemeClr>
              </a:solidFill>
              <a:latin typeface="+mj-lt"/>
            </a:endParaRPr>
          </a:p>
        </p:txBody>
      </p:sp>
      <p:pic>
        <p:nvPicPr>
          <p:cNvPr id="3" name="Immagine 2">
            <a:extLst>
              <a:ext uri="{FF2B5EF4-FFF2-40B4-BE49-F238E27FC236}">
                <a16:creationId xmlns:a16="http://schemas.microsoft.com/office/drawing/2014/main" id="{8F9E8A2C-BF91-4A03-89CD-E93D56C85F08}"/>
              </a:ext>
            </a:extLst>
          </p:cNvPr>
          <p:cNvPicPr>
            <a:picLocks noChangeAspect="1"/>
          </p:cNvPicPr>
          <p:nvPr/>
        </p:nvPicPr>
        <p:blipFill>
          <a:blip r:embed="rId2"/>
          <a:stretch>
            <a:fillRect/>
          </a:stretch>
        </p:blipFill>
        <p:spPr>
          <a:xfrm>
            <a:off x="1346479" y="3129445"/>
            <a:ext cx="9157398" cy="3165848"/>
          </a:xfrm>
          <a:prstGeom prst="rect">
            <a:avLst/>
          </a:prstGeom>
        </p:spPr>
      </p:pic>
    </p:spTree>
    <p:extLst>
      <p:ext uri="{BB962C8B-B14F-4D97-AF65-F5344CB8AC3E}">
        <p14:creationId xmlns:p14="http://schemas.microsoft.com/office/powerpoint/2010/main" val="6176997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C9A1A4CD-9F28-4CFA-95E8-140544E478AF}"/>
                  </a:ext>
                </a:extLst>
              </p:cNvPr>
              <p:cNvSpPr txBox="1"/>
              <p:nvPr/>
            </p:nvSpPr>
            <p:spPr>
              <a:xfrm>
                <a:off x="785446" y="1106797"/>
                <a:ext cx="10621108" cy="5246949"/>
              </a:xfrm>
              <a:prstGeom prst="rect">
                <a:avLst/>
              </a:prstGeom>
              <a:noFill/>
            </p:spPr>
            <p:txBody>
              <a:bodyPr wrap="square">
                <a:spAutoFit/>
              </a:bodyPr>
              <a:lstStyle/>
              <a:p>
                <a:r>
                  <a:rPr lang="en-US" sz="1800" dirty="0">
                    <a:effectLst/>
                    <a:latin typeface="Calibri Light" panose="020F0302020204030204" pitchFamily="34" charset="0"/>
                    <a:ea typeface="Calibri" panose="020F0502020204030204" pitchFamily="34" charset="0"/>
                  </a:rPr>
                  <a:t>Consider a normalized weight matrix as </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𝑊</m:t>
                      </m:r>
                      <m:r>
                        <a:rPr lang="en-US" sz="1800">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i="1">
                              <a:effectLst/>
                              <a:latin typeface="Cambria Math" panose="02040503050406030204" pitchFamily="18" charset="0"/>
                              <a:ea typeface="Calibri" panose="020F0502020204030204" pitchFamily="34" charset="0"/>
                              <a:cs typeface="Calibri Light" panose="020F0302020204030204" pitchFamily="34" charset="0"/>
                            </a:rPr>
                            <m:t>𝑀𝑑</m:t>
                          </m:r>
                        </m:den>
                      </m:f>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nary>
                            <m:naryPr>
                              <m:chr m:val="∑"/>
                              <m:limLoc m:val="undOvr"/>
                              <m:grow m:val="on"/>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naryPr>
                            <m:sub>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𝑀</m:t>
                              </m:r>
                            </m:sup>
                            <m:e>
                              <m:r>
                                <a:rPr lang="en-US" sz="1800">
                                  <a:effectLst/>
                                  <a:latin typeface="Cambria Math" panose="02040503050406030204" pitchFamily="18" charset="0"/>
                                  <a:ea typeface="Calibri" panose="020F0502020204030204" pitchFamily="34" charset="0"/>
                                  <a:cs typeface="Calibri Light" panose="020F0302020204030204" pitchFamily="34" charset="0"/>
                                </a:rPr>
                                <m:t> </m:t>
                              </m:r>
                            </m:e>
                          </m:nary>
                          <m:r>
                            <a:rPr lang="en-US" sz="1800">
                              <a:effectLst/>
                              <a:latin typeface="Cambria Math" panose="02040503050406030204" pitchFamily="18" charset="0"/>
                              <a:ea typeface="Calibri" panose="020F0502020204030204" pitchFamily="34" charset="0"/>
                              <a:cs typeface="Calibri Light" panose="020F0302020204030204" pitchFamily="34" charset="0"/>
                            </a:rPr>
                            <m:t> </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𝒙</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p>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𝒙</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p>
                                </m:e>
                              </m:d>
                            </m:e>
                            <m:sup>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p>
                        </m:e>
                      </m:d>
                      <m:r>
                        <a:rPr lang="en-US" sz="1800" i="1">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𝕀</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sub>
                          </m:sSub>
                        </m:num>
                        <m:den>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den>
                      </m:f>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sz="2800" dirty="0">
                  <a:effectLst/>
                  <a:latin typeface="Calibri" panose="020F0502020204030204" pitchFamily="34" charset="0"/>
                  <a:ea typeface="Calibri" panose="020F0502020204030204" pitchFamily="34" charset="0"/>
                </a:endParaRPr>
              </a:p>
              <a:p>
                <a:pPr>
                  <a:spcAft>
                    <a:spcPts val="1200"/>
                  </a:spcAft>
                </a:pPr>
                <a:r>
                  <a:rPr lang="en-US" sz="1800" dirty="0">
                    <a:effectLst/>
                    <a:latin typeface="Calibri Light" panose="020F0302020204030204" pitchFamily="34" charset="0"/>
                    <a:ea typeface="Calibri" panose="020F0502020204030204" pitchFamily="34" charset="0"/>
                  </a:rPr>
                  <a:t>with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𝕀</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sub>
                    </m:sSub>
                  </m:oMath>
                </a14:m>
                <a:r>
                  <a:rPr lang="en-US" sz="1800" dirty="0">
                    <a:effectLst/>
                    <a:latin typeface="Calibri Light" panose="020F0302020204030204" pitchFamily="34" charset="0"/>
                    <a:ea typeface="Calibri" panose="020F0502020204030204" pitchFamily="34" charset="0"/>
                  </a:rPr>
                  <a:t> the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oMath>
                </a14:m>
                <a:r>
                  <a:rPr lang="en-US" sz="1800" dirty="0">
                    <a:effectLst/>
                    <a:latin typeface="Calibri Light" panose="020F0302020204030204" pitchFamily="34" charset="0"/>
                    <a:ea typeface="Calibri" panose="020F0502020204030204" pitchFamily="34" charset="0"/>
                  </a:rPr>
                  <a:t>-dimensional identity matrix,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𝑀</m:t>
                    </m:r>
                  </m:oMath>
                </a14:m>
                <a:r>
                  <a:rPr lang="en-US" sz="1800" dirty="0">
                    <a:effectLst/>
                    <a:latin typeface="Calibri Light" panose="020F0302020204030204" pitchFamily="34" charset="0"/>
                    <a:ea typeface="Calibri" panose="020F0502020204030204" pitchFamily="34" charset="0"/>
                  </a:rPr>
                  <a:t> is the training set of activation patterns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𝒙</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p>
                  </m:oMath>
                </a14:m>
                <a:r>
                  <a:rPr lang="en-US" sz="1800" dirty="0">
                    <a:effectLst/>
                    <a:latin typeface="Calibri Light" panose="020F0302020204030204" pitchFamily="34" charset="0"/>
                    <a:ea typeface="Calibri" panose="020F0502020204030204" pitchFamily="34" charset="0"/>
                  </a:rPr>
                  <a:t>  with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r>
                      <a:rPr lang="en-US" sz="1800">
                        <a:effectLst/>
                        <a:latin typeface="Cambria Math" panose="02040503050406030204" pitchFamily="18" charset="0"/>
                        <a:ea typeface="Calibri" panose="020F0502020204030204" pitchFamily="34" charset="0"/>
                        <a:cs typeface="Calibri Light" panose="020F0302020204030204" pitchFamily="34" charset="0"/>
                      </a:rPr>
                      <m:t>∈{1,2,…,</m:t>
                    </m:r>
                    <m:r>
                      <a:rPr lang="en-US" sz="1800" i="1">
                        <a:effectLst/>
                        <a:latin typeface="Cambria Math" panose="02040503050406030204" pitchFamily="18" charset="0"/>
                        <a:ea typeface="Calibri" panose="020F0502020204030204" pitchFamily="34" charset="0"/>
                        <a:cs typeface="Calibri Light" panose="020F0302020204030204" pitchFamily="34" charset="0"/>
                      </a:rPr>
                      <m:t>𝑀</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rPr>
                  <a:t>.</a:t>
                </a:r>
              </a:p>
              <a:p>
                <a:pPr>
                  <a:spcAft>
                    <a:spcPts val="1200"/>
                  </a:spcAft>
                </a:pPr>
                <a:endParaRPr lang="en-US" i="1" dirty="0">
                  <a:latin typeface="Calibri Light" panose="020F0302020204030204" pitchFamily="34" charset="0"/>
                  <a:ea typeface="Calibri" panose="020F0502020204030204" pitchFamily="34" charset="0"/>
                </a:endParaRPr>
              </a:p>
              <a:p>
                <a:pPr>
                  <a:spcAft>
                    <a:spcPts val="1200"/>
                  </a:spcAft>
                </a:pPr>
                <a:endParaRPr lang="en-US" sz="1800" i="1" dirty="0">
                  <a:effectLst/>
                  <a:latin typeface="Calibri Light" panose="020F0302020204030204" pitchFamily="34" charset="0"/>
                  <a:ea typeface="Calibri" panose="020F0502020204030204" pitchFamily="34" charset="0"/>
                </a:endParaRPr>
              </a:p>
              <a:p>
                <a:pPr>
                  <a:spcAft>
                    <a:spcPts val="1200"/>
                  </a:spcAft>
                </a:pPr>
                <a:r>
                  <a:rPr lang="en-US" sz="1800" i="1" dirty="0">
                    <a:effectLst/>
                    <a:latin typeface="Calibri Light" panose="020F0302020204030204" pitchFamily="34" charset="0"/>
                    <a:ea typeface="Calibri" panose="020F0502020204030204" pitchFamily="34" charset="0"/>
                  </a:rPr>
                  <a:t> </a:t>
                </a:r>
                <a:r>
                  <a:rPr lang="en-US" sz="1800" dirty="0">
                    <a:effectLst/>
                    <a:latin typeface="Calibri Light" panose="020F0302020204030204" pitchFamily="34" charset="0"/>
                    <a:ea typeface="Calibri" panose="020F0502020204030204" pitchFamily="34" charset="0"/>
                  </a:rPr>
                  <a:t>Consider any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oMath>
                </a14:m>
                <a:r>
                  <a:rPr lang="en-US" sz="1800" dirty="0">
                    <a:effectLst/>
                    <a:latin typeface="Calibri Light" panose="020F0302020204030204" pitchFamily="34" charset="0"/>
                    <a:ea typeface="Calibri" panose="020F0502020204030204" pitchFamily="34" charset="0"/>
                  </a:rPr>
                  <a:t>-dimensional vector </a:t>
                </a:r>
                <a14:m>
                  <m:oMath xmlns:m="http://schemas.openxmlformats.org/officeDocument/2006/math">
                    <m:r>
                      <a:rPr lang="en-US" sz="1800" b="1" i="1">
                        <a:effectLst/>
                        <a:latin typeface="Cambria Math" panose="02040503050406030204" pitchFamily="18" charset="0"/>
                        <a:ea typeface="Calibri" panose="020F0502020204030204" pitchFamily="34" charset="0"/>
                        <a:cs typeface="Calibri Light" panose="020F0302020204030204" pitchFamily="34" charset="0"/>
                      </a:rPr>
                      <m:t>𝒙</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sub>
                            </m:sSub>
                          </m:e>
                        </m:d>
                      </m:e>
                      <m:sup>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p>
                  </m:oMath>
                </a14:m>
                <a:r>
                  <a:rPr lang="en-US" sz="1800" dirty="0">
                    <a:effectLst/>
                    <a:latin typeface="Calibri Light" panose="020F0302020204030204" pitchFamily="34" charset="0"/>
                    <a:ea typeface="Calibri" panose="020F0502020204030204" pitchFamily="34" charset="0"/>
                  </a:rPr>
                  <a:t>. They associate it to the pure state </a:t>
                </a:r>
                <a14:m>
                  <m:oMath xmlns:m="http://schemas.openxmlformats.org/officeDocument/2006/math">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rPr>
                  <a:t> of a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oMath>
                </a14:m>
                <a:r>
                  <a:rPr lang="en-US" sz="1800" dirty="0">
                    <a:effectLst/>
                    <a:latin typeface="Calibri Light" panose="020F0302020204030204" pitchFamily="34" charset="0"/>
                    <a:ea typeface="Calibri" panose="020F0502020204030204" pitchFamily="34" charset="0"/>
                  </a:rPr>
                  <a:t>-level quantum system according to </a:t>
                </a:r>
                <a14:m>
                  <m:oMath xmlns:m="http://schemas.openxmlformats.org/officeDocument/2006/math">
                    <m:r>
                      <a:rPr lang="en-US" sz="1800" b="1" i="1">
                        <a:effectLst/>
                        <a:latin typeface="Cambria Math" panose="02040503050406030204" pitchFamily="18" charset="0"/>
                        <a:ea typeface="Calibri" panose="020F0502020204030204" pitchFamily="34" charset="0"/>
                        <a:cs typeface="Calibri Light" panose="020F0302020204030204" pitchFamily="34" charset="0"/>
                      </a:rPr>
                      <m:t>𝒙</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𝒙</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rPr>
                  <a:t>, with </a:t>
                </a:r>
                <a14:m>
                  <m:oMath xmlns:m="http://schemas.openxmlformats.org/officeDocument/2006/math">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𝒙</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ad>
                      <m:radPr>
                        <m:degHide m:val="on"/>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radPr>
                      <m:deg/>
                      <m:e>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bSup>
                      </m:e>
                    </m:rad>
                  </m:oMath>
                </a14:m>
                <a:r>
                  <a:rPr lang="en-US" sz="1800" dirty="0">
                    <a:effectLst/>
                    <a:latin typeface="Calibri Light" panose="020F0302020204030204" pitchFamily="34" charset="0"/>
                    <a:ea typeface="Calibri" panose="020F0502020204030204" pitchFamily="34" charset="0"/>
                  </a:rPr>
                  <a:t> the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𝑙</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oMath>
                </a14:m>
                <a:r>
                  <a:rPr lang="en-US" sz="1800" dirty="0">
                    <a:effectLst/>
                    <a:latin typeface="Calibri Light" panose="020F0302020204030204" pitchFamily="34" charset="0"/>
                    <a:ea typeface="Calibri" panose="020F0502020204030204" pitchFamily="34" charset="0"/>
                  </a:rPr>
                  <a:t>-norm of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oMath>
                </a14:m>
                <a:r>
                  <a:rPr lang="en-US" sz="1800" dirty="0">
                    <a:effectLst/>
                    <a:latin typeface="Calibri Light" panose="020F0302020204030204" pitchFamily="34" charset="0"/>
                    <a:ea typeface="Calibri" panose="020F0502020204030204" pitchFamily="34" charset="0"/>
                  </a:rPr>
                  <a:t> and </a:t>
                </a:r>
                <a14:m>
                  <m:oMath xmlns:m="http://schemas.openxmlformats.org/officeDocument/2006/math">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r>
                      <a:rPr lang="en-US" sz="1800">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den>
                    </m:f>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rPr>
                  <a:t> written with respect to the standard basis such that </a:t>
                </a:r>
                <a14:m>
                  <m:oMath xmlns:m="http://schemas.openxmlformats.org/officeDocument/2006/math">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oMath>
                </a14:m>
                <a:r>
                  <a:rPr lang="en-US" sz="1800" dirty="0">
                    <a:effectLst/>
                    <a:latin typeface="Calibri Light" panose="020F0302020204030204" pitchFamily="34" charset="0"/>
                    <a:ea typeface="Calibri" panose="020F0502020204030204" pitchFamily="34" charset="0"/>
                  </a:rPr>
                  <a:t>. For bipolar vector the normalization is </a:t>
                </a:r>
                <a14:m>
                  <m:oMath xmlns:m="http://schemas.openxmlformats.org/officeDocument/2006/math">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𝒙</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oMath>
                </a14:m>
                <a:r>
                  <a:rPr lang="en-US" sz="1800" dirty="0">
                    <a:effectLst/>
                    <a:latin typeface="Calibri Light" panose="020F0302020204030204" pitchFamily="34" charset="0"/>
                    <a:ea typeface="Calibri" panose="020F0502020204030204" pitchFamily="34" charset="0"/>
                  </a:rPr>
                  <a:t>. Given that the weight matrix is the mixed state</a:t>
                </a:r>
                <a:endParaRPr lang="en-US" sz="2800" dirty="0">
                  <a:effectLst/>
                  <a:latin typeface="Calibri" panose="020F0502020204030204" pitchFamily="34" charset="0"/>
                  <a:ea typeface="Calibri" panose="020F0502020204030204" pitchFamily="34" charset="0"/>
                </a:endParaRPr>
              </a:p>
              <a:p>
                <a:pPr algn="ctr">
                  <a:spcAft>
                    <a:spcPts val="12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𝜌</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𝑊</m:t>
                      </m:r>
                      <m:r>
                        <a:rPr lang="en-US" sz="1800">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𝕀</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sub>
                          </m:sSub>
                        </m:num>
                        <m:den>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den>
                      </m:f>
                      <m:r>
                        <a:rPr lang="en-US" sz="1800">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i="1">
                              <a:effectLst/>
                              <a:latin typeface="Cambria Math" panose="02040503050406030204" pitchFamily="18" charset="0"/>
                              <a:ea typeface="Calibri" panose="020F0502020204030204" pitchFamily="34" charset="0"/>
                              <a:cs typeface="Calibri Light" panose="020F0302020204030204" pitchFamily="34" charset="0"/>
                            </a:rPr>
                            <m:t>𝑀</m:t>
                          </m:r>
                        </m:den>
                      </m:f>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𝑀</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p>
                        </m:e>
                      </m:d>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p>
                        </m:e>
                      </m:d>
                    </m:oMath>
                  </m:oMathPara>
                </a14:m>
                <a:endParaRPr lang="en-US" sz="2800" dirty="0">
                  <a:effectLst/>
                  <a:latin typeface="Calibri" panose="020F0502020204030204" pitchFamily="34" charset="0"/>
                  <a:ea typeface="Calibri" panose="020F0502020204030204" pitchFamily="34" charset="0"/>
                </a:endParaRPr>
              </a:p>
              <a:p>
                <a:pPr>
                  <a:spcAft>
                    <a:spcPts val="1200"/>
                  </a:spcAft>
                </a:pPr>
                <a:r>
                  <a:rPr lang="en-US" sz="1800" dirty="0">
                    <a:effectLst/>
                    <a:latin typeface="Calibri Light" panose="020F0302020204030204" pitchFamily="34" charset="0"/>
                    <a:ea typeface="Calibri" panose="020F0502020204030204" pitchFamily="34" charset="0"/>
                  </a:rPr>
                  <a:t>Where </a:t>
                </a:r>
                <a14:m>
                  <m:oMath xmlns:m="http://schemas.openxmlformats.org/officeDocument/2006/math">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p>
                      </m:e>
                    </m:d>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𝑚</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p>
                      </m:e>
                    </m:d>
                    <m:r>
                      <a:rPr lang="en-US" sz="1800" i="1">
                        <a:effectLst/>
                        <a:latin typeface="Cambria Math" panose="02040503050406030204" pitchFamily="18" charset="0"/>
                        <a:ea typeface="Calibri" panose="020F0502020204030204" pitchFamily="34" charset="0"/>
                        <a:cs typeface="Calibri Light" panose="020F0302020204030204" pitchFamily="34" charset="0"/>
                      </a:rPr>
                      <m:t> </m:t>
                    </m:r>
                  </m:oMath>
                </a14:m>
                <a:r>
                  <a:rPr lang="en-US" sz="1800" dirty="0">
                    <a:effectLst/>
                    <a:latin typeface="Calibri Light" panose="020F0302020204030204" pitchFamily="34" charset="0"/>
                    <a:ea typeface="Calibri" panose="020F0502020204030204" pitchFamily="34" charset="0"/>
                  </a:rPr>
                  <a:t>are the projector of the m-stored memory (in analogy with the Hebb rule, see Appendix A). </a:t>
                </a:r>
                <a:endParaRPr lang="en-US" sz="2800" dirty="0">
                  <a:effectLst/>
                  <a:latin typeface="Calibri" panose="020F0502020204030204" pitchFamily="34" charset="0"/>
                  <a:ea typeface="Calibri" panose="020F0502020204030204" pitchFamily="34" charset="0"/>
                </a:endParaRPr>
              </a:p>
            </p:txBody>
          </p:sp>
        </mc:Choice>
        <mc:Fallback xmlns="">
          <p:sp>
            <p:nvSpPr>
              <p:cNvPr id="6" name="CasellaDiTesto 5">
                <a:extLst>
                  <a:ext uri="{FF2B5EF4-FFF2-40B4-BE49-F238E27FC236}">
                    <a16:creationId xmlns:a16="http://schemas.microsoft.com/office/drawing/2014/main" id="{C9A1A4CD-9F28-4CFA-95E8-140544E478AF}"/>
                  </a:ext>
                </a:extLst>
              </p:cNvPr>
              <p:cNvSpPr txBox="1">
                <a:spLocks noRot="1" noChangeAspect="1" noMove="1" noResize="1" noEditPoints="1" noAdjustHandles="1" noChangeArrowheads="1" noChangeShapeType="1" noTextEdit="1"/>
              </p:cNvSpPr>
              <p:nvPr/>
            </p:nvSpPr>
            <p:spPr>
              <a:xfrm>
                <a:off x="785446" y="1106797"/>
                <a:ext cx="10621108" cy="5246949"/>
              </a:xfrm>
              <a:prstGeom prst="rect">
                <a:avLst/>
              </a:prstGeom>
              <a:blipFill>
                <a:blip r:embed="rId3"/>
                <a:stretch>
                  <a:fillRect l="-517" t="-698" r="-230" b="-698"/>
                </a:stretch>
              </a:blipFill>
            </p:spPr>
            <p:txBody>
              <a:bodyPr/>
              <a:lstStyle/>
              <a:p>
                <a:r>
                  <a:rPr lang="en-US">
                    <a:noFill/>
                  </a:rPr>
                  <a:t> </a:t>
                </a:r>
              </a:p>
            </p:txBody>
          </p:sp>
        </mc:Fallback>
      </mc:AlternateContent>
      <p:sp>
        <p:nvSpPr>
          <p:cNvPr id="7" name="CasellaDiTesto 6">
            <a:extLst>
              <a:ext uri="{FF2B5EF4-FFF2-40B4-BE49-F238E27FC236}">
                <a16:creationId xmlns:a16="http://schemas.microsoft.com/office/drawing/2014/main" id="{CC649052-48CD-400F-9C14-56F5E0172A50}"/>
              </a:ext>
            </a:extLst>
          </p:cNvPr>
          <p:cNvSpPr txBox="1"/>
          <p:nvPr/>
        </p:nvSpPr>
        <p:spPr>
          <a:xfrm>
            <a:off x="4401746" y="250838"/>
            <a:ext cx="5299587" cy="769441"/>
          </a:xfrm>
          <a:prstGeom prst="rect">
            <a:avLst/>
          </a:prstGeom>
          <a:noFill/>
        </p:spPr>
        <p:txBody>
          <a:bodyPr wrap="square" rtlCol="0">
            <a:spAutoFit/>
          </a:bodyPr>
          <a:lstStyle/>
          <a:p>
            <a:r>
              <a:rPr lang="it-IT" sz="4400" dirty="0">
                <a:solidFill>
                  <a:schemeClr val="accent1">
                    <a:lumMod val="50000"/>
                  </a:schemeClr>
                </a:solidFill>
                <a:latin typeface="+mj-lt"/>
              </a:rPr>
              <a:t>Core concepts</a:t>
            </a:r>
            <a:endParaRPr lang="en-US" sz="4400" dirty="0">
              <a:solidFill>
                <a:schemeClr val="accent1">
                  <a:lumMod val="50000"/>
                </a:schemeClr>
              </a:solidFill>
              <a:latin typeface="+mj-lt"/>
            </a:endParaRPr>
          </a:p>
        </p:txBody>
      </p:sp>
    </p:spTree>
    <p:extLst>
      <p:ext uri="{BB962C8B-B14F-4D97-AF65-F5344CB8AC3E}">
        <p14:creationId xmlns:p14="http://schemas.microsoft.com/office/powerpoint/2010/main" val="28209906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B3C4FEB2-A656-4D65-90D4-B1B55A222714}"/>
              </a:ext>
            </a:extLst>
          </p:cNvPr>
          <p:cNvSpPr txBox="1"/>
          <p:nvPr/>
        </p:nvSpPr>
        <p:spPr>
          <a:xfrm>
            <a:off x="5393094" y="101201"/>
            <a:ext cx="7641772" cy="769441"/>
          </a:xfrm>
          <a:prstGeom prst="rect">
            <a:avLst/>
          </a:prstGeom>
          <a:noFill/>
        </p:spPr>
        <p:txBody>
          <a:bodyPr wrap="square" rtlCol="0">
            <a:spAutoFit/>
          </a:bodyPr>
          <a:lstStyle/>
          <a:p>
            <a:r>
              <a:rPr lang="it-IT" sz="4400" dirty="0" err="1">
                <a:solidFill>
                  <a:schemeClr val="accent1">
                    <a:lumMod val="50000"/>
                  </a:schemeClr>
                </a:solidFill>
                <a:latin typeface="+mj-lt"/>
              </a:rPr>
              <a:t>qHeb</a:t>
            </a:r>
            <a:endParaRPr lang="en-US" sz="4400" dirty="0">
              <a:solidFill>
                <a:schemeClr val="accent1">
                  <a:lumMod val="50000"/>
                </a:schemeClr>
              </a:solidFill>
              <a:latin typeface="+mj-lt"/>
            </a:endParaRPr>
          </a:p>
        </p:txBody>
      </p:sp>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141FBB0B-E5C5-4DD8-8108-63E044962F98}"/>
                  </a:ext>
                </a:extLst>
              </p:cNvPr>
              <p:cNvSpPr txBox="1"/>
              <p:nvPr/>
            </p:nvSpPr>
            <p:spPr>
              <a:xfrm>
                <a:off x="0" y="1131899"/>
                <a:ext cx="12192000" cy="5843395"/>
              </a:xfrm>
              <a:prstGeom prst="rect">
                <a:avLst/>
              </a:prstGeom>
              <a:noFill/>
            </p:spPr>
            <p:txBody>
              <a:bodyPr wrap="square">
                <a:spAutoFit/>
              </a:bodyPr>
              <a:lstStyle/>
              <a:p>
                <a:pPr>
                  <a:spcAft>
                    <a:spcPts val="1200"/>
                  </a:spcAft>
                </a:pPr>
                <a:r>
                  <a:rPr lang="en-US" dirty="0">
                    <a:effectLst/>
                    <a:ea typeface="Calibri" panose="020F0502020204030204" pitchFamily="34" charset="0"/>
                  </a:rPr>
                  <a:t>Defining the set of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𝑀</m:t>
                    </m:r>
                  </m:oMath>
                </a14:m>
                <a:r>
                  <a:rPr lang="en-US" dirty="0">
                    <a:effectLst/>
                    <a:ea typeface="Calibri" panose="020F0502020204030204" pitchFamily="34" charset="0"/>
                  </a:rPr>
                  <a:t> unitary operators </a:t>
                </a:r>
                <a14:m>
                  <m:oMath xmlns:m="http://schemas.openxmlformats.org/officeDocument/2006/math">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d>
                          <m:dPr>
                            <m:begChr m:val="{"/>
                            <m:end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𝒰</m:t>
                                </m:r>
                              </m:e>
                              <m:sub>
                                <m:r>
                                  <a:rPr lang="en-US" i="1">
                                    <a:effectLst/>
                                    <a:latin typeface="Cambria Math" panose="02040503050406030204" pitchFamily="18" charset="0"/>
                                    <a:ea typeface="Calibri" panose="020F0502020204030204" pitchFamily="34" charset="0"/>
                                    <a:cs typeface="Calibri Light" panose="020F0302020204030204" pitchFamily="34" charset="0"/>
                                  </a:rPr>
                                  <m:t>𝑘</m:t>
                                </m:r>
                              </m:sub>
                            </m:sSub>
                          </m:e>
                        </m:d>
                      </m:e>
                      <m:sub>
                        <m:r>
                          <a:rPr lang="en-US" i="1">
                            <a:effectLst/>
                            <a:latin typeface="Cambria Math" panose="02040503050406030204" pitchFamily="18" charset="0"/>
                            <a:ea typeface="Calibri" panose="020F0502020204030204" pitchFamily="34" charset="0"/>
                            <a:cs typeface="Calibri Light" panose="020F0302020204030204" pitchFamily="34" charset="0"/>
                          </a:rPr>
                          <m:t>𝑘</m:t>
                        </m:r>
                        <m:r>
                          <a:rPr lang="en-US">
                            <a:effectLst/>
                            <a:latin typeface="Cambria Math" panose="02040503050406030204" pitchFamily="18" charset="0"/>
                            <a:ea typeface="Calibri" panose="020F0502020204030204" pitchFamily="34" charset="0"/>
                            <a:cs typeface="Calibri Light" panose="020F0302020204030204" pitchFamily="34" charset="0"/>
                          </a:rPr>
                          <m:t>=1</m:t>
                        </m:r>
                      </m:sub>
                      <m:sup>
                        <m:r>
                          <a:rPr lang="en-US" i="1">
                            <a:effectLst/>
                            <a:latin typeface="Cambria Math" panose="02040503050406030204" pitchFamily="18" charset="0"/>
                            <a:ea typeface="Calibri" panose="020F0502020204030204" pitchFamily="34" charset="0"/>
                            <a:cs typeface="Calibri Light" panose="020F0302020204030204" pitchFamily="34" charset="0"/>
                          </a:rPr>
                          <m:t>𝑀</m:t>
                        </m:r>
                      </m:sup>
                    </m:sSubSup>
                  </m:oMath>
                </a14:m>
                <a:r>
                  <a:rPr lang="en-US" dirty="0">
                    <a:effectLst/>
                    <a:ea typeface="Calibri" panose="020F0502020204030204" pitchFamily="34" charset="0"/>
                  </a:rPr>
                  <a:t> acting on an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𝑁</m:t>
                    </m:r>
                    <m:r>
                      <a:rPr lang="en-US">
                        <a:effectLst/>
                        <a:latin typeface="Cambria Math" panose="02040503050406030204" pitchFamily="18" charset="0"/>
                        <a:ea typeface="Calibri" panose="020F0502020204030204" pitchFamily="34" charset="0"/>
                        <a:cs typeface="Calibri Light" panose="020F0302020204030204" pitchFamily="34" charset="0"/>
                      </a:rPr>
                      <m:t>+1</m:t>
                    </m:r>
                  </m:oMath>
                </a14:m>
                <a:r>
                  <a:rPr lang="en-US" dirty="0">
                    <a:effectLst/>
                    <a:ea typeface="Calibri" panose="020F0502020204030204" pitchFamily="34" charset="0"/>
                  </a:rPr>
                  <a:t> register of qubits according to</a:t>
                </a:r>
              </a:p>
              <a:p>
                <a:pPr>
                  <a:spcAft>
                    <a:spcPts val="1200"/>
                  </a:spcAft>
                </a:pPr>
                <a14:m>
                  <m:oMathPara xmlns:m="http://schemas.openxmlformats.org/officeDocument/2006/math">
                    <m:oMathParaPr>
                      <m:jc m:val="centerGroup"/>
                    </m:oMathParaPr>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𝒰</m:t>
                          </m:r>
                        </m:e>
                        <m:sub>
                          <m:r>
                            <a:rPr lang="en-US" i="1">
                              <a:effectLst/>
                              <a:latin typeface="Cambria Math" panose="02040503050406030204" pitchFamily="18" charset="0"/>
                              <a:ea typeface="Calibri" panose="020F0502020204030204" pitchFamily="34" charset="0"/>
                              <a:cs typeface="Calibri Light" panose="020F0302020204030204" pitchFamily="34" charset="0"/>
                            </a:rPr>
                            <m:t>𝑘</m:t>
                          </m:r>
                        </m:sub>
                      </m:sSub>
                      <m:r>
                        <a:rPr lang="en-US">
                          <a:effectLst/>
                          <a:latin typeface="Cambria Math" panose="02040503050406030204" pitchFamily="18" charset="0"/>
                          <a:ea typeface="Calibri" panose="020F0502020204030204" pitchFamily="34" charset="0"/>
                          <a:cs typeface="Calibri Light" panose="020F0302020204030204" pitchFamily="34" charset="0"/>
                        </a:rPr>
                        <m:t>:=|0⟩⟨0|⊗</m:t>
                      </m:r>
                      <m:r>
                        <a:rPr lang="en-US" i="1">
                          <a:effectLst/>
                          <a:latin typeface="Cambria Math" panose="02040503050406030204" pitchFamily="18" charset="0"/>
                          <a:ea typeface="Calibri" panose="020F0502020204030204" pitchFamily="34" charset="0"/>
                          <a:cs typeface="Calibri Light" panose="020F0302020204030204" pitchFamily="34" charset="0"/>
                        </a:rPr>
                        <m:t>𝕀</m:t>
                      </m:r>
                      <m:r>
                        <a:rPr lang="en-US">
                          <a:effectLst/>
                          <a:latin typeface="Cambria Math" panose="02040503050406030204" pitchFamily="18" charset="0"/>
                          <a:ea typeface="Calibri" panose="020F0502020204030204" pitchFamily="34" charset="0"/>
                          <a:cs typeface="Calibri Light" panose="020F0302020204030204" pitchFamily="34" charset="0"/>
                        </a:rPr>
                        <m:t>+|1⟩⟨1|⊗</m:t>
                      </m:r>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𝑒</m:t>
                          </m:r>
                        </m:e>
                        <m:sup>
                          <m:r>
                            <a:rPr lang="en-US" i="1">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𝑖</m:t>
                          </m:r>
                          <m:d>
                            <m:dPr>
                              <m:begChr m:val="|"/>
                              <m:end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p>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𝑘</m:t>
                                  </m:r>
                                  <m:r>
                                    <a:rPr lang="en-US">
                                      <a:effectLst/>
                                      <a:latin typeface="Cambria Math" panose="02040503050406030204" pitchFamily="18" charset="0"/>
                                      <a:ea typeface="Calibri" panose="020F0502020204030204" pitchFamily="34" charset="0"/>
                                      <a:cs typeface="Calibri Light" panose="020F0302020204030204" pitchFamily="34" charset="0"/>
                                    </a:rPr>
                                    <m:t>)</m:t>
                                  </m:r>
                                </m:sup>
                              </m:sSup>
                            </m:e>
                          </m:d>
                          <m:d>
                            <m:dPr>
                              <m:begChr m:val="⟨"/>
                              <m:end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p>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𝑘</m:t>
                                  </m:r>
                                  <m:r>
                                    <a:rPr lang="en-US">
                                      <a:effectLst/>
                                      <a:latin typeface="Cambria Math" panose="02040503050406030204" pitchFamily="18" charset="0"/>
                                      <a:ea typeface="Calibri" panose="020F0502020204030204" pitchFamily="34" charset="0"/>
                                      <a:cs typeface="Calibri Light" panose="020F0302020204030204" pitchFamily="34" charset="0"/>
                                    </a:rPr>
                                    <m:t>)</m:t>
                                  </m:r>
                                </m:sup>
                              </m:sSup>
                            </m:e>
                          </m:d>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Δ</m:t>
                          </m:r>
                          <m:r>
                            <a:rPr lang="en-US" i="1">
                              <a:effectLst/>
                              <a:latin typeface="Cambria Math" panose="02040503050406030204" pitchFamily="18" charset="0"/>
                              <a:ea typeface="Calibri" panose="020F0502020204030204" pitchFamily="34" charset="0"/>
                              <a:cs typeface="Calibri Light" panose="020F0302020204030204" pitchFamily="34" charset="0"/>
                            </a:rPr>
                            <m:t>𝑡</m:t>
                          </m:r>
                        </m:sup>
                      </m:sSup>
                      <m:r>
                        <a:rPr lang="en-US">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dirty="0">
                  <a:effectLst/>
                  <a:ea typeface="Calibri" panose="020F0502020204030204" pitchFamily="34" charset="0"/>
                </a:endParaRPr>
              </a:p>
              <a:p>
                <a:pPr>
                  <a:spcAft>
                    <a:spcPts val="1200"/>
                  </a:spcAft>
                </a:pPr>
                <a:r>
                  <a:rPr lang="en-US" dirty="0">
                    <a:effectLst/>
                    <a:ea typeface="Calibri" panose="020F0502020204030204" pitchFamily="34" charset="0"/>
                  </a:rPr>
                  <a:t>The </a:t>
                </a:r>
                <a:r>
                  <a:rPr lang="en-US" dirty="0" err="1">
                    <a:effectLst/>
                    <a:ea typeface="Calibri" panose="020F0502020204030204" pitchFamily="34" charset="0"/>
                  </a:rPr>
                  <a:t>unitaries</a:t>
                </a:r>
                <a:r>
                  <a:rPr lang="en-US" dirty="0">
                    <a:effectLst/>
                    <a:ea typeface="Calibri" panose="020F0502020204030204" pitchFamily="34" charset="0"/>
                  </a:rPr>
                  <a:t> apply the different memory pattern projectors </a:t>
                </a:r>
                <a14:m>
                  <m:oMath xmlns:m="http://schemas.openxmlformats.org/officeDocument/2006/math">
                    <m:d>
                      <m:dPr>
                        <m:begChr m:val="|"/>
                        <m:end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p>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𝑘</m:t>
                            </m:r>
                            <m:r>
                              <a:rPr lang="en-US">
                                <a:effectLst/>
                                <a:latin typeface="Cambria Math" panose="02040503050406030204" pitchFamily="18" charset="0"/>
                                <a:ea typeface="Calibri" panose="020F0502020204030204" pitchFamily="34" charset="0"/>
                                <a:cs typeface="Calibri Light" panose="020F0302020204030204" pitchFamily="34" charset="0"/>
                              </a:rPr>
                              <m:t>)</m:t>
                            </m:r>
                          </m:sup>
                        </m:sSup>
                      </m:e>
                    </m:d>
                    <m:d>
                      <m:dPr>
                        <m:begChr m:val="⟨"/>
                        <m:end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p>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𝑘</m:t>
                            </m:r>
                            <m:r>
                              <a:rPr lang="en-US">
                                <a:effectLst/>
                                <a:latin typeface="Cambria Math" panose="02040503050406030204" pitchFamily="18" charset="0"/>
                                <a:ea typeface="Calibri" panose="020F0502020204030204" pitchFamily="34" charset="0"/>
                                <a:cs typeface="Calibri Light" panose="020F0302020204030204" pitchFamily="34" charset="0"/>
                              </a:rPr>
                              <m:t>)</m:t>
                            </m:r>
                          </m:sup>
                        </m:sSup>
                      </m:e>
                    </m:d>
                  </m:oMath>
                </a14:m>
                <a:r>
                  <a:rPr lang="en-US" dirty="0">
                    <a:effectLst/>
                    <a:ea typeface="Calibri" panose="020F0502020204030204" pitchFamily="34" charset="0"/>
                  </a:rPr>
                  <a:t> conditionally and for a small time </a:t>
                </a:r>
                <a14:m>
                  <m:oMath xmlns:m="http://schemas.openxmlformats.org/officeDocument/2006/math">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Δ</m:t>
                    </m:r>
                    <m:r>
                      <a:rPr lang="en-US" i="1">
                        <a:effectLst/>
                        <a:latin typeface="Cambria Math" panose="02040503050406030204" pitchFamily="18" charset="0"/>
                        <a:ea typeface="Calibri" panose="020F0502020204030204" pitchFamily="34" charset="0"/>
                        <a:cs typeface="Calibri Light" panose="020F0302020204030204" pitchFamily="34" charset="0"/>
                      </a:rPr>
                      <m:t>𝑡</m:t>
                    </m:r>
                  </m:oMath>
                </a14:m>
                <a:r>
                  <a:rPr lang="en-US" dirty="0">
                    <a:effectLst/>
                    <a:ea typeface="Calibri" panose="020F0502020204030204" pitchFamily="34" charset="0"/>
                  </a:rPr>
                  <a:t>. To implement them, let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𝑆</m:t>
                    </m:r>
                  </m:oMath>
                </a14:m>
                <a:r>
                  <a:rPr lang="en-US" dirty="0">
                    <a:effectLst/>
                    <a:ea typeface="Calibri" panose="020F0502020204030204" pitchFamily="34" charset="0"/>
                  </a:rPr>
                  <a:t> be the swap matrix between the subsystems for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𝜎</m:t>
                    </m:r>
                  </m:oMath>
                </a14:m>
                <a:r>
                  <a:rPr lang="en-US" dirty="0">
                    <a:effectLst/>
                    <a:ea typeface="Calibri" panose="020F0502020204030204" pitchFamily="34" charset="0"/>
                  </a:rPr>
                  <a:t> and </a:t>
                </a:r>
                <a14:m>
                  <m:oMath xmlns:m="http://schemas.openxmlformats.org/officeDocument/2006/math">
                    <m:d>
                      <m:dPr>
                        <m:begChr m:val="|"/>
                        <m:end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p>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𝑘</m:t>
                            </m:r>
                            <m:r>
                              <a:rPr lang="en-US">
                                <a:effectLst/>
                                <a:latin typeface="Cambria Math" panose="02040503050406030204" pitchFamily="18" charset="0"/>
                                <a:ea typeface="Calibri" panose="020F0502020204030204" pitchFamily="34" charset="0"/>
                                <a:cs typeface="Calibri Light" panose="020F0302020204030204" pitchFamily="34" charset="0"/>
                              </a:rPr>
                              <m:t>)</m:t>
                            </m:r>
                          </m:sup>
                        </m:sSup>
                      </m:e>
                    </m:d>
                  </m:oMath>
                </a14:m>
                <a:endParaRPr lang="en-US" dirty="0">
                  <a:effectLst/>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i="1">
                              <a:effectLst/>
                              <a:latin typeface="Cambria Math" panose="02040503050406030204" pitchFamily="18" charset="0"/>
                              <a:ea typeface="Calibri" panose="020F0502020204030204" pitchFamily="34" charset="0"/>
                              <a:cs typeface="Calibri Light" panose="020F0302020204030204" pitchFamily="34" charset="0"/>
                            </a:rPr>
                          </m:ctrlPr>
                        </m:mPr>
                        <m:mr>
                          <m:e>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𝒰</m:t>
                                </m:r>
                              </m:e>
                              <m:sub>
                                <m:r>
                                  <a:rPr lang="en-US" i="1">
                                    <a:effectLst/>
                                    <a:latin typeface="Cambria Math" panose="02040503050406030204" pitchFamily="18" charset="0"/>
                                    <a:ea typeface="Calibri" panose="020F0502020204030204" pitchFamily="34" charset="0"/>
                                    <a:cs typeface="Calibri Light" panose="020F0302020204030204" pitchFamily="34" charset="0"/>
                                  </a:rPr>
                                  <m:t>𝑆</m:t>
                                </m:r>
                              </m:sub>
                            </m:sSub>
                          </m:e>
                          <m:e>
                            <m:r>
                              <a:rPr lang="en-US" i="1">
                                <a:effectLst/>
                                <a:latin typeface="Cambria Math" panose="02040503050406030204" pitchFamily="18" charset="0"/>
                                <a:ea typeface="Calibri" panose="020F0502020204030204" pitchFamily="34" charset="0"/>
                                <a:cs typeface="Calibri Light" panose="020F0302020204030204" pitchFamily="34" charset="0"/>
                              </a:rPr>
                              <m:t> </m:t>
                            </m:r>
                            <m:r>
                              <a:rPr lang="en-US">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𝑒</m:t>
                                </m:r>
                              </m:e>
                              <m:sup>
                                <m:r>
                                  <a:rPr lang="en-US" i="1">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𝑖</m:t>
                                </m:r>
                                <m:r>
                                  <a:rPr lang="en-US">
                                    <a:effectLst/>
                                    <a:latin typeface="Cambria Math" panose="02040503050406030204" pitchFamily="18" charset="0"/>
                                    <a:ea typeface="Calibri" panose="020F0502020204030204" pitchFamily="34" charset="0"/>
                                    <a:cs typeface="Calibri Light" panose="020F0302020204030204" pitchFamily="34" charset="0"/>
                                  </a:rPr>
                                  <m:t>|1⟩⟨1|⊗</m:t>
                                </m:r>
                                <m:r>
                                  <a:rPr lang="en-US" i="1">
                                    <a:effectLst/>
                                    <a:latin typeface="Cambria Math" panose="02040503050406030204" pitchFamily="18" charset="0"/>
                                    <a:ea typeface="Calibri" panose="020F0502020204030204" pitchFamily="34" charset="0"/>
                                    <a:cs typeface="Calibri Light" panose="020F0302020204030204" pitchFamily="34" charset="0"/>
                                  </a:rPr>
                                  <m:t>𝑆</m:t>
                                </m:r>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Δ</m:t>
                                </m:r>
                                <m:r>
                                  <a:rPr lang="en-US" i="1">
                                    <a:effectLst/>
                                    <a:latin typeface="Cambria Math" panose="02040503050406030204" pitchFamily="18" charset="0"/>
                                    <a:ea typeface="Calibri" panose="020F0502020204030204" pitchFamily="34" charset="0"/>
                                    <a:cs typeface="Calibri Light" panose="020F0302020204030204" pitchFamily="34" charset="0"/>
                                  </a:rPr>
                                  <m:t>𝑡</m:t>
                                </m:r>
                              </m:sup>
                            </m:sSup>
                          </m:e>
                        </m:mr>
                        <m:mr>
                          <m:e/>
                          <m:e>
                            <m:r>
                              <a:rPr lang="en-US" i="1">
                                <a:effectLst/>
                                <a:latin typeface="Cambria Math" panose="02040503050406030204" pitchFamily="18" charset="0"/>
                                <a:ea typeface="Calibri" panose="020F0502020204030204" pitchFamily="34" charset="0"/>
                                <a:cs typeface="Calibri Light" panose="020F0302020204030204" pitchFamily="34" charset="0"/>
                              </a:rPr>
                              <m:t> </m:t>
                            </m:r>
                            <m:r>
                              <a:rPr lang="en-US" smtClean="0">
                                <a:effectLst/>
                                <a:latin typeface="Cambria Math" panose="02040503050406030204" pitchFamily="18" charset="0"/>
                                <a:ea typeface="Calibri" panose="020F0502020204030204" pitchFamily="34" charset="0"/>
                                <a:cs typeface="Calibri Light" panose="020F0302020204030204" pitchFamily="34" charset="0"/>
                              </a:rPr>
                              <m:t>=|0⟩⟨0|⊗</m:t>
                            </m:r>
                            <m:r>
                              <a:rPr lang="en-US" i="1">
                                <a:effectLst/>
                                <a:latin typeface="Cambria Math" panose="02040503050406030204" pitchFamily="18" charset="0"/>
                                <a:ea typeface="Calibri" panose="020F0502020204030204" pitchFamily="34" charset="0"/>
                                <a:cs typeface="Calibri Light" panose="020F0302020204030204" pitchFamily="34" charset="0"/>
                              </a:rPr>
                              <m:t>𝐼</m:t>
                            </m:r>
                            <m:r>
                              <a:rPr lang="en-US">
                                <a:effectLst/>
                                <a:latin typeface="Cambria Math" panose="02040503050406030204" pitchFamily="18" charset="0"/>
                                <a:ea typeface="Calibri" panose="020F0502020204030204" pitchFamily="34" charset="0"/>
                                <a:cs typeface="Calibri Light" panose="020F0302020204030204" pitchFamily="34" charset="0"/>
                              </a:rPr>
                              <m:t>+|1⟩⟨1|⊗</m:t>
                            </m:r>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𝑒</m:t>
                                </m:r>
                              </m:e>
                              <m:sup>
                                <m:r>
                                  <a:rPr lang="en-US" i="1">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𝑖𝑆</m:t>
                                </m:r>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Δ</m:t>
                                </m:r>
                                <m:r>
                                  <a:rPr lang="en-US" i="1">
                                    <a:effectLst/>
                                    <a:latin typeface="Cambria Math" panose="02040503050406030204" pitchFamily="18" charset="0"/>
                                    <a:ea typeface="Calibri" panose="020F0502020204030204" pitchFamily="34" charset="0"/>
                                    <a:cs typeface="Calibri Light" panose="020F0302020204030204" pitchFamily="34" charset="0"/>
                                  </a:rPr>
                                  <m:t>𝑡</m:t>
                                </m:r>
                              </m:sup>
                            </m:sSup>
                          </m:e>
                        </m:mr>
                      </m:m>
                    </m:oMath>
                  </m:oMathPara>
                </a14:m>
                <a:endParaRPr lang="en-US" dirty="0">
                  <a:effectLst/>
                  <a:ea typeface="Calibri" panose="020F0502020204030204" pitchFamily="34" charset="0"/>
                </a:endParaRPr>
              </a:p>
              <a:p>
                <a:pPr>
                  <a:spcAft>
                    <a:spcPts val="1200"/>
                  </a:spcAft>
                </a:pPr>
                <a:r>
                  <a:rPr lang="en-US" dirty="0">
                    <a:effectLst/>
                    <a:ea typeface="Calibri" panose="020F0502020204030204" pitchFamily="34" charset="0"/>
                  </a:rPr>
                  <a:t>where </a:t>
                </a:r>
                <a14:m>
                  <m:oMath xmlns:m="http://schemas.openxmlformats.org/officeDocument/2006/math">
                    <m:r>
                      <a:rPr lang="en-US">
                        <a:effectLst/>
                        <a:latin typeface="Cambria Math" panose="02040503050406030204" pitchFamily="18" charset="0"/>
                        <a:ea typeface="Calibri" panose="020F0502020204030204" pitchFamily="34" charset="0"/>
                        <a:cs typeface="Calibri Light" panose="020F0302020204030204" pitchFamily="34" charset="0"/>
                      </a:rPr>
                      <m:t>|1⟩⟨1|⊗</m:t>
                    </m:r>
                    <m:r>
                      <a:rPr lang="en-US" i="1">
                        <a:effectLst/>
                        <a:latin typeface="Cambria Math" panose="02040503050406030204" pitchFamily="18" charset="0"/>
                        <a:ea typeface="Calibri" panose="020F0502020204030204" pitchFamily="34" charset="0"/>
                        <a:cs typeface="Calibri Light" panose="020F0302020204030204" pitchFamily="34" charset="0"/>
                      </a:rPr>
                      <m:t>𝑆</m:t>
                    </m:r>
                  </m:oMath>
                </a14:m>
                <a:r>
                  <a:rPr lang="en-US" dirty="0">
                    <a:effectLst/>
                    <a:ea typeface="Calibri" panose="020F0502020204030204" pitchFamily="34" charset="0"/>
                  </a:rPr>
                  <a:t> is sparse and efficiently </a:t>
                </a:r>
                <a:r>
                  <a:rPr lang="en-US" dirty="0" err="1">
                    <a:effectLst/>
                    <a:ea typeface="Calibri" panose="020F0502020204030204" pitchFamily="34" charset="0"/>
                  </a:rPr>
                  <a:t>simulatable</a:t>
                </a:r>
                <a:r>
                  <a:rPr lang="en-US" dirty="0">
                    <a:effectLst/>
                    <a:ea typeface="Calibri" panose="020F0502020204030204" pitchFamily="34" charset="0"/>
                  </a:rPr>
                  <a:t>. The trace over the second subsystem is given by:</a:t>
                </a:r>
              </a:p>
              <a:p>
                <a:pPr>
                  <a:spcAft>
                    <a:spcPts val="1200"/>
                  </a:spcAft>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i="1">
                              <a:effectLst/>
                              <a:latin typeface="Cambria Math" panose="02040503050406030204" pitchFamily="18" charset="0"/>
                              <a:ea typeface="Calibri" panose="020F0502020204030204" pitchFamily="34" charset="0"/>
                              <a:cs typeface="Calibri Light" panose="020F0302020204030204" pitchFamily="34" charset="0"/>
                            </a:rPr>
                          </m:ctrlPr>
                        </m:mPr>
                        <m:mr>
                          <m:e>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tr</m:t>
                                </m:r>
                              </m:e>
                              <m:sub>
                                <m:r>
                                  <a:rPr lang="en-US">
                                    <a:effectLst/>
                                    <a:latin typeface="Cambria Math" panose="02040503050406030204" pitchFamily="18" charset="0"/>
                                    <a:ea typeface="Calibri" panose="020F0502020204030204" pitchFamily="34" charset="0"/>
                                    <a:cs typeface="Calibri Light" panose="020F0302020204030204" pitchFamily="34" charset="0"/>
                                  </a:rPr>
                                  <m:t>2</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d>
                              <m:dPr>
                                <m:begChr m:val="{"/>
                                <m:end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𝒰</m:t>
                                    </m:r>
                                  </m:e>
                                  <m:sub>
                                    <m:r>
                                      <a:rPr lang="en-US" i="1">
                                        <a:effectLst/>
                                        <a:latin typeface="Cambria Math" panose="02040503050406030204" pitchFamily="18" charset="0"/>
                                        <a:ea typeface="Calibri" panose="020F0502020204030204" pitchFamily="34" charset="0"/>
                                        <a:cs typeface="Calibri Light" panose="020F0302020204030204" pitchFamily="34" charset="0"/>
                                      </a:rPr>
                                      <m:t>𝑠</m:t>
                                    </m:r>
                                  </m:sub>
                                </m:sSub>
                                <m:d>
                                  <m:dPr>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𝑞</m:t>
                                    </m:r>
                                    <m:r>
                                      <a:rPr lang="en-US">
                                        <a:effectLst/>
                                        <a:latin typeface="Cambria Math" panose="02040503050406030204" pitchFamily="18" charset="0"/>
                                        <a:ea typeface="Calibri" panose="020F0502020204030204" pitchFamily="34" charset="0"/>
                                        <a:cs typeface="Calibri Light" panose="020F0302020204030204" pitchFamily="34" charset="0"/>
                                      </a:rPr>
                                      <m:t>⟩</m:t>
                                    </m:r>
                                    <m:d>
                                      <m:dPr>
                                        <m:beg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r>
                                          <a:rPr lang="en-US" i="1">
                                            <a:effectLst/>
                                            <a:latin typeface="Cambria Math" panose="02040503050406030204" pitchFamily="18" charset="0"/>
                                            <a:ea typeface="Calibri" panose="020F0502020204030204" pitchFamily="34" charset="0"/>
                                            <a:cs typeface="Calibri Light" panose="020F0302020204030204" pitchFamily="34" charset="0"/>
                                          </a:rPr>
                                          <m:t>𝑞</m:t>
                                        </m:r>
                                        <m:r>
                                          <a:rPr lang="en-US">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p>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𝑘</m:t>
                                            </m:r>
                                            <m:r>
                                              <a:rPr lang="en-US">
                                                <a:effectLst/>
                                                <a:latin typeface="Cambria Math" panose="02040503050406030204" pitchFamily="18" charset="0"/>
                                                <a:ea typeface="Calibri" panose="020F0502020204030204" pitchFamily="34" charset="0"/>
                                                <a:cs typeface="Calibri Light" panose="020F0302020204030204" pitchFamily="34" charset="0"/>
                                              </a:rPr>
                                              <m:t>)</m:t>
                                            </m:r>
                                          </m:sup>
                                        </m:sSup>
                                      </m:e>
                                    </m:d>
                                    <m:d>
                                      <m:dPr>
                                        <m:begChr m:val="⟨"/>
                                        <m:end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𝑥</m:t>
                                            </m:r>
                                          </m:e>
                                          <m:sup>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𝑘</m:t>
                                            </m:r>
                                            <m:r>
                                              <a:rPr lang="en-US">
                                                <a:effectLst/>
                                                <a:latin typeface="Cambria Math" panose="02040503050406030204" pitchFamily="18" charset="0"/>
                                                <a:ea typeface="Calibri" panose="020F0502020204030204" pitchFamily="34" charset="0"/>
                                                <a:cs typeface="Calibri Light" panose="020F0302020204030204" pitchFamily="34" charset="0"/>
                                              </a:rPr>
                                              <m:t>)</m:t>
                                            </m:r>
                                          </m:sup>
                                        </m:sSup>
                                      </m:e>
                                    </m:d>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𝜎</m:t>
                                    </m:r>
                                  </m:e>
                                </m:d>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𝒰</m:t>
                                    </m:r>
                                  </m:e>
                                  <m:sub>
                                    <m:r>
                                      <a:rPr lang="en-US" i="1">
                                        <a:effectLst/>
                                        <a:latin typeface="Cambria Math" panose="02040503050406030204" pitchFamily="18" charset="0"/>
                                        <a:ea typeface="Calibri" panose="020F0502020204030204" pitchFamily="34" charset="0"/>
                                        <a:cs typeface="Calibri Light" panose="020F0302020204030204" pitchFamily="34" charset="0"/>
                                      </a:rPr>
                                      <m:t>𝑆</m:t>
                                    </m:r>
                                  </m:sub>
                                  <m:sup>
                                    <m:r>
                                      <a:rPr lang="en-US">
                                        <a:effectLst/>
                                        <a:latin typeface="Cambria Math" panose="02040503050406030204" pitchFamily="18" charset="0"/>
                                        <a:ea typeface="Calibri" panose="020F0502020204030204" pitchFamily="34" charset="0"/>
                                        <a:cs typeface="Calibri Light" panose="020F0302020204030204" pitchFamily="34" charset="0"/>
                                      </a:rPr>
                                      <m:t>†</m:t>
                                    </m:r>
                                  </m:sup>
                                </m:sSubSup>
                              </m:e>
                            </m:d>
                          </m:e>
                        </m:mr>
                        <m:mr>
                          <m:e>
                            <m:d>
                              <m:dPr>
                                <m:beg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r>
                                  <a:rPr lang="en-US">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𝒰</m:t>
                                    </m:r>
                                  </m:e>
                                  <m:sub>
                                    <m:r>
                                      <a:rPr lang="en-US" i="1">
                                        <a:effectLst/>
                                        <a:latin typeface="Cambria Math" panose="02040503050406030204" pitchFamily="18" charset="0"/>
                                        <a:ea typeface="Calibri" panose="020F0502020204030204" pitchFamily="34" charset="0"/>
                                        <a:cs typeface="Calibri Light" panose="020F0302020204030204" pitchFamily="34" charset="0"/>
                                      </a:rPr>
                                      <m:t>𝑘</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r>
                                  <a:rPr lang="it-IT" b="0" i="1" smtClean="0">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𝑞</m:t>
                                </m:r>
                                <m:r>
                                  <a:rPr lang="en-US">
                                    <a:latin typeface="Cambria Math" panose="02040503050406030204" pitchFamily="18" charset="0"/>
                                    <a:ea typeface="Calibri" panose="020F0502020204030204" pitchFamily="34" charset="0"/>
                                    <a:cs typeface="Calibri Light" panose="020F0302020204030204" pitchFamily="34" charset="0"/>
                                  </a:rPr>
                                  <m:t>⟩</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𝑞</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𝜎</m:t>
                                </m:r>
                              </m:e>
                            </m:d>
                            <m:sSubSup>
                              <m:sSub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i="1">
                                    <a:effectLst/>
                                    <a:latin typeface="Cambria Math" panose="02040503050406030204" pitchFamily="18" charset="0"/>
                                    <a:ea typeface="Calibri" panose="020F0502020204030204" pitchFamily="34" charset="0"/>
                                    <a:cs typeface="Calibri Light" panose="020F0302020204030204" pitchFamily="34" charset="0"/>
                                  </a:rPr>
                                  <m:t>𝑈</m:t>
                                </m:r>
                              </m:e>
                              <m:sub>
                                <m:r>
                                  <a:rPr lang="en-US" i="1">
                                    <a:effectLst/>
                                    <a:latin typeface="Cambria Math" panose="02040503050406030204" pitchFamily="18" charset="0"/>
                                    <a:ea typeface="Calibri" panose="020F0502020204030204" pitchFamily="34" charset="0"/>
                                    <a:cs typeface="Calibri Light" panose="020F0302020204030204" pitchFamily="34" charset="0"/>
                                  </a:rPr>
                                  <m:t>𝑘</m:t>
                                </m:r>
                              </m:sub>
                              <m:sup>
                                <m:r>
                                  <a:rPr lang="en-US">
                                    <a:effectLst/>
                                    <a:latin typeface="Cambria Math" panose="02040503050406030204" pitchFamily="18" charset="0"/>
                                    <a:ea typeface="Calibri" panose="020F0502020204030204" pitchFamily="34" charset="0"/>
                                    <a:cs typeface="Calibri Light" panose="020F0302020204030204" pitchFamily="34" charset="0"/>
                                  </a:rPr>
                                  <m:t>†</m:t>
                                </m:r>
                              </m:sup>
                            </m:sSubSup>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𝒪</m:t>
                            </m:r>
                            <m:d>
                              <m:dPr>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Δ</m:t>
                                </m:r>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𝑡</m:t>
                                    </m:r>
                                  </m:e>
                                  <m:sup>
                                    <m:r>
                                      <a:rPr lang="en-US">
                                        <a:effectLst/>
                                        <a:latin typeface="Cambria Math" panose="02040503050406030204" pitchFamily="18" charset="0"/>
                                        <a:ea typeface="Calibri" panose="020F0502020204030204" pitchFamily="34" charset="0"/>
                                        <a:cs typeface="Calibri Light" panose="020F0302020204030204" pitchFamily="34" charset="0"/>
                                      </a:rPr>
                                      <m:t>2</m:t>
                                    </m:r>
                                  </m:sup>
                                </m:sSup>
                              </m:e>
                            </m:d>
                          </m:e>
                        </m:mr>
                      </m:m>
                    </m:oMath>
                  </m:oMathPara>
                </a14:m>
                <a:endParaRPr lang="en-US" dirty="0">
                  <a:effectLst/>
                  <a:ea typeface="Calibri" panose="020F0502020204030204" pitchFamily="34" charset="0"/>
                </a:endParaRPr>
              </a:p>
              <a:p>
                <a:pPr>
                  <a:spcAft>
                    <a:spcPts val="1200"/>
                  </a:spcAft>
                </a:pPr>
                <a:r>
                  <a:rPr lang="en-US" dirty="0">
                    <a:effectLst/>
                    <a:ea typeface="Calibri" panose="020F0502020204030204" pitchFamily="34" charset="0"/>
                  </a:rPr>
                  <a:t>So the subsystem of ancilla qubit and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𝜎</m:t>
                    </m:r>
                  </m:oMath>
                </a14:m>
                <a:r>
                  <a:rPr lang="en-US" dirty="0">
                    <a:effectLst/>
                    <a:ea typeface="Calibri" panose="020F0502020204030204" pitchFamily="34" charset="0"/>
                  </a:rPr>
                  <a:t> undergoes time evolution with </a:t>
                </a:r>
                <a14:m>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𝒰</m:t>
                        </m:r>
                      </m:e>
                      <m:sub>
                        <m:r>
                          <a:rPr lang="en-US" i="1">
                            <a:effectLst/>
                            <a:latin typeface="Cambria Math" panose="02040503050406030204" pitchFamily="18" charset="0"/>
                            <a:ea typeface="Calibri" panose="020F0502020204030204" pitchFamily="34" charset="0"/>
                            <a:cs typeface="Calibri Light" panose="020F0302020204030204" pitchFamily="34" charset="0"/>
                          </a:rPr>
                          <m:t>𝑘</m:t>
                        </m:r>
                      </m:sub>
                    </m:sSub>
                  </m:oMath>
                </a14:m>
                <a:r>
                  <a:rPr lang="en-US" dirty="0">
                    <a:effectLst/>
                    <a:ea typeface="Calibri" panose="020F0502020204030204" pitchFamily="34" charset="0"/>
                  </a:rPr>
                  <a:t>. Applying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𝑀</m:t>
                    </m:r>
                  </m:oMath>
                </a14:m>
                <a:r>
                  <a:rPr lang="en-US" dirty="0">
                    <a:effectLst/>
                    <a:ea typeface="Calibri" panose="020F0502020204030204" pitchFamily="34" charset="0"/>
                  </a:rPr>
                  <a:t> </a:t>
                </a:r>
                <a:r>
                  <a:rPr lang="en-US" dirty="0" err="1">
                    <a:effectLst/>
                    <a:ea typeface="Calibri" panose="020F0502020204030204" pitchFamily="34" charset="0"/>
                  </a:rPr>
                  <a:t>unitaries</a:t>
                </a:r>
                <a:r>
                  <a:rPr lang="en-US" dirty="0">
                    <a:effectLst/>
                    <a:ea typeface="Calibri" panose="020F0502020204030204" pitchFamily="34" charset="0"/>
                  </a:rPr>
                  <a:t> </a:t>
                </a:r>
                <a14:m>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𝒰</m:t>
                        </m:r>
                      </m:e>
                      <m:sub>
                        <m:r>
                          <a:rPr lang="en-US" i="1">
                            <a:effectLst/>
                            <a:latin typeface="Cambria Math" panose="02040503050406030204" pitchFamily="18" charset="0"/>
                            <a:ea typeface="Calibri" panose="020F0502020204030204" pitchFamily="34" charset="0"/>
                            <a:cs typeface="Calibri Light" panose="020F0302020204030204" pitchFamily="34" charset="0"/>
                          </a:rPr>
                          <m:t>𝑘</m:t>
                        </m:r>
                      </m:sub>
                    </m:sSub>
                  </m:oMath>
                </a14:m>
                <a:r>
                  <a:rPr lang="en-US" dirty="0">
                    <a:effectLst/>
                    <a:ea typeface="Calibri" panose="020F0502020204030204" pitchFamily="34" charset="0"/>
                  </a:rPr>
                  <a:t> sequentially for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𝑛</m:t>
                    </m:r>
                  </m:oMath>
                </a14:m>
                <a:r>
                  <a:rPr lang="en-US" dirty="0">
                    <a:effectLst/>
                    <a:ea typeface="Calibri" panose="020F0502020204030204" pitchFamily="34" charset="0"/>
                  </a:rPr>
                  <a:t> repetitions</a:t>
                </a:r>
              </a:p>
              <a:p>
                <a:pPr>
                  <a:spcAft>
                    <a:spcPts val="1200"/>
                  </a:spcAft>
                </a:pPr>
                <a14:m>
                  <m:oMathPara xmlns:m="http://schemas.openxmlformats.org/officeDocument/2006/math">
                    <m:oMathParaPr>
                      <m:jc m:val="centerGroup"/>
                    </m:oMathParaPr>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𝑈</m:t>
                          </m:r>
                        </m:e>
                        <m:sub>
                          <m:r>
                            <a:rPr lang="en-US" i="1">
                              <a:effectLst/>
                              <a:latin typeface="Cambria Math" panose="02040503050406030204" pitchFamily="18" charset="0"/>
                              <a:ea typeface="Calibri" panose="020F0502020204030204" pitchFamily="34" charset="0"/>
                              <a:cs typeface="Calibri Light" panose="020F0302020204030204" pitchFamily="34" charset="0"/>
                            </a:rPr>
                            <m:t>𝑡</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d>
                            <m:dPr>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nary>
                                <m:naryPr>
                                  <m:chr m:val="∏"/>
                                  <m:limLoc m:val="undOvr"/>
                                  <m:grow m:val="on"/>
                                  <m:ctrlPr>
                                    <a:rPr lang="en-US" i="1">
                                      <a:effectLst/>
                                      <a:latin typeface="Cambria Math" panose="02040503050406030204" pitchFamily="18" charset="0"/>
                                      <a:ea typeface="Calibri" panose="020F0502020204030204" pitchFamily="34" charset="0"/>
                                      <a:cs typeface="Calibri Light" panose="020F0302020204030204" pitchFamily="34" charset="0"/>
                                    </a:rPr>
                                  </m:ctrlPr>
                                </m:naryPr>
                                <m:sub>
                                  <m:r>
                                    <a:rPr lang="en-US" i="1">
                                      <a:effectLst/>
                                      <a:latin typeface="Cambria Math" panose="02040503050406030204" pitchFamily="18" charset="0"/>
                                      <a:ea typeface="Calibri" panose="020F0502020204030204" pitchFamily="34" charset="0"/>
                                      <a:cs typeface="Calibri Light" panose="020F0302020204030204" pitchFamily="34" charset="0"/>
                                    </a:rPr>
                                    <m:t>𝑘</m:t>
                                  </m:r>
                                  <m:r>
                                    <a:rPr lang="en-US">
                                      <a:effectLst/>
                                      <a:latin typeface="Cambria Math" panose="02040503050406030204" pitchFamily="18" charset="0"/>
                                      <a:ea typeface="Calibri" panose="020F0502020204030204" pitchFamily="34" charset="0"/>
                                      <a:cs typeface="Calibri Light" panose="020F0302020204030204" pitchFamily="34" charset="0"/>
                                    </a:rPr>
                                    <m:t>=1</m:t>
                                  </m:r>
                                </m:sub>
                                <m:sup>
                                  <m:r>
                                    <a:rPr lang="en-US" i="1">
                                      <a:effectLst/>
                                      <a:latin typeface="Cambria Math" panose="02040503050406030204" pitchFamily="18" charset="0"/>
                                      <a:ea typeface="Calibri" panose="020F0502020204030204" pitchFamily="34" charset="0"/>
                                      <a:cs typeface="Calibri Light" panose="020F0302020204030204" pitchFamily="34" charset="0"/>
                                    </a:rPr>
                                    <m:t>𝑀</m:t>
                                  </m:r>
                                </m:sup>
                                <m:e>
                                  <m:r>
                                    <a:rPr lang="en-US">
                                      <a:effectLst/>
                                      <a:latin typeface="Cambria Math" panose="02040503050406030204" pitchFamily="18" charset="0"/>
                                      <a:ea typeface="Calibri" panose="020F0502020204030204" pitchFamily="34" charset="0"/>
                                      <a:cs typeface="Calibri Light" panose="020F0302020204030204" pitchFamily="34" charset="0"/>
                                    </a:rPr>
                                    <m:t> </m:t>
                                  </m:r>
                                </m:e>
                              </m:nary>
                              <m:r>
                                <a:rPr lang="en-US">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𝒰</m:t>
                                  </m:r>
                                </m:e>
                                <m:sub>
                                  <m:r>
                                    <a:rPr lang="en-US" i="1">
                                      <a:effectLst/>
                                      <a:latin typeface="Cambria Math" panose="02040503050406030204" pitchFamily="18" charset="0"/>
                                      <a:ea typeface="Calibri" panose="020F0502020204030204" pitchFamily="34" charset="0"/>
                                      <a:cs typeface="Calibri Light" panose="020F0302020204030204" pitchFamily="34" charset="0"/>
                                    </a:rPr>
                                    <m:t>𝑘</m:t>
                                  </m:r>
                                </m:sub>
                              </m:sSub>
                            </m:e>
                          </m:d>
                        </m:e>
                        <m:sup>
                          <m:r>
                            <a:rPr lang="en-US" i="1">
                              <a:effectLst/>
                              <a:latin typeface="Cambria Math" panose="02040503050406030204" pitchFamily="18" charset="0"/>
                              <a:ea typeface="Calibri" panose="020F0502020204030204" pitchFamily="34" charset="0"/>
                              <a:cs typeface="Calibri Light" panose="020F0302020204030204" pitchFamily="34" charset="0"/>
                            </a:rPr>
                            <m:t>𝑛</m:t>
                          </m:r>
                        </m:sup>
                      </m:sSup>
                    </m:oMath>
                  </m:oMathPara>
                </a14:m>
                <a:endParaRPr lang="en-US" dirty="0">
                  <a:effectLst/>
                  <a:ea typeface="Calibri" panose="020F0502020204030204" pitchFamily="34" charset="0"/>
                </a:endParaRPr>
              </a:p>
              <a:p>
                <a:pPr>
                  <a:spcAft>
                    <a:spcPts val="1200"/>
                  </a:spcAft>
                </a:pPr>
                <a:r>
                  <a:rPr lang="en-US" dirty="0">
                    <a:effectLst/>
                    <a:ea typeface="Calibri" panose="020F0502020204030204" pitchFamily="34" charset="0"/>
                  </a:rPr>
                  <a:t>The overall run time considering all factors involved is </a:t>
                </a:r>
                <a14:m>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𝑇</m:t>
                        </m:r>
                      </m:e>
                      <m:sub>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qHeb</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𝒪</m:t>
                    </m:r>
                    <m:r>
                      <a:rPr lang="en-US" i="1">
                        <a:effectLst/>
                        <a:latin typeface="Cambria Math" panose="02040503050406030204" pitchFamily="18" charset="0"/>
                        <a:ea typeface="Calibri" panose="020F0502020204030204" pitchFamily="34" charset="0"/>
                        <a:cs typeface="Calibri Light" panose="020F0302020204030204" pitchFamily="34" charset="0"/>
                      </a:rPr>
                      <m:t>(</m:t>
                    </m:r>
                  </m:oMath>
                </a14:m>
                <a:r>
                  <a:rPr lang="en-US" dirty="0">
                    <a:effectLst/>
                    <a:ea typeface="Calibri" panose="020F0502020204030204" pitchFamily="34" charset="0"/>
                  </a:rPr>
                  <a:t> poly </a:t>
                </a:r>
                <a14:m>
                  <m:oMath xmlns:m="http://schemas.openxmlformats.org/officeDocument/2006/math">
                    <m:d>
                      <m:dPr>
                        <m:beg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d>
                          <m:dPr>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log</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𝑑</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𝑡</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𝑀</m:t>
                            </m:r>
                            <m:r>
                              <a:rPr lang="en-US">
                                <a:effectLst/>
                                <a:latin typeface="Cambria Math" panose="02040503050406030204" pitchFamily="18" charset="0"/>
                                <a:ea typeface="Calibri" panose="020F0502020204030204" pitchFamily="34" charset="0"/>
                                <a:cs typeface="Calibri Light" panose="020F0302020204030204" pitchFamily="34" charset="0"/>
                              </a:rPr>
                              <m:t>,</m:t>
                            </m:r>
                            <m:f>
                              <m:fPr>
                                <m:ctrlPr>
                                  <a:rPr lang="en-US" i="1">
                                    <a:effectLst/>
                                    <a:latin typeface="Cambria Math" panose="02040503050406030204" pitchFamily="18" charset="0"/>
                                    <a:ea typeface="Calibri" panose="020F0502020204030204" pitchFamily="34" charset="0"/>
                                    <a:cs typeface="Calibri Light" panose="020F0302020204030204" pitchFamily="34" charset="0"/>
                                  </a:rPr>
                                </m:ctrlPr>
                              </m:fPr>
                              <m:num>
                                <m:r>
                                  <a:rPr lang="en-US">
                                    <a:effectLst/>
                                    <a:latin typeface="Cambria Math" panose="02040503050406030204" pitchFamily="18" charset="0"/>
                                    <a:ea typeface="Calibri" panose="020F0502020204030204" pitchFamily="34" charset="0"/>
                                    <a:cs typeface="Calibri Light" panose="020F0302020204030204" pitchFamily="34" charset="0"/>
                                  </a:rPr>
                                  <m:t>1</m:t>
                                </m:r>
                              </m:num>
                              <m:den>
                                <m:r>
                                  <a:rPr lang="en-US" i="1">
                                    <a:effectLst/>
                                    <a:latin typeface="Cambria Math" panose="02040503050406030204" pitchFamily="18" charset="0"/>
                                    <a:ea typeface="Calibri" panose="020F0502020204030204" pitchFamily="34" charset="0"/>
                                    <a:cs typeface="Calibri Light" panose="020F0302020204030204" pitchFamily="34" charset="0"/>
                                  </a:rPr>
                                  <m:t>𝜀</m:t>
                                </m:r>
                              </m:den>
                            </m:f>
                          </m:e>
                        </m:d>
                      </m:e>
                    </m:d>
                  </m:oMath>
                </a14:m>
                <a:r>
                  <a:rPr lang="en-US" dirty="0">
                    <a:effectLst/>
                    <a:ea typeface="Calibri" panose="020F0502020204030204" pitchFamily="34" charset="0"/>
                  </a:rPr>
                  <a:t>. </a:t>
                </a:r>
              </a:p>
            </p:txBody>
          </p:sp>
        </mc:Choice>
        <mc:Fallback xmlns="">
          <p:sp>
            <p:nvSpPr>
              <p:cNvPr id="6" name="CasellaDiTesto 5">
                <a:extLst>
                  <a:ext uri="{FF2B5EF4-FFF2-40B4-BE49-F238E27FC236}">
                    <a16:creationId xmlns:a16="http://schemas.microsoft.com/office/drawing/2014/main" id="{141FBB0B-E5C5-4DD8-8108-63E044962F98}"/>
                  </a:ext>
                </a:extLst>
              </p:cNvPr>
              <p:cNvSpPr txBox="1">
                <a:spLocks noRot="1" noChangeAspect="1" noMove="1" noResize="1" noEditPoints="1" noAdjustHandles="1" noChangeArrowheads="1" noChangeShapeType="1" noTextEdit="1"/>
              </p:cNvSpPr>
              <p:nvPr/>
            </p:nvSpPr>
            <p:spPr>
              <a:xfrm>
                <a:off x="0" y="1131899"/>
                <a:ext cx="12192000" cy="5843395"/>
              </a:xfrm>
              <a:prstGeom prst="rect">
                <a:avLst/>
              </a:prstGeom>
              <a:blipFill>
                <a:blip r:embed="rId2"/>
                <a:stretch>
                  <a:fillRect l="-400" t="-209" r="-4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337A2F4D-8680-4465-B671-61188A2360E8}"/>
                  </a:ext>
                </a:extLst>
              </p:cNvPr>
              <p:cNvSpPr txBox="1"/>
              <p:nvPr/>
            </p:nvSpPr>
            <p:spPr>
              <a:xfrm>
                <a:off x="0" y="701363"/>
                <a:ext cx="6540758" cy="413896"/>
              </a:xfrm>
              <a:prstGeom prst="rect">
                <a:avLst/>
              </a:prstGeom>
              <a:noFill/>
            </p:spPr>
            <p:txBody>
              <a:bodyPr wrap="square">
                <a:spAutoFit/>
              </a:bodyPr>
              <a:lstStyle/>
              <a:p>
                <a:r>
                  <a:rPr lang="en-US" dirty="0">
                    <a:solidFill>
                      <a:schemeClr val="accent1"/>
                    </a:solidFill>
                    <a:ea typeface="Times New Roman" panose="02020603050405020304" pitchFamily="18" charset="0"/>
                    <a:cs typeface="Arial" panose="020B0604020202020204" pitchFamily="34" charset="0"/>
                  </a:rPr>
                  <a:t>T</a:t>
                </a:r>
                <a:r>
                  <a:rPr lang="en-US" dirty="0">
                    <a:solidFill>
                      <a:schemeClr val="accent1"/>
                    </a:solidFill>
                    <a:effectLst/>
                    <a:ea typeface="Times New Roman" panose="02020603050405020304" pitchFamily="18" charset="0"/>
                    <a:cs typeface="Arial" panose="020B0604020202020204" pitchFamily="34" charset="0"/>
                  </a:rPr>
                  <a:t>o efficiently simulate </a:t>
                </a:r>
                <a14:m>
                  <m:oMath xmlns:m="http://schemas.openxmlformats.org/officeDocument/2006/math">
                    <m:sSup>
                      <m:sSupPr>
                        <m:ctrlPr>
                          <a:rPr lang="en-US" i="1" smtClean="0">
                            <a:solidFill>
                              <a:schemeClr val="accent1"/>
                            </a:solidFill>
                            <a:effectLst/>
                            <a:latin typeface="Cambria Math" panose="02040503050406030204" pitchFamily="18" charset="0"/>
                          </a:rPr>
                        </m:ctrlPr>
                      </m:sSupPr>
                      <m:e>
                        <m:r>
                          <a:rPr lang="it-IT" b="0" i="1" smtClean="0">
                            <a:solidFill>
                              <a:schemeClr val="accent1"/>
                            </a:solidFill>
                            <a:effectLst/>
                            <a:latin typeface="Cambria Math" panose="02040503050406030204" pitchFamily="18" charset="0"/>
                          </a:rPr>
                          <m:t>𝑒</m:t>
                        </m:r>
                      </m:e>
                      <m:sup>
                        <m:r>
                          <m:rPr>
                            <m:nor/>
                          </m:rPr>
                          <a:rPr lang="en-US" dirty="0">
                            <a:solidFill>
                              <a:schemeClr val="accent1"/>
                            </a:solidFill>
                            <a:ea typeface="Times New Roman" panose="02020603050405020304" pitchFamily="18" charset="0"/>
                            <a:cs typeface="Cambria Math" panose="02040503050406030204" pitchFamily="18" charset="0"/>
                          </a:rPr>
                          <m:t>𝑖</m:t>
                        </m:r>
                        <m:r>
                          <m:rPr>
                            <m:nor/>
                          </m:rPr>
                          <a:rPr lang="en-US" dirty="0">
                            <a:solidFill>
                              <a:schemeClr val="accent1"/>
                            </a:solidFill>
                            <a:ea typeface="Times New Roman" panose="02020603050405020304" pitchFamily="18" charset="0"/>
                            <a:cs typeface="Cambria Math" panose="02040503050406030204" pitchFamily="18" charset="0"/>
                          </a:rPr>
                          <m:t>𝜌</m:t>
                        </m:r>
                        <m:r>
                          <m:rPr>
                            <m:nor/>
                          </m:rPr>
                          <a:rPr lang="en-US" dirty="0">
                            <a:solidFill>
                              <a:schemeClr val="accent1"/>
                            </a:solidFill>
                            <a:ea typeface="Times New Roman" panose="02020603050405020304" pitchFamily="18" charset="0"/>
                            <a:cs typeface="Cambria Math" panose="02040503050406030204" pitchFamily="18" charset="0"/>
                          </a:rPr>
                          <m:t>𝑡</m:t>
                        </m:r>
                      </m:sup>
                    </m:sSup>
                  </m:oMath>
                </a14:m>
                <a:endParaRPr lang="en-US" dirty="0">
                  <a:solidFill>
                    <a:schemeClr val="accent1"/>
                  </a:solidFill>
                </a:endParaRPr>
              </a:p>
            </p:txBody>
          </p:sp>
        </mc:Choice>
        <mc:Fallback xmlns="">
          <p:sp>
            <p:nvSpPr>
              <p:cNvPr id="5" name="CasellaDiTesto 4">
                <a:extLst>
                  <a:ext uri="{FF2B5EF4-FFF2-40B4-BE49-F238E27FC236}">
                    <a16:creationId xmlns:a16="http://schemas.microsoft.com/office/drawing/2014/main" id="{337A2F4D-8680-4465-B671-61188A2360E8}"/>
                  </a:ext>
                </a:extLst>
              </p:cNvPr>
              <p:cNvSpPr txBox="1">
                <a:spLocks noRot="1" noChangeAspect="1" noMove="1" noResize="1" noEditPoints="1" noAdjustHandles="1" noChangeArrowheads="1" noChangeShapeType="1" noTextEdit="1"/>
              </p:cNvSpPr>
              <p:nvPr/>
            </p:nvSpPr>
            <p:spPr>
              <a:xfrm>
                <a:off x="0" y="701363"/>
                <a:ext cx="6540758" cy="413896"/>
              </a:xfrm>
              <a:prstGeom prst="rect">
                <a:avLst/>
              </a:prstGeom>
              <a:blipFill>
                <a:blip r:embed="rId3"/>
                <a:stretch>
                  <a:fillRect l="-746" b="-23529"/>
                </a:stretch>
              </a:blipFill>
            </p:spPr>
            <p:txBody>
              <a:bodyPr/>
              <a:lstStyle/>
              <a:p>
                <a:r>
                  <a:rPr lang="en-US">
                    <a:noFill/>
                  </a:rPr>
                  <a:t> </a:t>
                </a:r>
              </a:p>
            </p:txBody>
          </p:sp>
        </mc:Fallback>
      </mc:AlternateContent>
    </p:spTree>
    <p:extLst>
      <p:ext uri="{BB962C8B-B14F-4D97-AF65-F5344CB8AC3E}">
        <p14:creationId xmlns:p14="http://schemas.microsoft.com/office/powerpoint/2010/main" val="367442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B367A4E4-938C-474A-8195-3D43A1578F2F}"/>
              </a:ext>
            </a:extLst>
          </p:cNvPr>
          <p:cNvSpPr txBox="1"/>
          <p:nvPr/>
        </p:nvSpPr>
        <p:spPr>
          <a:xfrm>
            <a:off x="4730621" y="195943"/>
            <a:ext cx="7641772" cy="769441"/>
          </a:xfrm>
          <a:prstGeom prst="rect">
            <a:avLst/>
          </a:prstGeom>
          <a:noFill/>
        </p:spPr>
        <p:txBody>
          <a:bodyPr wrap="square" rtlCol="0">
            <a:spAutoFit/>
          </a:bodyPr>
          <a:lstStyle/>
          <a:p>
            <a:r>
              <a:rPr lang="it-IT" sz="4400" dirty="0" err="1">
                <a:solidFill>
                  <a:schemeClr val="accent1">
                    <a:lumMod val="50000"/>
                  </a:schemeClr>
                </a:solidFill>
                <a:latin typeface="+mj-lt"/>
              </a:rPr>
              <a:t>qHop</a:t>
            </a:r>
            <a:r>
              <a:rPr lang="it-IT" sz="4400" dirty="0">
                <a:solidFill>
                  <a:schemeClr val="accent1">
                    <a:lumMod val="50000"/>
                  </a:schemeClr>
                </a:solidFill>
                <a:latin typeface="+mj-lt"/>
              </a:rPr>
              <a:t> -1</a:t>
            </a:r>
            <a:endParaRPr lang="en-US" sz="4400" dirty="0">
              <a:solidFill>
                <a:schemeClr val="accent1">
                  <a:lumMod val="50000"/>
                </a:schemeClr>
              </a:solidFill>
              <a:latin typeface="+mj-lt"/>
            </a:endParaRPr>
          </a:p>
        </p:txBody>
      </p:sp>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8CC64FB5-C111-47E0-A68F-65B2520A59FB}"/>
                  </a:ext>
                </a:extLst>
              </p:cNvPr>
              <p:cNvSpPr txBox="1"/>
              <p:nvPr/>
            </p:nvSpPr>
            <p:spPr>
              <a:xfrm>
                <a:off x="692020" y="1198426"/>
                <a:ext cx="10551367" cy="4805033"/>
              </a:xfrm>
              <a:prstGeom prst="rect">
                <a:avLst/>
              </a:prstGeom>
              <a:noFill/>
            </p:spPr>
            <p:txBody>
              <a:bodyPr wrap="square">
                <a:spAutoFit/>
              </a:bodyPr>
              <a:lstStyle/>
              <a:p>
                <a:pPr>
                  <a:spcAft>
                    <a:spcPts val="1200"/>
                  </a:spcAft>
                </a:pPr>
                <a:r>
                  <a:rPr lang="en-US" sz="1800" dirty="0">
                    <a:effectLst/>
                    <a:latin typeface="Calibri Light" panose="020F0302020204030204" pitchFamily="34" charset="0"/>
                    <a:ea typeface="Calibri" panose="020F0502020204030204" pitchFamily="34" charset="0"/>
                  </a:rPr>
                  <a:t>The embedding method for quantum neural networks defines a system of linear equations for minimizing energy in a pattern retrieval situation</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mPr>
                        <m:mr>
                          <m:e>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e>
                          <m:e>
                            <m:r>
                              <a:rPr lang="en-US" sz="1800" i="1">
                                <a:effectLst/>
                                <a:latin typeface="Cambria Math" panose="02040503050406030204" pitchFamily="18" charset="0"/>
                                <a:ea typeface="Calibri" panose="020F0502020204030204" pitchFamily="34" charset="0"/>
                                <a:cs typeface="Calibri Light" panose="020F0302020204030204" pitchFamily="34" charset="0"/>
                              </a:rPr>
                              <m:t> </m:t>
                            </m:r>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m>
                                  <m:mPr>
                                    <m:plcHide m:val="on"/>
                                    <m:mcs>
                                      <m:mc>
                                        <m:mcPr>
                                          <m:count m:val="2"/>
                                          <m:mcJc m:val="center"/>
                                        </m:mcPr>
                                      </m:mc>
                                    </m:mcs>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mPr>
                                  <m:mr>
                                    <m:e>
                                      <m:r>
                                        <a:rPr lang="en-US" sz="1800" i="1">
                                          <a:effectLst/>
                                          <a:latin typeface="Cambria Math" panose="02040503050406030204" pitchFamily="18" charset="0"/>
                                          <a:ea typeface="Calibri" panose="020F0502020204030204" pitchFamily="34" charset="0"/>
                                          <a:cs typeface="Calibri Light" panose="020F0302020204030204" pitchFamily="34" charset="0"/>
                                        </a:rPr>
                                        <m:t>𝑊</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𝛾</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𝐼</m:t>
                                              </m:r>
                                            </m:e>
                                          </m:acc>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sub>
                                      </m:sSub>
                                    </m:e>
                                    <m:e>
                                      <m:r>
                                        <a:rPr lang="en-US" sz="1800" i="1">
                                          <a:effectLst/>
                                          <a:latin typeface="Cambria Math" panose="02040503050406030204" pitchFamily="18" charset="0"/>
                                          <a:ea typeface="Calibri" panose="020F0502020204030204" pitchFamily="34" charset="0"/>
                                          <a:cs typeface="Calibri Light" panose="020F0302020204030204" pitchFamily="34" charset="0"/>
                                        </a:rPr>
                                        <m:t>𝑃</m:t>
                                      </m:r>
                                    </m:e>
                                  </m:mr>
                                  <m:mr>
                                    <m:e>
                                      <m:r>
                                        <a:rPr lang="en-US" sz="1800" i="1">
                                          <a:effectLst/>
                                          <a:latin typeface="Cambria Math" panose="02040503050406030204" pitchFamily="18" charset="0"/>
                                          <a:ea typeface="Calibri" panose="020F0502020204030204" pitchFamily="34" charset="0"/>
                                          <a:cs typeface="Calibri Light" panose="020F0302020204030204" pitchFamily="34" charset="0"/>
                                        </a:rPr>
                                        <m:t>𝑃</m:t>
                                      </m:r>
                                    </m:e>
                                    <m:e>
                                      <m:r>
                                        <a:rPr lang="en-US" sz="1800">
                                          <a:effectLst/>
                                          <a:latin typeface="Cambria Math" panose="02040503050406030204" pitchFamily="18" charset="0"/>
                                          <a:ea typeface="Calibri" panose="020F0502020204030204" pitchFamily="34" charset="0"/>
                                          <a:cs typeface="Calibri Light" panose="020F0302020204030204" pitchFamily="34" charset="0"/>
                                        </a:rPr>
                                        <m:t>0</m:t>
                                      </m:r>
                                    </m:e>
                                  </m:mr>
                                </m:m>
                              </m:e>
                            </m:d>
                          </m:e>
                        </m:mr>
                        <m:mr>
                          <m:e>
                            <m:r>
                              <a:rPr lang="en-US" sz="1800" i="1">
                                <a:effectLst/>
                                <a:latin typeface="Cambria Math" panose="02040503050406030204" pitchFamily="18" charset="0"/>
                                <a:ea typeface="Calibri" panose="020F0502020204030204" pitchFamily="34" charset="0"/>
                                <a:cs typeface="Calibri Light" panose="020F0302020204030204" pitchFamily="34" charset="0"/>
                              </a:rPr>
                              <m:t>𝑣</m:t>
                            </m:r>
                          </m:e>
                          <m:e>
                            <m:r>
                              <a:rPr lang="en-US" sz="1800" i="1">
                                <a:effectLst/>
                                <a:latin typeface="Cambria Math" panose="02040503050406030204" pitchFamily="18" charset="0"/>
                                <a:ea typeface="Calibri" panose="020F0502020204030204" pitchFamily="34" charset="0"/>
                                <a:cs typeface="Calibri Light" panose="020F0302020204030204" pitchFamily="34" charset="0"/>
                              </a:rPr>
                              <m:t> </m:t>
                            </m:r>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m>
                                  <m:mPr>
                                    <m:plcHide m:val="on"/>
                                    <m:mcs>
                                      <m:mc>
                                        <m:mcPr>
                                          <m:count m:val="1"/>
                                          <m:mcJc m:val="center"/>
                                        </m:mcPr>
                                      </m:mc>
                                    </m:mcs>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mPr>
                                  <m:mr>
                                    <m:e>
                                      <m:r>
                                        <a:rPr lang="en-US" sz="1800" b="1" i="1">
                                          <a:effectLst/>
                                          <a:latin typeface="Cambria Math" panose="02040503050406030204" pitchFamily="18" charset="0"/>
                                          <a:ea typeface="Calibri" panose="020F0502020204030204" pitchFamily="34" charset="0"/>
                                          <a:cs typeface="Calibri Light" panose="020F0302020204030204" pitchFamily="34" charset="0"/>
                                        </a:rPr>
                                        <m:t>𝒙</m:t>
                                      </m:r>
                                    </m:e>
                                  </m:mr>
                                  <m:mr>
                                    <m:e>
                                      <m:r>
                                        <a:rPr lang="en-US" sz="1800" b="1" i="1">
                                          <a:effectLst/>
                                          <a:latin typeface="Cambria Math" panose="02040503050406030204" pitchFamily="18" charset="0"/>
                                          <a:ea typeface="Calibri" panose="020F0502020204030204" pitchFamily="34" charset="0"/>
                                          <a:cs typeface="Calibri Light" panose="020F0302020204030204" pitchFamily="34" charset="0"/>
                                        </a:rPr>
                                        <m:t>𝝀</m:t>
                                      </m:r>
                                    </m:e>
                                  </m:mr>
                                </m:m>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box>
                              <m:box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boxPr>
                              <m:e>
                                <m:r>
                                  <a:rPr lang="en-US" sz="1800">
                                    <a:effectLst/>
                                    <a:latin typeface="Cambria Math" panose="02040503050406030204" pitchFamily="18" charset="0"/>
                                    <a:ea typeface="Calibri" panose="020F0502020204030204" pitchFamily="34" charset="0"/>
                                    <a:cs typeface="Calibri Light" panose="020F0302020204030204" pitchFamily="34" charset="0"/>
                                  </a:rPr>
                                  <m:t> </m:t>
                                </m:r>
                              </m:e>
                            </m:box>
                            <m:r>
                              <a:rPr lang="en-US" sz="1800" b="1" i="1">
                                <a:effectLst/>
                                <a:latin typeface="Cambria Math" panose="02040503050406030204" pitchFamily="18" charset="0"/>
                                <a:ea typeface="Calibri" panose="020F0502020204030204" pitchFamily="34" charset="0"/>
                                <a:cs typeface="Calibri Light" panose="020F0302020204030204" pitchFamily="34" charset="0"/>
                              </a:rPr>
                              <m:t>𝒘</m:t>
                            </m:r>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m>
                                  <m:mPr>
                                    <m:plcHide m:val="on"/>
                                    <m:mcs>
                                      <m:mc>
                                        <m:mcPr>
                                          <m:count m:val="1"/>
                                          <m:mcJc m:val="center"/>
                                        </m:mcPr>
                                      </m:mc>
                                    </m:mcs>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mPr>
                                  <m:mr>
                                    <m:e>
                                      <m:r>
                                        <a:rPr lang="en-US" sz="1800" b="1" i="1">
                                          <a:effectLst/>
                                          <a:latin typeface="Cambria Math" panose="02040503050406030204" pitchFamily="18" charset="0"/>
                                          <a:ea typeface="Calibri" panose="020F0502020204030204" pitchFamily="34" charset="0"/>
                                          <a:cs typeface="Calibri Light" panose="020F0302020204030204" pitchFamily="34" charset="0"/>
                                        </a:rPr>
                                        <m:t>𝜽</m:t>
                                      </m:r>
                                    </m:e>
                                  </m:mr>
                                  <m:mr>
                                    <m:e>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𝒙</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nor/>
                                            </m:rPr>
                                            <a:rPr lang="en-US" sz="1800">
                                              <a:effectLst/>
                                              <a:latin typeface="Calibri Light" panose="020F0302020204030204" pitchFamily="34" charset="0"/>
                                              <a:ea typeface="Calibri" panose="020F0502020204030204" pitchFamily="34" charset="0"/>
                                            </a:rPr>
                                            <m:t>inc</m:t>
                                          </m:r>
                                          <m:r>
                                            <m:rPr>
                                              <m:nor/>
                                            </m:rPr>
                                            <a:rPr lang="en-US" sz="1800" i="1">
                                              <a:effectLst/>
                                              <a:latin typeface="Calibri Light" panose="020F0302020204030204" pitchFamily="34" charset="0"/>
                                              <a:ea typeface="Calibri" panose="020F0502020204030204" pitchFamily="34" charset="0"/>
                                            </a:rPr>
                                            <m:t> </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p>
                                    </m:e>
                                  </m:mr>
                                </m:m>
                              </m:e>
                            </m:d>
                          </m:e>
                        </m:mr>
                      </m:m>
                    </m:oMath>
                  </m:oMathPara>
                </a14:m>
                <a:endParaRPr lang="en-US" sz="2800" dirty="0">
                  <a:effectLst/>
                  <a:latin typeface="Calibri" panose="020F0502020204030204" pitchFamily="34" charset="0"/>
                  <a:ea typeface="Calibri" panose="020F0502020204030204" pitchFamily="34" charset="0"/>
                </a:endParaRPr>
              </a:p>
              <a:p>
                <a:pPr>
                  <a:spcAft>
                    <a:spcPts val="1200"/>
                  </a:spcAft>
                </a:pPr>
                <a:r>
                  <a:rPr lang="en-US" sz="1800" dirty="0">
                    <a:effectLst/>
                    <a:latin typeface="Calibri Light" panose="020F0302020204030204" pitchFamily="34" charset="0"/>
                    <a:ea typeface="Calibri" panose="020F0502020204030204" pitchFamily="34" charset="0"/>
                  </a:rPr>
                  <a:t>This can be written in terms of pure quantum states as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𝒗</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𝑣</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𝒘</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𝑤</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rPr>
                  <a:t>, with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𝑃</m:t>
                    </m:r>
                  </m:oMath>
                </a14:m>
                <a:r>
                  <a:rPr lang="en-US" sz="1800" dirty="0">
                    <a:effectLst/>
                    <a:latin typeface="Calibri Light" panose="020F0302020204030204" pitchFamily="34" charset="0"/>
                    <a:ea typeface="Calibri" panose="020F0502020204030204" pitchFamily="34" charset="0"/>
                  </a:rPr>
                  <a:t> as (diagonal) projector to subspace of known neuron values,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𝑃</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ℒ</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 |</m:t>
                    </m:r>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rPr>
                  <a:t>, and</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mPr>
                        <m:mr>
                          <m:e>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𝑣</m:t>
                            </m:r>
                            <m:r>
                              <a:rPr lang="en-US" sz="1800">
                                <a:effectLst/>
                                <a:latin typeface="Cambria Math" panose="02040503050406030204" pitchFamily="18" charset="0"/>
                                <a:ea typeface="Calibri" panose="020F0502020204030204" pitchFamily="34" charset="0"/>
                                <a:cs typeface="Calibri Light" panose="020F0302020204030204" pitchFamily="34" charset="0"/>
                              </a:rPr>
                              <m:t>⟩</m:t>
                            </m:r>
                          </m:e>
                          <m:e>
                            <m:r>
                              <a:rPr lang="en-US" sz="1800" i="1">
                                <a:effectLst/>
                                <a:latin typeface="Cambria Math" panose="02040503050406030204" pitchFamily="18" charset="0"/>
                                <a:ea typeface="Calibri" panose="020F0502020204030204" pitchFamily="34" charset="0"/>
                                <a:cs typeface="Calibri Light" panose="020F0302020204030204" pitchFamily="34" charset="0"/>
                              </a:rPr>
                              <m:t> </m:t>
                            </m:r>
                            <m:r>
                              <a:rPr lang="en-US" sz="1800">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𝒗</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den>
                            </m:f>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𝒙</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|0⟩⊗|</m:t>
                                </m:r>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𝝀</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|1⟩⊗|</m:t>
                                </m:r>
                                <m:r>
                                  <a:rPr lang="en-US" sz="1800" i="1">
                                    <a:effectLst/>
                                    <a:latin typeface="Cambria Math" panose="02040503050406030204" pitchFamily="18" charset="0"/>
                                    <a:ea typeface="Calibri" panose="020F0502020204030204" pitchFamily="34" charset="0"/>
                                    <a:cs typeface="Calibri Light" panose="020F0302020204030204" pitchFamily="34" charset="0"/>
                                  </a:rPr>
                                  <m:t>𝜆</m:t>
                                </m:r>
                                <m:r>
                                  <a:rPr lang="en-US" sz="1800">
                                    <a:effectLst/>
                                    <a:latin typeface="Cambria Math" panose="02040503050406030204" pitchFamily="18" charset="0"/>
                                    <a:ea typeface="Calibri" panose="020F0502020204030204" pitchFamily="34" charset="0"/>
                                    <a:cs typeface="Calibri Light" panose="020F0302020204030204" pitchFamily="34" charset="0"/>
                                  </a:rPr>
                                  <m:t>⟩</m:t>
                                </m:r>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e>
                        </m:mr>
                        <m:mr>
                          <m:e>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𝑤</m:t>
                            </m:r>
                            <m:r>
                              <a:rPr lang="en-US" sz="1800">
                                <a:effectLst/>
                                <a:latin typeface="Cambria Math" panose="02040503050406030204" pitchFamily="18" charset="0"/>
                                <a:ea typeface="Calibri" panose="020F0502020204030204" pitchFamily="34" charset="0"/>
                                <a:cs typeface="Calibri Light" panose="020F0302020204030204" pitchFamily="34" charset="0"/>
                              </a:rPr>
                              <m:t>⟩</m:t>
                            </m:r>
                          </m:e>
                          <m:e>
                            <m:r>
                              <a:rPr lang="en-US" sz="1800" i="1">
                                <a:effectLst/>
                                <a:latin typeface="Cambria Math" panose="02040503050406030204" pitchFamily="18" charset="0"/>
                                <a:ea typeface="Calibri" panose="020F0502020204030204" pitchFamily="34" charset="0"/>
                                <a:cs typeface="Calibri Light" panose="020F0302020204030204" pitchFamily="34" charset="0"/>
                              </a:rPr>
                              <m:t> </m:t>
                            </m:r>
                            <m:r>
                              <a:rPr lang="en-US" sz="1800">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𝒘</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den>
                            </m:f>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𝜽</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|0⟩⊗|</m:t>
                                </m:r>
                                <m:r>
                                  <a:rPr lang="en-US" sz="1800" i="1">
                                    <a:effectLst/>
                                    <a:latin typeface="Cambria Math" panose="02040503050406030204" pitchFamily="18" charset="0"/>
                                    <a:ea typeface="Calibri" panose="020F0502020204030204" pitchFamily="34" charset="0"/>
                                    <a:cs typeface="Calibri Light" panose="020F0302020204030204" pitchFamily="34" charset="0"/>
                                  </a:rPr>
                                  <m:t>𝜃</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𝒙</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inc</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p>
                                      </m:e>
                                    </m:d>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|1⟩⊗</m:t>
                                </m:r>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inc</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p>
                                  </m:e>
                                </m:d>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e>
                        </m:mr>
                      </m:m>
                    </m:oMath>
                  </m:oMathPara>
                </a14:m>
                <a:endParaRPr lang="en-US" sz="2800" dirty="0">
                  <a:effectLst/>
                  <a:latin typeface="Calibri" panose="020F0502020204030204" pitchFamily="34" charset="0"/>
                  <a:ea typeface="Calibri" panose="020F0502020204030204" pitchFamily="34" charset="0"/>
                </a:endParaRPr>
              </a:p>
              <a:p>
                <a:pPr>
                  <a:spcAft>
                    <a:spcPts val="1200"/>
                  </a:spcAft>
                </a:pPr>
                <a:r>
                  <a:rPr lang="en-US" sz="1800" dirty="0">
                    <a:effectLst/>
                    <a:latin typeface="Calibri Light" panose="020F0302020204030204" pitchFamily="34" charset="0"/>
                    <a:ea typeface="Calibri" panose="020F0502020204030204" pitchFamily="34" charset="0"/>
                  </a:rPr>
                  <a:t>being pure states of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𝑁</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oMath>
                </a14:m>
                <a:r>
                  <a:rPr lang="en-US" sz="1800" dirty="0">
                    <a:effectLst/>
                    <a:latin typeface="Calibri Light" panose="020F0302020204030204" pitchFamily="34" charset="0"/>
                    <a:ea typeface="Calibri" panose="020F0502020204030204" pitchFamily="34" charset="0"/>
                  </a:rPr>
                  <a:t> qubits. </a:t>
                </a:r>
                <a14:m>
                  <m:oMath xmlns:m="http://schemas.openxmlformats.org/officeDocument/2006/math">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nor/>
                              </m:rPr>
                              <a:rPr lang="en-US" sz="1800">
                                <a:effectLst/>
                                <a:latin typeface="Calibri Light" panose="020F0302020204030204" pitchFamily="34" charset="0"/>
                                <a:ea typeface="Calibri" panose="020F0502020204030204" pitchFamily="34" charset="0"/>
                              </a:rPr>
                              <m:t>inc</m:t>
                            </m:r>
                            <m:r>
                              <m:rPr>
                                <m:nor/>
                              </m:rPr>
                              <a:rPr lang="en-US" sz="1800" i="1">
                                <a:effectLst/>
                                <a:latin typeface="Calibri Light" panose="020F0302020204030204" pitchFamily="34" charset="0"/>
                                <a:ea typeface="Calibri" panose="020F0502020204030204" pitchFamily="34" charset="0"/>
                              </a:rPr>
                              <m:t> </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p>
                      </m:e>
                    </m:d>
                  </m:oMath>
                </a14:m>
                <a:r>
                  <a:rPr lang="en-US" sz="1800" dirty="0">
                    <a:effectLst/>
                    <a:latin typeface="Calibri Light" panose="020F0302020204030204" pitchFamily="34" charset="0"/>
                    <a:ea typeface="Calibri" panose="020F0502020204030204" pitchFamily="34" charset="0"/>
                  </a:rPr>
                  <a:t> is the normalized quantum state corresponding to the incomplete activation pattern and </a:t>
                </a:r>
                <a14:m>
                  <m:oMath xmlns:m="http://schemas.openxmlformats.org/officeDocument/2006/math">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𝒙</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nor/>
                                  </m:rPr>
                                  <a:rPr lang="en-US" sz="1800">
                                    <a:effectLst/>
                                    <a:latin typeface="Calibri Light" panose="020F0302020204030204" pitchFamily="34" charset="0"/>
                                    <a:ea typeface="Calibri" panose="020F0502020204030204" pitchFamily="34" charset="0"/>
                                  </a:rPr>
                                  <m:t>inc</m:t>
                                </m:r>
                                <m:r>
                                  <m:rPr>
                                    <m:nor/>
                                  </m:rPr>
                                  <a:rPr lang="en-US" sz="1800" i="1">
                                    <a:effectLst/>
                                    <a:latin typeface="Calibri Light" panose="020F0302020204030204" pitchFamily="34" charset="0"/>
                                    <a:ea typeface="Calibri" panose="020F0502020204030204" pitchFamily="34" charset="0"/>
                                  </a:rPr>
                                  <m:t> </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p>
                          </m:e>
                        </m:d>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𝑙</m:t>
                    </m:r>
                  </m:oMath>
                </a14:m>
                <a:r>
                  <a:rPr lang="en-US" sz="1800" dirty="0">
                    <a:effectLst/>
                    <a:latin typeface="Calibri Light" panose="020F0302020204030204" pitchFamily="34" charset="0"/>
                    <a:ea typeface="Calibri" panose="020F0502020204030204" pitchFamily="34" charset="0"/>
                  </a:rPr>
                  <a:t>.  </a:t>
                </a:r>
              </a:p>
            </p:txBody>
          </p:sp>
        </mc:Choice>
        <mc:Fallback xmlns="">
          <p:sp>
            <p:nvSpPr>
              <p:cNvPr id="6" name="CasellaDiTesto 5">
                <a:extLst>
                  <a:ext uri="{FF2B5EF4-FFF2-40B4-BE49-F238E27FC236}">
                    <a16:creationId xmlns:a16="http://schemas.microsoft.com/office/drawing/2014/main" id="{8CC64FB5-C111-47E0-A68F-65B2520A59FB}"/>
                  </a:ext>
                </a:extLst>
              </p:cNvPr>
              <p:cNvSpPr txBox="1">
                <a:spLocks noRot="1" noChangeAspect="1" noMove="1" noResize="1" noEditPoints="1" noAdjustHandles="1" noChangeArrowheads="1" noChangeShapeType="1" noTextEdit="1"/>
              </p:cNvSpPr>
              <p:nvPr/>
            </p:nvSpPr>
            <p:spPr>
              <a:xfrm>
                <a:off x="692020" y="1198426"/>
                <a:ext cx="10551367" cy="4805033"/>
              </a:xfrm>
              <a:prstGeom prst="rect">
                <a:avLst/>
              </a:prstGeom>
              <a:blipFill>
                <a:blip r:embed="rId3"/>
                <a:stretch>
                  <a:fillRect l="-520" t="-761" r="-809" b="-127"/>
                </a:stretch>
              </a:blipFill>
            </p:spPr>
            <p:txBody>
              <a:bodyPr/>
              <a:lstStyle/>
              <a:p>
                <a:r>
                  <a:rPr lang="en-US">
                    <a:noFill/>
                  </a:rPr>
                  <a:t> </a:t>
                </a:r>
              </a:p>
            </p:txBody>
          </p:sp>
        </mc:Fallback>
      </mc:AlternateContent>
    </p:spTree>
    <p:extLst>
      <p:ext uri="{BB962C8B-B14F-4D97-AF65-F5344CB8AC3E}">
        <p14:creationId xmlns:p14="http://schemas.microsoft.com/office/powerpoint/2010/main" val="17786505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746C8CBD-C8BA-40E7-8692-87562B0A2A02}"/>
                  </a:ext>
                </a:extLst>
              </p:cNvPr>
              <p:cNvSpPr txBox="1"/>
              <p:nvPr/>
            </p:nvSpPr>
            <p:spPr>
              <a:xfrm>
                <a:off x="177282" y="1146592"/>
                <a:ext cx="11784563" cy="4955908"/>
              </a:xfrm>
              <a:prstGeom prst="rect">
                <a:avLst/>
              </a:prstGeom>
              <a:noFill/>
            </p:spPr>
            <p:txBody>
              <a:bodyPr wrap="square">
                <a:spAutoFit/>
              </a:bodyPr>
              <a:lstStyle/>
              <a:p>
                <a:pPr>
                  <a:spcAft>
                    <a:spcPts val="1200"/>
                  </a:spcAft>
                </a:pPr>
                <a:r>
                  <a:rPr lang="en-US" sz="1800" dirty="0">
                    <a:effectLst/>
                    <a:latin typeface="Calibri Light" panose="020F0302020204030204" pitchFamily="34" charset="0"/>
                    <a:ea typeface="Calibri" panose="020F0502020204030204" pitchFamily="34" charset="0"/>
                  </a:rPr>
                  <a:t>one can simulate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𝑒</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𝑖𝐴𝑡</m:t>
                        </m:r>
                      </m:sup>
                    </m:sSup>
                  </m:oMath>
                </a14:m>
                <a:r>
                  <a:rPr lang="en-US" sz="1800" dirty="0">
                    <a:effectLst/>
                    <a:latin typeface="Calibri Light" panose="020F0302020204030204" pitchFamily="34" charset="0"/>
                    <a:ea typeface="Calibri" panose="020F0502020204030204" pitchFamily="34" charset="0"/>
                  </a:rPr>
                  <a:t> by concurrently executing the simulation of a sparse Hamiltonian. Rewriting A as sum of three matrices (simply substituting relation between W and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𝜌</m:t>
                    </m:r>
                  </m:oMath>
                </a14:m>
                <a:r>
                  <a:rPr lang="en-US" sz="1800" dirty="0">
                    <a:effectLst/>
                    <a:latin typeface="Calibri Light" panose="020F0302020204030204" pitchFamily="34" charset="0"/>
                    <a:ea typeface="Calibri" panose="020F0502020204030204" pitchFamily="34" charset="0"/>
                  </a:rPr>
                  <a:t>)</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mPr>
                        <m:mr>
                          <m:e>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e>
                          <m:e>
                            <m:r>
                              <a:rPr lang="en-US" sz="1800" i="1">
                                <a:effectLst/>
                                <a:latin typeface="Cambria Math" panose="02040503050406030204" pitchFamily="18" charset="0"/>
                                <a:ea typeface="Calibri" panose="020F0502020204030204" pitchFamily="34" charset="0"/>
                                <a:cs typeface="Calibri Light" panose="020F0302020204030204" pitchFamily="34" charset="0"/>
                              </a:rPr>
                              <m:t> </m:t>
                            </m:r>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m>
                                  <m:mPr>
                                    <m:plcHide m:val="on"/>
                                    <m:mcs>
                                      <m:mc>
                                        <m:mcPr>
                                          <m:count m:val="2"/>
                                          <m:mcJc m:val="center"/>
                                        </m:mcPr>
                                      </m:mc>
                                    </m:mcs>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mPr>
                                  <m:mr>
                                    <m:e>
                                      <m:r>
                                        <a:rPr lang="en-US" sz="1800" i="1">
                                          <a:effectLst/>
                                          <a:latin typeface="Cambria Math" panose="02040503050406030204" pitchFamily="18" charset="0"/>
                                          <a:ea typeface="Calibri" panose="020F0502020204030204" pitchFamily="34" charset="0"/>
                                          <a:cs typeface="Calibri Light" panose="020F0302020204030204" pitchFamily="34" charset="0"/>
                                        </a:rPr>
                                        <m:t>𝜌</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r>
                                            <a:rPr lang="en-US" sz="1800" i="1">
                                              <a:effectLst/>
                                              <a:latin typeface="Cambria Math" panose="02040503050406030204" pitchFamily="18" charset="0"/>
                                              <a:ea typeface="Calibri" panose="020F0502020204030204" pitchFamily="34" charset="0"/>
                                              <a:cs typeface="Calibri Light" panose="020F0302020204030204" pitchFamily="34" charset="0"/>
                                            </a:rPr>
                                            <m:t>𝛾</m:t>
                                          </m:r>
                                          <m:r>
                                            <a:rPr lang="en-US" sz="1800">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den>
                                          </m:f>
                                        </m:e>
                                      </m:d>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𝕀</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sub>
                                      </m:sSub>
                                    </m:e>
                                    <m:e>
                                      <m:r>
                                        <a:rPr lang="en-US" sz="1800" i="1">
                                          <a:effectLst/>
                                          <a:latin typeface="Cambria Math" panose="02040503050406030204" pitchFamily="18" charset="0"/>
                                          <a:ea typeface="Calibri" panose="020F0502020204030204" pitchFamily="34" charset="0"/>
                                          <a:cs typeface="Calibri Light" panose="020F0302020204030204" pitchFamily="34" charset="0"/>
                                        </a:rPr>
                                        <m:t>𝑃</m:t>
                                      </m:r>
                                    </m:e>
                                  </m:mr>
                                  <m:mr>
                                    <m:e>
                                      <m:r>
                                        <a:rPr lang="en-US" sz="1800" i="1">
                                          <a:effectLst/>
                                          <a:latin typeface="Cambria Math" panose="02040503050406030204" pitchFamily="18" charset="0"/>
                                          <a:ea typeface="Calibri" panose="020F0502020204030204" pitchFamily="34" charset="0"/>
                                          <a:cs typeface="Calibri Light" panose="020F0302020204030204" pitchFamily="34" charset="0"/>
                                        </a:rPr>
                                        <m:t>𝑃</m:t>
                                      </m:r>
                                    </m:e>
                                    <m:e>
                                      <m:r>
                                        <a:rPr lang="en-US" sz="1800">
                                          <a:effectLst/>
                                          <a:latin typeface="Cambria Math" panose="02040503050406030204" pitchFamily="18" charset="0"/>
                                          <a:ea typeface="Calibri" panose="020F0502020204030204" pitchFamily="34" charset="0"/>
                                          <a:cs typeface="Calibri Light" panose="020F0302020204030204" pitchFamily="34" charset="0"/>
                                        </a:rPr>
                                        <m:t>0</m:t>
                                      </m:r>
                                    </m:e>
                                  </m:mr>
                                </m:m>
                              </m:e>
                            </m:d>
                          </m:e>
                        </m:mr>
                        <m:mr>
                          <m:e/>
                          <m:e>
                            <m:r>
                              <a:rPr lang="en-US" sz="1800" i="1">
                                <a:effectLst/>
                                <a:latin typeface="Cambria Math" panose="02040503050406030204" pitchFamily="18" charset="0"/>
                                <a:ea typeface="Calibri" panose="020F0502020204030204" pitchFamily="34" charset="0"/>
                                <a:cs typeface="Calibri Light" panose="020F0302020204030204" pitchFamily="34" charset="0"/>
                              </a:rPr>
                              <m:t> </m:t>
                            </m:r>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m>
                                  <m:mPr>
                                    <m:plcHide m:val="on"/>
                                    <m:mcs>
                                      <m:mc>
                                        <m:mcPr>
                                          <m:count m:val="2"/>
                                          <m:mcJc m:val="center"/>
                                        </m:mcPr>
                                      </m:mc>
                                    </m:mcs>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mPr>
                                  <m:mr>
                                    <m:e>
                                      <m:r>
                                        <a:rPr lang="en-US" sz="1800">
                                          <a:effectLst/>
                                          <a:latin typeface="Cambria Math" panose="02040503050406030204" pitchFamily="18" charset="0"/>
                                          <a:ea typeface="Calibri" panose="020F0502020204030204" pitchFamily="34" charset="0"/>
                                          <a:cs typeface="Calibri Light" panose="020F0302020204030204" pitchFamily="34" charset="0"/>
                                        </a:rPr>
                                        <m:t>0</m:t>
                                      </m:r>
                                    </m:e>
                                    <m:e>
                                      <m:r>
                                        <a:rPr lang="en-US" sz="1800" i="1">
                                          <a:effectLst/>
                                          <a:latin typeface="Cambria Math" panose="02040503050406030204" pitchFamily="18" charset="0"/>
                                          <a:ea typeface="Calibri" panose="020F0502020204030204" pitchFamily="34" charset="0"/>
                                          <a:cs typeface="Calibri Light" panose="020F0302020204030204" pitchFamily="34" charset="0"/>
                                        </a:rPr>
                                        <m:t>𝑃</m:t>
                                      </m:r>
                                    </m:e>
                                  </m:mr>
                                  <m:mr>
                                    <m:e>
                                      <m:r>
                                        <a:rPr lang="en-US" sz="1800" i="1">
                                          <a:effectLst/>
                                          <a:latin typeface="Cambria Math" panose="02040503050406030204" pitchFamily="18" charset="0"/>
                                          <a:ea typeface="Calibri" panose="020F0502020204030204" pitchFamily="34" charset="0"/>
                                          <a:cs typeface="Calibri Light" panose="020F0302020204030204" pitchFamily="34" charset="0"/>
                                        </a:rPr>
                                        <m:t>𝑃</m:t>
                                      </m:r>
                                    </m:e>
                                    <m:e>
                                      <m:r>
                                        <a:rPr lang="en-US" sz="1800">
                                          <a:effectLst/>
                                          <a:latin typeface="Cambria Math" panose="02040503050406030204" pitchFamily="18" charset="0"/>
                                          <a:ea typeface="Calibri" panose="020F0502020204030204" pitchFamily="34" charset="0"/>
                                          <a:cs typeface="Calibri Light" panose="020F0302020204030204" pitchFamily="34" charset="0"/>
                                        </a:rPr>
                                        <m:t>0</m:t>
                                      </m:r>
                                    </m:e>
                                  </m:mr>
                                </m:m>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m>
                                  <m:mPr>
                                    <m:plcHide m:val="on"/>
                                    <m:mcs>
                                      <m:mc>
                                        <m:mcPr>
                                          <m:count m:val="2"/>
                                          <m:mcJc m:val="center"/>
                                        </m:mcPr>
                                      </m:mc>
                                    </m:mcs>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mPr>
                                  <m:mr>
                                    <m:e>
                                      <m:r>
                                        <a:rPr lang="en-US" sz="1800" i="1">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𝛾</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m:t>
                                          </m:r>
                                        </m:sup>
                                      </m:sSup>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𝕀</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sub>
                                      </m:sSub>
                                    </m:e>
                                    <m:e>
                                      <m:r>
                                        <a:rPr lang="en-US" sz="1800">
                                          <a:effectLst/>
                                          <a:latin typeface="Cambria Math" panose="02040503050406030204" pitchFamily="18" charset="0"/>
                                          <a:ea typeface="Calibri" panose="020F0502020204030204" pitchFamily="34" charset="0"/>
                                          <a:cs typeface="Calibri Light" panose="020F0302020204030204" pitchFamily="34" charset="0"/>
                                        </a:rPr>
                                        <m:t>0</m:t>
                                      </m:r>
                                    </m:e>
                                  </m:mr>
                                  <m:mr>
                                    <m:e>
                                      <m:r>
                                        <a:rPr lang="en-US" sz="1800">
                                          <a:effectLst/>
                                          <a:latin typeface="Cambria Math" panose="02040503050406030204" pitchFamily="18" charset="0"/>
                                          <a:ea typeface="Calibri" panose="020F0502020204030204" pitchFamily="34" charset="0"/>
                                          <a:cs typeface="Calibri Light" panose="020F0302020204030204" pitchFamily="34" charset="0"/>
                                        </a:rPr>
                                        <m:t>0</m:t>
                                      </m:r>
                                    </m:e>
                                    <m:e>
                                      <m:r>
                                        <a:rPr lang="en-US" sz="1800">
                                          <a:effectLst/>
                                          <a:latin typeface="Cambria Math" panose="02040503050406030204" pitchFamily="18" charset="0"/>
                                          <a:ea typeface="Calibri" panose="020F0502020204030204" pitchFamily="34" charset="0"/>
                                          <a:cs typeface="Calibri Light" panose="020F0302020204030204" pitchFamily="34" charset="0"/>
                                        </a:rPr>
                                        <m:t>0</m:t>
                                      </m:r>
                                    </m:e>
                                  </m:mr>
                                </m:m>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m>
                                  <m:mPr>
                                    <m:plcHide m:val="on"/>
                                    <m:mcs>
                                      <m:mc>
                                        <m:mcPr>
                                          <m:count m:val="2"/>
                                          <m:mcJc m:val="center"/>
                                        </m:mcPr>
                                      </m:mc>
                                    </m:mcs>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mPr>
                                  <m:mr>
                                    <m:e>
                                      <m:r>
                                        <a:rPr lang="en-US" sz="1800" i="1">
                                          <a:effectLst/>
                                          <a:latin typeface="Cambria Math" panose="02040503050406030204" pitchFamily="18" charset="0"/>
                                          <a:ea typeface="Calibri" panose="020F0502020204030204" pitchFamily="34" charset="0"/>
                                          <a:cs typeface="Calibri Light" panose="020F0302020204030204" pitchFamily="34" charset="0"/>
                                        </a:rPr>
                                        <m:t>𝜌</m:t>
                                      </m:r>
                                    </m:e>
                                    <m:e>
                                      <m:r>
                                        <a:rPr lang="en-US" sz="1800">
                                          <a:effectLst/>
                                          <a:latin typeface="Cambria Math" panose="02040503050406030204" pitchFamily="18" charset="0"/>
                                          <a:ea typeface="Calibri" panose="020F0502020204030204" pitchFamily="34" charset="0"/>
                                          <a:cs typeface="Calibri Light" panose="020F0302020204030204" pitchFamily="34" charset="0"/>
                                        </a:rPr>
                                        <m:t>0</m:t>
                                      </m:r>
                                    </m:e>
                                  </m:mr>
                                  <m:mr>
                                    <m:e>
                                      <m:r>
                                        <a:rPr lang="en-US" sz="1800">
                                          <a:effectLst/>
                                          <a:latin typeface="Cambria Math" panose="02040503050406030204" pitchFamily="18" charset="0"/>
                                          <a:ea typeface="Calibri" panose="020F0502020204030204" pitchFamily="34" charset="0"/>
                                          <a:cs typeface="Calibri Light" panose="020F0302020204030204" pitchFamily="34" charset="0"/>
                                        </a:rPr>
                                        <m:t>0</m:t>
                                      </m:r>
                                    </m:e>
                                    <m:e>
                                      <m:r>
                                        <a:rPr lang="en-US" sz="1800">
                                          <a:effectLst/>
                                          <a:latin typeface="Cambria Math" panose="02040503050406030204" pitchFamily="18" charset="0"/>
                                          <a:ea typeface="Calibri" panose="020F0502020204030204" pitchFamily="34" charset="0"/>
                                          <a:cs typeface="Calibri Light" panose="020F0302020204030204" pitchFamily="34" charset="0"/>
                                        </a:rPr>
                                        <m:t>0</m:t>
                                      </m:r>
                                    </m:e>
                                  </m:mr>
                                </m:m>
                              </m:e>
                            </m:d>
                          </m:e>
                        </m:mr>
                        <m:mr>
                          <m:e/>
                          <m:e>
                            <m:r>
                              <a:rPr lang="en-US" sz="1800" i="1">
                                <a:effectLst/>
                                <a:latin typeface="Cambria Math" panose="02040503050406030204" pitchFamily="18" charset="0"/>
                                <a:ea typeface="Calibri" panose="020F0502020204030204" pitchFamily="34" charset="0"/>
                                <a:cs typeface="Calibri Light" panose="020F0302020204030204" pitchFamily="34" charset="0"/>
                              </a:rPr>
                              <m:t> </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𝐵</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𝐷</m:t>
                            </m:r>
                            <m:r>
                              <a:rPr lang="en-US" sz="1800">
                                <a:effectLst/>
                                <a:latin typeface="Cambria Math" panose="02040503050406030204" pitchFamily="18" charset="0"/>
                                <a:ea typeface="Calibri" panose="020F0502020204030204" pitchFamily="34" charset="0"/>
                                <a:cs typeface="Calibri Light" panose="020F0302020204030204" pitchFamily="34" charset="0"/>
                              </a:rPr>
                              <m:t>,</m:t>
                            </m:r>
                          </m:e>
                        </m:mr>
                      </m:m>
                    </m:oMath>
                  </m:oMathPara>
                </a14:m>
                <a:endParaRPr lang="en-US" sz="2800" dirty="0">
                  <a:effectLst/>
                  <a:latin typeface="Calibri" panose="020F0502020204030204" pitchFamily="34" charset="0"/>
                  <a:ea typeface="Calibri" panose="020F0502020204030204" pitchFamily="34" charset="0"/>
                </a:endParaRPr>
              </a:p>
              <a:p>
                <a:pPr>
                  <a:spcAft>
                    <a:spcPts val="1200"/>
                  </a:spcAft>
                </a:pPr>
                <a:r>
                  <a:rPr lang="en-US" sz="1800" dirty="0">
                    <a:effectLst/>
                    <a:latin typeface="Calibri Light" panose="020F0302020204030204" pitchFamily="34" charset="0"/>
                    <a:ea typeface="Calibri" panose="020F0502020204030204" pitchFamily="34" charset="0"/>
                  </a:rPr>
                  <a:t>with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𝛾</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𝛾</m:t>
                    </m:r>
                    <m:r>
                      <a:rPr lang="en-US" sz="1800">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den>
                    </m:f>
                  </m:oMath>
                </a14:m>
                <a:r>
                  <a:rPr lang="en-US" sz="1800" dirty="0">
                    <a:effectLst/>
                    <a:latin typeface="Calibri Light" panose="020F0302020204030204" pitchFamily="34" charset="0"/>
                    <a:ea typeface="Calibri" panose="020F0502020204030204" pitchFamily="34" charset="0"/>
                  </a:rPr>
                  <a:t>. Suppose that one has operators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𝒰</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𝐵</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Δ</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𝒰</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Δ</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rPr>
                  <a:t>, and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𝒰</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𝐷</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Δ</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rPr>
                  <a:t> that simulate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𝑒</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𝑖𝐵</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Δ</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𝑒</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𝑖𝐶</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Δ</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sup>
                    </m:sSup>
                  </m:oMath>
                </a14:m>
                <a:r>
                  <a:rPr lang="en-US" sz="1800" dirty="0">
                    <a:effectLst/>
                    <a:latin typeface="Calibri Light" panose="020F0302020204030204" pitchFamily="34" charset="0"/>
                    <a:ea typeface="Calibri" panose="020F0502020204030204" pitchFamily="34" charset="0"/>
                  </a:rPr>
                  <a:t>, and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𝑒</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𝑖𝐷</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Δ</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sup>
                    </m:sSup>
                  </m:oMath>
                </a14:m>
                <a:r>
                  <a:rPr lang="en-US" sz="1800" dirty="0">
                    <a:effectLst/>
                    <a:latin typeface="Calibri Light" panose="020F0302020204030204" pitchFamily="34" charset="0"/>
                    <a:ea typeface="Calibri" panose="020F0502020204030204" pitchFamily="34" charset="0"/>
                  </a:rPr>
                  <a:t> to errors at most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𝒪</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Δ</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p>
                      </m:e>
                    </m:d>
                    <m:r>
                      <a:rPr lang="it-IT" sz="1800" b="0" i="1" smtClean="0">
                        <a:effectLst/>
                        <a:latin typeface="Cambria Math" panose="02040503050406030204" pitchFamily="18" charset="0"/>
                        <a:ea typeface="Calibri" panose="020F0502020204030204" pitchFamily="34" charset="0"/>
                        <a:cs typeface="Calibri Light" panose="020F0302020204030204" pitchFamily="34" charset="0"/>
                      </a:rPr>
                      <m:t>. </m:t>
                    </m:r>
                  </m:oMath>
                </a14:m>
                <a:r>
                  <a:rPr lang="en-US" sz="1800" dirty="0">
                    <a:effectLst/>
                    <a:latin typeface="Calibri Light" panose="020F0302020204030204" pitchFamily="34" charset="0"/>
                    <a:ea typeface="Calibri" panose="020F0502020204030204" pitchFamily="34" charset="0"/>
                  </a:rPr>
                  <a:t>The run time of performing one such repetition depends on three evolution operator simulations:</a:t>
                </a:r>
                <a:endParaRPr lang="en-US" sz="2800" dirty="0">
                  <a:effectLst/>
                  <a:latin typeface="Calibri" panose="020F0502020204030204" pitchFamily="34" charset="0"/>
                  <a:ea typeface="Calibri" panose="020F0502020204030204" pitchFamily="34" charset="0"/>
                </a:endParaRPr>
              </a:p>
              <a:p>
                <a:pPr marL="342900" lvl="0" indent="-342900">
                  <a:lnSpc>
                    <a:spcPct val="107000"/>
                  </a:lnSpc>
                  <a:spcAft>
                    <a:spcPts val="1200"/>
                  </a:spcAft>
                  <a:buFont typeface="Calibri" panose="020F0502020204030204" pitchFamily="34" charset="0"/>
                  <a:buChar char="-"/>
                </a:pPr>
                <a:r>
                  <a:rPr lang="en-US" sz="1800" dirty="0">
                    <a:effectLst/>
                    <a:latin typeface="Calibri Light" panose="020F0302020204030204" pitchFamily="34" charset="0"/>
                    <a:ea typeface="Calibri" panose="020F0502020204030204" pitchFamily="34" charset="0"/>
                    <a:cs typeface="Arial" panose="020B0604020202020204" pitchFamily="34" charset="0"/>
                  </a:rPr>
                  <a:t> Consider the block matrix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𝐵</m:t>
                    </m:r>
                  </m:oMath>
                </a14:m>
                <a:r>
                  <a:rPr lang="en-US" sz="1800" dirty="0">
                    <a:effectLst/>
                    <a:latin typeface="Calibri Light" panose="020F0302020204030204" pitchFamily="34" charset="0"/>
                    <a:ea typeface="Calibri" panose="020F0502020204030204" pitchFamily="34" charset="0"/>
                    <a:cs typeface="Arial" panose="020B0604020202020204" pitchFamily="34" charset="0"/>
                  </a:rPr>
                  <a:t>.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𝑃</m:t>
                    </m:r>
                  </m:oMath>
                </a14:m>
                <a:r>
                  <a:rPr lang="en-US" sz="1800" dirty="0">
                    <a:effectLst/>
                    <a:latin typeface="Calibri Light" panose="020F0302020204030204" pitchFamily="34" charset="0"/>
                    <a:ea typeface="Calibri" panose="020F0502020204030204" pitchFamily="34" charset="0"/>
                    <a:cs typeface="Arial" panose="020B0604020202020204" pitchFamily="34" charset="0"/>
                  </a:rPr>
                  <a:t> is a diagonal projector,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𝐵</m:t>
                    </m:r>
                  </m:oMath>
                </a14:m>
                <a:r>
                  <a:rPr lang="en-US" sz="1800" dirty="0">
                    <a:effectLst/>
                    <a:latin typeface="Calibri Light" panose="020F0302020204030204" pitchFamily="34" charset="0"/>
                    <a:ea typeface="Calibri" panose="020F0502020204030204" pitchFamily="34" charset="0"/>
                    <a:cs typeface="Arial" panose="020B0604020202020204" pitchFamily="34" charset="0"/>
                  </a:rPr>
                  <a:t> is a sparse self-adjoint matrix. Berry et al. shows that sparse Hamiltonian simulation for a simulation time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oMath>
                </a14:m>
                <a:r>
                  <a:rPr lang="en-US" sz="1800" dirty="0">
                    <a:effectLst/>
                    <a:latin typeface="Calibri Light" panose="020F0302020204030204" pitchFamily="34" charset="0"/>
                    <a:ea typeface="Calibri" panose="020F0502020204030204" pitchFamily="34" charset="0"/>
                    <a:cs typeface="Arial" panose="020B0604020202020204" pitchFamily="34" charset="0"/>
                  </a:rPr>
                  <a:t> to error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𝜖</m:t>
                    </m:r>
                  </m:oMath>
                </a14:m>
                <a:r>
                  <a:rPr lang="en-US" sz="1800" dirty="0">
                    <a:effectLst/>
                    <a:latin typeface="Calibri Light" panose="020F0302020204030204" pitchFamily="34" charset="0"/>
                    <a:ea typeface="Calibri" panose="020F0502020204030204" pitchFamily="34" charset="0"/>
                    <a:cs typeface="Arial" panose="020B0604020202020204" pitchFamily="34" charset="0"/>
                  </a:rPr>
                  <a:t> can be performed with a run time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𝑇</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𝐵</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𝒪</m:t>
                        </m:r>
                      </m:e>
                    </m:acc>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log</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cs typeface="Arial" panose="020B0604020202020204" pitchFamily="34" charset="0"/>
                  </a:rPr>
                  <a:t>. </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1200"/>
                  </a:spcAft>
                  <a:buFont typeface="Calibri" panose="020F0502020204030204" pitchFamily="34" charset="0"/>
                  <a:buChar char="-"/>
                </a:pPr>
                <a:r>
                  <a:rPr lang="en-US" sz="1800" dirty="0">
                    <a:effectLst/>
                    <a:latin typeface="Calibri Light" panose="020F0302020204030204" pitchFamily="34" charset="0"/>
                    <a:ea typeface="Calibri" panose="020F0502020204030204" pitchFamily="34" charset="0"/>
                    <a:cs typeface="Arial" panose="020B0604020202020204" pitchFamily="34" charset="0"/>
                  </a:rPr>
                  <a:t>The operator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𝒰</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Δ</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cs typeface="Arial" panose="020B0604020202020204" pitchFamily="34" charset="0"/>
                  </a:rPr>
                  <a:t> is treated as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𝒰</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𝐵</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Δ</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cs typeface="Arial" panose="020B0604020202020204" pitchFamily="34" charset="0"/>
                  </a:rPr>
                  <a:t> </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1200"/>
                  </a:spcAft>
                  <a:buFont typeface="Calibri" panose="020F0502020204030204" pitchFamily="34" charset="0"/>
                  <a:buChar char="-"/>
                </a:pPr>
                <a:r>
                  <a:rPr lang="en-US" sz="1800" dirty="0">
                    <a:effectLst/>
                    <a:latin typeface="Calibri Light" panose="020F0302020204030204" pitchFamily="34" charset="0"/>
                    <a:ea typeface="Calibri" panose="020F0502020204030204" pitchFamily="34" charset="0"/>
                    <a:cs typeface="Arial" panose="020B0604020202020204" pitchFamily="34" charset="0"/>
                  </a:rPr>
                  <a:t>Simulating the operator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𝒰</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𝐷</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Δ</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cs typeface="Arial" panose="020B0604020202020204" pitchFamily="34" charset="0"/>
                  </a:rPr>
                  <a:t> is achieved using Hebbian learning (</a:t>
                </a:r>
                <a:r>
                  <a:rPr lang="en-US" sz="1800" dirty="0" err="1">
                    <a:effectLst/>
                    <a:latin typeface="Calibri Light" panose="020F0302020204030204" pitchFamily="34" charset="0"/>
                    <a:ea typeface="Calibri" panose="020F0502020204030204" pitchFamily="34" charset="0"/>
                    <a:cs typeface="Arial" panose="020B0604020202020204" pitchFamily="34" charset="0"/>
                  </a:rPr>
                  <a:t>qHeb</a:t>
                </a:r>
                <a:r>
                  <a:rPr lang="en-US" sz="1800" dirty="0">
                    <a:effectLst/>
                    <a:latin typeface="Calibri Light" panose="020F0302020204030204" pitchFamily="34" charset="0"/>
                    <a:ea typeface="Calibri" panose="020F0502020204030204" pitchFamily="34" charset="0"/>
                    <a:cs typeface="Arial" panose="020B0604020202020204" pitchFamily="34" charset="0"/>
                  </a:rPr>
                  <a:t> without eigenvalues extraction)</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mc:Choice>
        <mc:Fallback xmlns="">
          <p:sp>
            <p:nvSpPr>
              <p:cNvPr id="5" name="CasellaDiTesto 4">
                <a:extLst>
                  <a:ext uri="{FF2B5EF4-FFF2-40B4-BE49-F238E27FC236}">
                    <a16:creationId xmlns:a16="http://schemas.microsoft.com/office/drawing/2014/main" id="{746C8CBD-C8BA-40E7-8692-87562B0A2A02}"/>
                  </a:ext>
                </a:extLst>
              </p:cNvPr>
              <p:cNvSpPr txBox="1">
                <a:spLocks noRot="1" noChangeAspect="1" noMove="1" noResize="1" noEditPoints="1" noAdjustHandles="1" noChangeArrowheads="1" noChangeShapeType="1" noTextEdit="1"/>
              </p:cNvSpPr>
              <p:nvPr/>
            </p:nvSpPr>
            <p:spPr>
              <a:xfrm>
                <a:off x="177282" y="1146592"/>
                <a:ext cx="11784563" cy="4955908"/>
              </a:xfrm>
              <a:prstGeom prst="rect">
                <a:avLst/>
              </a:prstGeom>
              <a:blipFill>
                <a:blip r:embed="rId2"/>
                <a:stretch>
                  <a:fillRect l="-414" t="-369" r="-414" b="-984"/>
                </a:stretch>
              </a:blipFill>
            </p:spPr>
            <p:txBody>
              <a:bodyPr/>
              <a:lstStyle/>
              <a:p>
                <a:r>
                  <a:rPr lang="en-US">
                    <a:noFill/>
                  </a:rPr>
                  <a:t> </a:t>
                </a:r>
              </a:p>
            </p:txBody>
          </p:sp>
        </mc:Fallback>
      </mc:AlternateContent>
      <p:sp>
        <p:nvSpPr>
          <p:cNvPr id="6" name="CasellaDiTesto 5">
            <a:extLst>
              <a:ext uri="{FF2B5EF4-FFF2-40B4-BE49-F238E27FC236}">
                <a16:creationId xmlns:a16="http://schemas.microsoft.com/office/drawing/2014/main" id="{E57146A6-A128-47AB-ABAE-DB2860EBE2D4}"/>
              </a:ext>
            </a:extLst>
          </p:cNvPr>
          <p:cNvSpPr txBox="1"/>
          <p:nvPr/>
        </p:nvSpPr>
        <p:spPr>
          <a:xfrm>
            <a:off x="4730621" y="195943"/>
            <a:ext cx="7641772" cy="769441"/>
          </a:xfrm>
          <a:prstGeom prst="rect">
            <a:avLst/>
          </a:prstGeom>
          <a:noFill/>
        </p:spPr>
        <p:txBody>
          <a:bodyPr wrap="square" rtlCol="0">
            <a:spAutoFit/>
          </a:bodyPr>
          <a:lstStyle/>
          <a:p>
            <a:r>
              <a:rPr lang="it-IT" sz="4400" dirty="0" err="1">
                <a:solidFill>
                  <a:schemeClr val="accent1">
                    <a:lumMod val="50000"/>
                  </a:schemeClr>
                </a:solidFill>
                <a:latin typeface="+mj-lt"/>
              </a:rPr>
              <a:t>qHop</a:t>
            </a:r>
            <a:r>
              <a:rPr lang="it-IT" sz="4400" dirty="0">
                <a:solidFill>
                  <a:schemeClr val="accent1">
                    <a:lumMod val="50000"/>
                  </a:schemeClr>
                </a:solidFill>
                <a:latin typeface="+mj-lt"/>
              </a:rPr>
              <a:t> -2</a:t>
            </a:r>
            <a:endParaRPr lang="en-US" sz="4400" dirty="0">
              <a:solidFill>
                <a:schemeClr val="accent1">
                  <a:lumMod val="50000"/>
                </a:schemeClr>
              </a:solidFill>
              <a:latin typeface="+mj-lt"/>
            </a:endParaRPr>
          </a:p>
        </p:txBody>
      </p:sp>
    </p:spTree>
    <p:extLst>
      <p:ext uri="{BB962C8B-B14F-4D97-AF65-F5344CB8AC3E}">
        <p14:creationId xmlns:p14="http://schemas.microsoft.com/office/powerpoint/2010/main" val="26673807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A2DA6583-F73D-4651-9E0A-F9FFE3ECA748}"/>
                  </a:ext>
                </a:extLst>
              </p:cNvPr>
              <p:cNvSpPr txBox="1"/>
              <p:nvPr/>
            </p:nvSpPr>
            <p:spPr>
              <a:xfrm>
                <a:off x="501520" y="1331817"/>
                <a:ext cx="11301704" cy="5375959"/>
              </a:xfrm>
              <a:prstGeom prst="rect">
                <a:avLst/>
              </a:prstGeom>
              <a:noFill/>
            </p:spPr>
            <p:txBody>
              <a:bodyPr wrap="square">
                <a:spAutoFit/>
              </a:bodyPr>
              <a:lstStyle/>
              <a:p>
                <a:pPr marL="228600">
                  <a:spcAft>
                    <a:spcPts val="1200"/>
                  </a:spcAft>
                </a:pPr>
                <a:r>
                  <a:rPr lang="en-US" sz="1800" dirty="0">
                    <a:effectLst/>
                    <a:latin typeface="Calibri Light" panose="020F0302020204030204" pitchFamily="34" charset="0"/>
                    <a:ea typeface="Calibri" panose="020F0502020204030204" pitchFamily="34" charset="0"/>
                  </a:rPr>
                  <a:t>The spectral decomposition of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oMath>
                </a14:m>
                <a:r>
                  <a:rPr lang="en-US" sz="1800" dirty="0">
                    <a:effectLst/>
                    <a:latin typeface="Calibri Light" panose="020F0302020204030204" pitchFamily="34" charset="0"/>
                    <a:ea typeface="Calibri" panose="020F0502020204030204" pitchFamily="34" charset="0"/>
                  </a:rPr>
                  <a:t> </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mPr>
                        <m:mr>
                          <m:e>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r>
                              <a:rPr lang="en-US" sz="1800">
                                <a:effectLst/>
                                <a:latin typeface="Cambria Math" panose="02040503050406030204" pitchFamily="18" charset="0"/>
                                <a:ea typeface="Calibri" panose="020F0502020204030204" pitchFamily="34" charset="0"/>
                                <a:cs typeface="Calibri Light" panose="020F0302020204030204" pitchFamily="34" charset="0"/>
                              </a:rPr>
                              <m:t>=</m:t>
                            </m:r>
                          </m:e>
                          <m:e>
                            <m:r>
                              <a:rPr lang="en-US" sz="1800" i="1">
                                <a:effectLst/>
                                <a:latin typeface="Cambria Math" panose="02040503050406030204" pitchFamily="18" charset="0"/>
                                <a:ea typeface="Calibri" panose="020F0502020204030204" pitchFamily="34" charset="0"/>
                                <a:cs typeface="Calibri Light" panose="020F0302020204030204" pitchFamily="34" charset="0"/>
                              </a:rPr>
                              <m:t> </m:t>
                            </m:r>
                            <m:nary>
                              <m:naryPr>
                                <m:chr m:val="∑"/>
                                <m:limLoc m:val="undOvr"/>
                                <m:grow m:val="on"/>
                                <m:supHide m:val="on"/>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naryPr>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𝜇</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r>
                                      <a:rPr lang="en-US" sz="1800">
                                        <a:effectLst/>
                                        <a:latin typeface="Cambria Math" panose="02040503050406030204" pitchFamily="18" charset="0"/>
                                        <a:ea typeface="Calibri" panose="020F0502020204030204" pitchFamily="34" charset="0"/>
                                        <a:cs typeface="Calibri Light" panose="020F0302020204030204" pitchFamily="34" charset="0"/>
                                      </a:rPr>
                                      <m:t>)</m:t>
                                    </m:r>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𝜇</m:t>
                                </m:r>
                              </m:sub>
                              <m:sup/>
                              <m:e>
                                <m:r>
                                  <a:rPr lang="en-US" sz="1800">
                                    <a:effectLst/>
                                    <a:latin typeface="Cambria Math" panose="02040503050406030204" pitchFamily="18" charset="0"/>
                                    <a:ea typeface="Calibri" panose="020F0502020204030204" pitchFamily="34" charset="0"/>
                                    <a:cs typeface="Calibri Light" panose="020F0302020204030204" pitchFamily="34" charset="0"/>
                                  </a:rPr>
                                  <m:t> </m:t>
                                </m:r>
                              </m:e>
                            </m:nary>
                            <m:r>
                              <a:rPr lang="en-US" sz="1800">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𝜇</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𝑣</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r>
                                  <a:rPr lang="en-US" sz="1800">
                                    <a:effectLst/>
                                    <a:latin typeface="Cambria Math" panose="02040503050406030204" pitchFamily="18" charset="0"/>
                                    <a:ea typeface="Calibri" panose="020F0502020204030204" pitchFamily="34" charset="0"/>
                                    <a:cs typeface="Calibri Light" panose="020F0302020204030204" pitchFamily="34" charset="0"/>
                                  </a:rPr>
                                  <m:t>)</m:t>
                                </m:r>
                              </m:e>
                            </m:d>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𝑣</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r>
                                  <a:rPr lang="en-US" sz="1800">
                                    <a:effectLst/>
                                    <a:latin typeface="Cambria Math" panose="02040503050406030204" pitchFamily="18" charset="0"/>
                                    <a:ea typeface="Calibri" panose="020F0502020204030204" pitchFamily="34" charset="0"/>
                                    <a:cs typeface="Calibri Light" panose="020F0302020204030204" pitchFamily="34" charset="0"/>
                                  </a:rPr>
                                  <m:t>)</m:t>
                                </m:r>
                              </m:e>
                            </m:d>
                          </m:e>
                        </m:mr>
                        <m:mr>
                          <m:e/>
                          <m:e>
                            <m:r>
                              <a:rPr lang="en-US" sz="1800" i="1">
                                <a:effectLst/>
                                <a:latin typeface="Cambria Math" panose="02040503050406030204" pitchFamily="18" charset="0"/>
                                <a:ea typeface="Calibri" panose="020F0502020204030204" pitchFamily="34" charset="0"/>
                                <a:cs typeface="Calibri Light" panose="020F0302020204030204" pitchFamily="34" charset="0"/>
                              </a:rPr>
                              <m:t> </m:t>
                            </m:r>
                            <m:r>
                              <a:rPr lang="en-US" sz="1800">
                                <a:effectLst/>
                                <a:latin typeface="Cambria Math" panose="02040503050406030204" pitchFamily="18" charset="0"/>
                                <a:ea typeface="Calibri" panose="020F0502020204030204" pitchFamily="34" charset="0"/>
                                <a:cs typeface="Calibri Light" panose="020F0302020204030204" pitchFamily="34" charset="0"/>
                              </a:rPr>
                              <m:t>+</m:t>
                            </m:r>
                            <m:nary>
                              <m:naryPr>
                                <m:chr m:val="∑"/>
                                <m:limLoc m:val="undOvr"/>
                                <m:grow m:val="on"/>
                                <m:supHide m:val="on"/>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naryPr>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𝜇</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r>
                                      <a:rPr lang="en-US" sz="1800">
                                        <a:effectLst/>
                                        <a:latin typeface="Cambria Math" panose="02040503050406030204" pitchFamily="18" charset="0"/>
                                        <a:ea typeface="Calibri" panose="020F0502020204030204" pitchFamily="34" charset="0"/>
                                        <a:cs typeface="Calibri Light" panose="020F0302020204030204" pitchFamily="34" charset="0"/>
                                      </a:rPr>
                                      <m:t>)</m:t>
                                    </m:r>
                                  </m:e>
                                </m:d>
                                <m:r>
                                  <a:rPr lang="en-US" sz="1800">
                                    <a:effectLst/>
                                    <a:latin typeface="Cambria Math" panose="02040503050406030204" pitchFamily="18" charset="0"/>
                                    <a:ea typeface="Calibri" panose="020F0502020204030204" pitchFamily="34" charset="0"/>
                                    <a:cs typeface="Calibri Light" panose="020F0302020204030204" pitchFamily="34" charset="0"/>
                                  </a:rPr>
                                  <m:t>&lt;</m:t>
                                </m:r>
                                <m:r>
                                  <a:rPr lang="en-US" sz="1800" i="1">
                                    <a:effectLst/>
                                    <a:latin typeface="Cambria Math" panose="02040503050406030204" pitchFamily="18" charset="0"/>
                                    <a:ea typeface="Calibri" panose="020F0502020204030204" pitchFamily="34" charset="0"/>
                                    <a:cs typeface="Calibri Light" panose="020F0302020204030204" pitchFamily="34" charset="0"/>
                                  </a:rPr>
                                  <m:t>𝜇</m:t>
                                </m:r>
                              </m:sub>
                              <m:sup/>
                              <m:e>
                                <m:r>
                                  <a:rPr lang="en-US" sz="1800">
                                    <a:effectLst/>
                                    <a:latin typeface="Cambria Math" panose="02040503050406030204" pitchFamily="18" charset="0"/>
                                    <a:ea typeface="Calibri" panose="020F0502020204030204" pitchFamily="34" charset="0"/>
                                    <a:cs typeface="Calibri Light" panose="020F0302020204030204" pitchFamily="34" charset="0"/>
                                  </a:rPr>
                                  <m:t> </m:t>
                                </m:r>
                              </m:e>
                            </m:nary>
                            <m:r>
                              <a:rPr lang="en-US" sz="1800">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𝜇</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𝑣</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r>
                                  <a:rPr lang="en-US" sz="1800">
                                    <a:effectLst/>
                                    <a:latin typeface="Cambria Math" panose="02040503050406030204" pitchFamily="18" charset="0"/>
                                    <a:ea typeface="Calibri" panose="020F0502020204030204" pitchFamily="34" charset="0"/>
                                    <a:cs typeface="Calibri Light" panose="020F0302020204030204" pitchFamily="34" charset="0"/>
                                  </a:rPr>
                                  <m:t>)</m:t>
                                </m:r>
                              </m:e>
                            </m:d>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𝑣</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r>
                                  <a:rPr lang="en-US" sz="1800">
                                    <a:effectLst/>
                                    <a:latin typeface="Cambria Math" panose="02040503050406030204" pitchFamily="18" charset="0"/>
                                    <a:ea typeface="Calibri" panose="020F0502020204030204" pitchFamily="34" charset="0"/>
                                    <a:cs typeface="Calibri Light" panose="020F0302020204030204" pitchFamily="34" charset="0"/>
                                  </a:rPr>
                                  <m:t>)</m:t>
                                </m:r>
                              </m:e>
                            </m:d>
                          </m:e>
                        </m:mr>
                      </m:m>
                    </m:oMath>
                  </m:oMathPara>
                </a14:m>
                <a:endParaRPr lang="en-US" sz="2800" dirty="0">
                  <a:effectLst/>
                  <a:latin typeface="Calibri" panose="020F0502020204030204" pitchFamily="34" charset="0"/>
                  <a:ea typeface="Calibri" panose="020F0502020204030204" pitchFamily="34" charset="0"/>
                </a:endParaRPr>
              </a:p>
              <a:p>
                <a:pPr>
                  <a:spcAft>
                    <a:spcPts val="1200"/>
                  </a:spcAft>
                </a:pPr>
                <a:r>
                  <a:rPr lang="en-US" sz="1800" dirty="0">
                    <a:effectLst/>
                    <a:latin typeface="Calibri Light" panose="020F0302020204030204" pitchFamily="34" charset="0"/>
                    <a:ea typeface="Calibri" panose="020F0502020204030204" pitchFamily="34" charset="0"/>
                  </a:rPr>
                  <a:t>Where two separate sums dependent upon the size of the eigenvalues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𝜇</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rPr>
                  <a:t>  are obtained in comparison to a fixed user-defined number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𝜇</m:t>
                    </m:r>
                    <m:r>
                      <a:rPr lang="en-US" sz="1800">
                        <a:effectLst/>
                        <a:latin typeface="Cambria Math" panose="02040503050406030204" pitchFamily="18" charset="0"/>
                        <a:ea typeface="Calibri" panose="020F0502020204030204" pitchFamily="34" charset="0"/>
                        <a:cs typeface="Calibri Light" panose="020F0302020204030204" pitchFamily="34" charset="0"/>
                      </a:rPr>
                      <m:t>&gt;0</m:t>
                    </m:r>
                  </m:oMath>
                </a14:m>
                <a:r>
                  <a:rPr lang="en-US" sz="1800" dirty="0">
                    <a:effectLst/>
                    <a:latin typeface="Calibri Light" panose="020F0302020204030204" pitchFamily="34" charset="0"/>
                    <a:ea typeface="Calibri" panose="020F0502020204030204" pitchFamily="34" charset="0"/>
                  </a:rPr>
                  <a:t>.  the chosen value of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𝜇</m:t>
                    </m:r>
                  </m:oMath>
                </a14:m>
                <a:r>
                  <a:rPr lang="en-US" sz="1800" dirty="0">
                    <a:effectLst/>
                    <a:latin typeface="Calibri Light" panose="020F0302020204030204" pitchFamily="34" charset="0"/>
                    <a:ea typeface="Calibri" panose="020F0502020204030204" pitchFamily="34" charset="0"/>
                  </a:rPr>
                  <a:t> is a trade-off between the run time and the error in calculating the pseudoinverse. The matrix inversion algorithm returns </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p>
                      </m:s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𝑤</m:t>
                      </m:r>
                      <m:r>
                        <a:rPr lang="en-US" sz="1800">
                          <a:effectLst/>
                          <a:latin typeface="Cambria Math" panose="02040503050406030204" pitchFamily="18" charset="0"/>
                          <a:ea typeface="Calibri" panose="020F0502020204030204" pitchFamily="34" charset="0"/>
                          <a:cs typeface="Calibri Light" panose="020F0302020204030204" pitchFamily="34" charset="0"/>
                        </a:rPr>
                        <m:t>⟩=</m:t>
                      </m:r>
                      <m:nary>
                        <m:naryPr>
                          <m:chr m:val="∑"/>
                          <m:limLoc m:val="undOvr"/>
                          <m:grow m:val="on"/>
                          <m:supHide m:val="on"/>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naryPr>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𝜇</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r>
                                <a:rPr lang="en-US" sz="1800">
                                  <a:effectLst/>
                                  <a:latin typeface="Cambria Math" panose="02040503050406030204" pitchFamily="18" charset="0"/>
                                  <a:ea typeface="Calibri" panose="020F0502020204030204" pitchFamily="34" charset="0"/>
                                  <a:cs typeface="Calibri Light" panose="020F0302020204030204" pitchFamily="34" charset="0"/>
                                </a:rPr>
                                <m:t>)</m:t>
                              </m:r>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𝜇</m:t>
                          </m:r>
                        </m:sub>
                        <m:sup/>
                        <m:e>
                          <m:r>
                            <a:rPr lang="en-US" sz="1800">
                              <a:effectLst/>
                              <a:latin typeface="Cambria Math" panose="02040503050406030204" pitchFamily="18" charset="0"/>
                              <a:ea typeface="Calibri" panose="020F0502020204030204" pitchFamily="34" charset="0"/>
                              <a:cs typeface="Calibri Light" panose="020F0302020204030204" pitchFamily="34" charset="0"/>
                            </a:rPr>
                            <m:t> </m:t>
                          </m:r>
                        </m:e>
                      </m:nary>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𝛽</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num>
                        <m:den>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𝜇</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r>
                            <a:rPr lang="en-US" sz="1800">
                              <a:effectLst/>
                              <a:latin typeface="Cambria Math" panose="02040503050406030204" pitchFamily="18" charset="0"/>
                              <a:ea typeface="Calibri" panose="020F0502020204030204" pitchFamily="34" charset="0"/>
                              <a:cs typeface="Calibri Light" panose="020F0302020204030204" pitchFamily="34" charset="0"/>
                            </a:rPr>
                            <m:t>)</m:t>
                          </m:r>
                        </m:den>
                      </m:f>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𝑣</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r>
                            <a:rPr lang="en-US" sz="1800">
                              <a:effectLst/>
                              <a:latin typeface="Cambria Math" panose="02040503050406030204" pitchFamily="18" charset="0"/>
                              <a:ea typeface="Calibri" panose="020F0502020204030204" pitchFamily="34" charset="0"/>
                              <a:cs typeface="Calibri Light" panose="020F0302020204030204" pitchFamily="34" charset="0"/>
                            </a:rPr>
                            <m:t>)</m:t>
                          </m:r>
                        </m:e>
                      </m:d>
                    </m:oMath>
                  </m:oMathPara>
                </a14:m>
                <a:endParaRPr lang="en-US" sz="2800" dirty="0">
                  <a:effectLst/>
                  <a:latin typeface="Calibri" panose="020F0502020204030204" pitchFamily="34" charset="0"/>
                  <a:ea typeface="Calibri" panose="020F0502020204030204" pitchFamily="34" charset="0"/>
                </a:endParaRPr>
              </a:p>
              <a:p>
                <a:pPr>
                  <a:spcAft>
                    <a:spcPts val="1200"/>
                  </a:spcAft>
                </a:pPr>
                <a:r>
                  <a:rPr lang="en-US" sz="1800" dirty="0">
                    <a:effectLst/>
                    <a:latin typeface="Calibri Light" panose="020F0302020204030204" pitchFamily="34" charset="0"/>
                    <a:ea typeface="Calibri" panose="020F0502020204030204" pitchFamily="34" charset="0"/>
                  </a:rPr>
                  <a:t>where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𝛽</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𝑣</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𝑤</m:t>
                        </m:r>
                      </m:e>
                    </m:d>
                  </m:oMath>
                </a14:m>
                <a:r>
                  <a:rPr lang="en-US" sz="1800" dirty="0">
                    <a:effectLst/>
                    <a:latin typeface="Calibri Light" panose="020F0302020204030204" pitchFamily="34" charset="0"/>
                    <a:ea typeface="Calibri" panose="020F0502020204030204" pitchFamily="34" charset="0"/>
                  </a:rPr>
                  <a:t>. Preparing the input state </a:t>
                </a:r>
                <a14:m>
                  <m:oMath xmlns:m="http://schemas.openxmlformats.org/officeDocument/2006/math">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𝑤</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rPr>
                  <a:t> (via for example </a:t>
                </a:r>
                <a:r>
                  <a:rPr lang="en-US" sz="1800" dirty="0" err="1">
                    <a:effectLst/>
                    <a:latin typeface="Calibri Light" panose="020F0302020204030204" pitchFamily="34" charset="0"/>
                    <a:ea typeface="Calibri" panose="020F0502020204030204" pitchFamily="34" charset="0"/>
                  </a:rPr>
                  <a:t>qRAM</a:t>
                </a:r>
                <a:r>
                  <a:rPr lang="en-US" sz="1800" dirty="0">
                    <a:effectLst/>
                    <a:latin typeface="Calibri Light" panose="020F0302020204030204" pitchFamily="34" charset="0"/>
                    <a:ea typeface="Calibri" panose="020F0502020204030204" pitchFamily="34" charset="0"/>
                  </a:rPr>
                  <a:t>) and consider it in the </a:t>
                </a:r>
                <a:r>
                  <a:rPr lang="en-US" sz="1800" dirty="0" err="1">
                    <a:effectLst/>
                    <a:latin typeface="Calibri Light" panose="020F0302020204030204" pitchFamily="34" charset="0"/>
                    <a:ea typeface="Calibri" panose="020F0502020204030204" pitchFamily="34" charset="0"/>
                  </a:rPr>
                  <a:t>eigenbasis</a:t>
                </a:r>
                <a:r>
                  <a:rPr lang="en-US" sz="1800" dirty="0">
                    <a:effectLst/>
                    <a:latin typeface="Calibri Light" panose="020F0302020204030204" pitchFamily="34" charset="0"/>
                    <a:ea typeface="Calibri" panose="020F0502020204030204" pitchFamily="34" charset="0"/>
                  </a:rPr>
                  <a:t> of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oMath>
                </a14:m>
                <a:r>
                  <a:rPr lang="en-US" sz="1800" dirty="0">
                    <a:effectLst/>
                    <a:latin typeface="Calibri Light" panose="020F0302020204030204" pitchFamily="34" charset="0"/>
                    <a:ea typeface="Calibri" panose="020F0502020204030204" pitchFamily="34" charset="0"/>
                  </a:rPr>
                  <a:t>, i.e. so that </a:t>
                </a:r>
                <a14:m>
                  <m:oMath xmlns:m="http://schemas.openxmlformats.org/officeDocument/2006/math">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r>
                          <a:rPr lang="en-US" sz="1800" i="1">
                            <a:effectLst/>
                            <a:latin typeface="Cambria Math" panose="02040503050406030204" pitchFamily="18" charset="0"/>
                            <a:ea typeface="Calibri" panose="020F0502020204030204" pitchFamily="34" charset="0"/>
                            <a:cs typeface="Calibri Light" panose="020F0302020204030204" pitchFamily="34" charset="0"/>
                          </a:rPr>
                          <m:t>𝑤</m:t>
                        </m:r>
                      </m:e>
                    </m:d>
                    <m:r>
                      <a:rPr lang="en-US" sz="1800">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𝛽</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𝑣</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e>
                        </m:d>
                      </m:e>
                    </m:d>
                    <m:r>
                      <a:rPr lang="en-US" sz="1800" i="1">
                        <a:effectLst/>
                        <a:latin typeface="Cambria Math" panose="02040503050406030204" pitchFamily="18" charset="0"/>
                        <a:ea typeface="Calibri" panose="020F0502020204030204" pitchFamily="34" charset="0"/>
                        <a:cs typeface="Calibri Light" panose="020F0302020204030204" pitchFamily="34" charset="0"/>
                      </a:rPr>
                      <m:t>  </m:t>
                    </m:r>
                  </m:oMath>
                </a14:m>
                <a:r>
                  <a:rPr lang="en-US" sz="1800" dirty="0">
                    <a:effectLst/>
                    <a:latin typeface="Calibri Light" panose="020F0302020204030204" pitchFamily="34" charset="0"/>
                    <a:ea typeface="Calibri" panose="020F0502020204030204" pitchFamily="34" charset="0"/>
                  </a:rPr>
                  <a:t>, </a:t>
                </a:r>
                <a:r>
                  <a:rPr lang="en-US" sz="1800" dirty="0" err="1">
                    <a:effectLst/>
                    <a:latin typeface="Calibri Light" panose="020F0302020204030204" pitchFamily="34" charset="0"/>
                    <a:ea typeface="Calibri" panose="020F0502020204030204" pitchFamily="34" charset="0"/>
                  </a:rPr>
                  <a:t>qHeb</a:t>
                </a:r>
                <a:r>
                  <a:rPr lang="en-US" sz="1800" dirty="0">
                    <a:effectLst/>
                    <a:latin typeface="Calibri Light" panose="020F0302020204030204" pitchFamily="34" charset="0"/>
                    <a:ea typeface="Calibri" panose="020F0502020204030204" pitchFamily="34" charset="0"/>
                  </a:rPr>
                  <a:t> algorithm is then used to perform quantum phase estimation, allowing to </a:t>
                </a:r>
                <a:r>
                  <a:rPr lang="en-US" sz="1800" dirty="0" err="1">
                    <a:effectLst/>
                    <a:latin typeface="Calibri Light" panose="020F0302020204030204" pitchFamily="34" charset="0"/>
                    <a:ea typeface="Calibri" panose="020F0502020204030204" pitchFamily="34" charset="0"/>
                  </a:rPr>
                  <a:t>ob</a:t>
                </a:r>
                <a14:m>
                  <m:oMath xmlns:m="http://schemas.openxmlformats.org/officeDocument/2006/math">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tain</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rPr>
                  <a:t>an approximation of the eigenvalue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𝜇</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𝐴</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rPr>
                  <a:t> to precision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𝜖</m:t>
                    </m:r>
                  </m:oMath>
                </a14:m>
                <a:r>
                  <a:rPr lang="en-US" sz="1800" dirty="0">
                    <a:effectLst/>
                    <a:latin typeface="Calibri Light" panose="020F0302020204030204" pitchFamily="34" charset="0"/>
                    <a:ea typeface="Calibri" panose="020F0502020204030204" pitchFamily="34" charset="0"/>
                  </a:rPr>
                  <a:t> in a subset limited to eigenvalues larger than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𝜇</m:t>
                    </m:r>
                  </m:oMath>
                </a14:m>
                <a:r>
                  <a:rPr lang="en-US" sz="1800" dirty="0">
                    <a:effectLst/>
                    <a:latin typeface="Calibri Light" panose="020F0302020204030204" pitchFamily="34" charset="0"/>
                    <a:ea typeface="Calibri" panose="020F0502020204030204" pitchFamily="34" charset="0"/>
                  </a:rPr>
                  <a:t> .  The output of </a:t>
                </a:r>
                <a:r>
                  <a:rPr lang="en-US" sz="1800" dirty="0" err="1">
                    <a:effectLst/>
                    <a:latin typeface="Calibri Light" panose="020F0302020204030204" pitchFamily="34" charset="0"/>
                    <a:ea typeface="Calibri" panose="020F0502020204030204" pitchFamily="34" charset="0"/>
                  </a:rPr>
                  <a:t>qHop</a:t>
                </a:r>
                <a:r>
                  <a:rPr lang="en-US" sz="1800" dirty="0">
                    <a:effectLst/>
                    <a:latin typeface="Calibri Light" panose="020F0302020204030204" pitchFamily="34" charset="0"/>
                    <a:ea typeface="Calibri" panose="020F0502020204030204" pitchFamily="34" charset="0"/>
                  </a:rPr>
                  <a:t> algorithm is the pure state </a:t>
                </a:r>
                <a14:m>
                  <m:oMath xmlns:m="http://schemas.openxmlformats.org/officeDocument/2006/math">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𝑣</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rPr>
                  <a:t>)</a:t>
                </a:r>
                <a:endParaRPr lang="en-US" sz="2000" dirty="0">
                  <a:effectLst/>
                  <a:latin typeface="Calibri" panose="020F0502020204030204" pitchFamily="34" charset="0"/>
                  <a:ea typeface="Calibri" panose="020F0502020204030204" pitchFamily="34" charset="0"/>
                </a:endParaRPr>
              </a:p>
            </p:txBody>
          </p:sp>
        </mc:Choice>
        <mc:Fallback xmlns="">
          <p:sp>
            <p:nvSpPr>
              <p:cNvPr id="5" name="CasellaDiTesto 4">
                <a:extLst>
                  <a:ext uri="{FF2B5EF4-FFF2-40B4-BE49-F238E27FC236}">
                    <a16:creationId xmlns:a16="http://schemas.microsoft.com/office/drawing/2014/main" id="{A2DA6583-F73D-4651-9E0A-F9FFE3ECA748}"/>
                  </a:ext>
                </a:extLst>
              </p:cNvPr>
              <p:cNvSpPr txBox="1">
                <a:spLocks noRot="1" noChangeAspect="1" noMove="1" noResize="1" noEditPoints="1" noAdjustHandles="1" noChangeArrowheads="1" noChangeShapeType="1" noTextEdit="1"/>
              </p:cNvSpPr>
              <p:nvPr/>
            </p:nvSpPr>
            <p:spPr>
              <a:xfrm>
                <a:off x="501520" y="1331817"/>
                <a:ext cx="11301704" cy="5375959"/>
              </a:xfrm>
              <a:prstGeom prst="rect">
                <a:avLst/>
              </a:prstGeom>
              <a:blipFill>
                <a:blip r:embed="rId2"/>
                <a:stretch>
                  <a:fillRect l="-431" t="-567" r="-485" b="-907"/>
                </a:stretch>
              </a:blipFill>
            </p:spPr>
            <p:txBody>
              <a:bodyPr/>
              <a:lstStyle/>
              <a:p>
                <a:r>
                  <a:rPr lang="en-US">
                    <a:noFill/>
                  </a:rPr>
                  <a:t> </a:t>
                </a:r>
              </a:p>
            </p:txBody>
          </p:sp>
        </mc:Fallback>
      </mc:AlternateContent>
      <p:sp>
        <p:nvSpPr>
          <p:cNvPr id="6" name="CasellaDiTesto 5">
            <a:extLst>
              <a:ext uri="{FF2B5EF4-FFF2-40B4-BE49-F238E27FC236}">
                <a16:creationId xmlns:a16="http://schemas.microsoft.com/office/drawing/2014/main" id="{7C667214-1574-47A7-AB50-C47263D0C1F3}"/>
              </a:ext>
            </a:extLst>
          </p:cNvPr>
          <p:cNvSpPr txBox="1"/>
          <p:nvPr/>
        </p:nvSpPr>
        <p:spPr>
          <a:xfrm>
            <a:off x="4730621" y="195943"/>
            <a:ext cx="7641772" cy="769441"/>
          </a:xfrm>
          <a:prstGeom prst="rect">
            <a:avLst/>
          </a:prstGeom>
          <a:noFill/>
        </p:spPr>
        <p:txBody>
          <a:bodyPr wrap="square" rtlCol="0">
            <a:spAutoFit/>
          </a:bodyPr>
          <a:lstStyle/>
          <a:p>
            <a:r>
              <a:rPr lang="it-IT" sz="4400" dirty="0" err="1">
                <a:solidFill>
                  <a:schemeClr val="accent1">
                    <a:lumMod val="50000"/>
                  </a:schemeClr>
                </a:solidFill>
                <a:latin typeface="+mj-lt"/>
              </a:rPr>
              <a:t>qHop</a:t>
            </a:r>
            <a:r>
              <a:rPr lang="it-IT" sz="4400" dirty="0">
                <a:solidFill>
                  <a:schemeClr val="accent1">
                    <a:lumMod val="50000"/>
                  </a:schemeClr>
                </a:solidFill>
                <a:latin typeface="+mj-lt"/>
              </a:rPr>
              <a:t> -3</a:t>
            </a:r>
            <a:endParaRPr lang="en-US" sz="4400" dirty="0">
              <a:solidFill>
                <a:schemeClr val="accent1">
                  <a:lumMod val="50000"/>
                </a:schemeClr>
              </a:solidFill>
              <a:latin typeface="+mj-lt"/>
            </a:endParaRPr>
          </a:p>
        </p:txBody>
      </p:sp>
    </p:spTree>
    <p:extLst>
      <p:ext uri="{BB962C8B-B14F-4D97-AF65-F5344CB8AC3E}">
        <p14:creationId xmlns:p14="http://schemas.microsoft.com/office/powerpoint/2010/main" val="12088525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635010C2-91C8-4BF7-8456-4CCAFBA814B7}"/>
              </a:ext>
            </a:extLst>
          </p:cNvPr>
          <p:cNvSpPr txBox="1"/>
          <p:nvPr/>
        </p:nvSpPr>
        <p:spPr>
          <a:xfrm>
            <a:off x="2864498" y="363894"/>
            <a:ext cx="7641772" cy="769441"/>
          </a:xfrm>
          <a:prstGeom prst="rect">
            <a:avLst/>
          </a:prstGeom>
          <a:noFill/>
        </p:spPr>
        <p:txBody>
          <a:bodyPr wrap="square" rtlCol="0">
            <a:spAutoFit/>
          </a:bodyPr>
          <a:lstStyle/>
          <a:p>
            <a:r>
              <a:rPr lang="it-IT" sz="4400" dirty="0" err="1">
                <a:solidFill>
                  <a:schemeClr val="accent1">
                    <a:lumMod val="50000"/>
                  </a:schemeClr>
                </a:solidFill>
                <a:latin typeface="+mj-lt"/>
              </a:rPr>
              <a:t>Efficiency</a:t>
            </a:r>
            <a:r>
              <a:rPr lang="it-IT" sz="4400" dirty="0">
                <a:solidFill>
                  <a:schemeClr val="accent1">
                    <a:lumMod val="50000"/>
                  </a:schemeClr>
                </a:solidFill>
                <a:latin typeface="+mj-lt"/>
              </a:rPr>
              <a:t> and </a:t>
            </a:r>
            <a:r>
              <a:rPr lang="it-IT" sz="4400" dirty="0" err="1">
                <a:solidFill>
                  <a:schemeClr val="accent1">
                    <a:lumMod val="50000"/>
                  </a:schemeClr>
                </a:solidFill>
                <a:latin typeface="+mj-lt"/>
              </a:rPr>
              <a:t>comparison</a:t>
            </a:r>
            <a:r>
              <a:rPr lang="it-IT" sz="4400" dirty="0">
                <a:solidFill>
                  <a:schemeClr val="accent1">
                    <a:lumMod val="50000"/>
                  </a:schemeClr>
                </a:solidFill>
                <a:latin typeface="+mj-lt"/>
              </a:rPr>
              <a:t> -1</a:t>
            </a:r>
            <a:endParaRPr lang="en-US" sz="4400" dirty="0">
              <a:solidFill>
                <a:schemeClr val="accent1">
                  <a:lumMod val="50000"/>
                </a:schemeClr>
              </a:solidFill>
              <a:latin typeface="+mj-lt"/>
            </a:endParaRPr>
          </a:p>
        </p:txBody>
      </p:sp>
      <p:sp>
        <p:nvSpPr>
          <p:cNvPr id="4" name="CasellaDiTesto 3">
            <a:extLst>
              <a:ext uri="{FF2B5EF4-FFF2-40B4-BE49-F238E27FC236}">
                <a16:creationId xmlns:a16="http://schemas.microsoft.com/office/drawing/2014/main" id="{F3E3D34E-962A-408D-A716-F4C1CACAEE5E}"/>
              </a:ext>
            </a:extLst>
          </p:cNvPr>
          <p:cNvSpPr txBox="1"/>
          <p:nvPr/>
        </p:nvSpPr>
        <p:spPr>
          <a:xfrm>
            <a:off x="1802034" y="2056347"/>
            <a:ext cx="9351606" cy="3230115"/>
          </a:xfrm>
          <a:prstGeom prst="rect">
            <a:avLst/>
          </a:prstGeom>
          <a:noFill/>
        </p:spPr>
        <p:txBody>
          <a:bodyPr wrap="square">
            <a:spAutoFit/>
          </a:bodyPr>
          <a:lstStyle/>
          <a:p>
            <a:r>
              <a:rPr lang="en-US" sz="3200" dirty="0">
                <a:effectLst/>
                <a:ea typeface="Calibri" panose="020F0502020204030204" pitchFamily="34" charset="0"/>
              </a:rPr>
              <a:t>The efficiency of the algorithm is dependent on three phases</a:t>
            </a:r>
          </a:p>
          <a:p>
            <a:pPr marL="342900" lvl="0" indent="-342900">
              <a:lnSpc>
                <a:spcPct val="107000"/>
              </a:lnSpc>
              <a:buFont typeface="+mj-lt"/>
              <a:buAutoNum type="arabicPeriod"/>
            </a:pPr>
            <a:r>
              <a:rPr lang="en-US" sz="3200" dirty="0">
                <a:effectLst/>
                <a:ea typeface="Calibri" panose="020F0502020204030204" pitchFamily="34" charset="0"/>
                <a:cs typeface="Arial" panose="020B0604020202020204" pitchFamily="34" charset="0"/>
              </a:rPr>
              <a:t>Input</a:t>
            </a:r>
          </a:p>
          <a:p>
            <a:pPr marL="342900" lvl="0" indent="-342900">
              <a:lnSpc>
                <a:spcPct val="107000"/>
              </a:lnSpc>
              <a:buFont typeface="+mj-lt"/>
              <a:buAutoNum type="arabicPeriod"/>
            </a:pPr>
            <a:r>
              <a:rPr lang="en-US" sz="3200" dirty="0">
                <a:effectLst/>
                <a:ea typeface="Calibri" panose="020F0502020204030204" pitchFamily="34" charset="0"/>
                <a:cs typeface="Arial" panose="020B0604020202020204" pitchFamily="34" charset="0"/>
              </a:rPr>
              <a:t>Computation</a:t>
            </a:r>
          </a:p>
          <a:p>
            <a:pPr marL="228600" lvl="0" indent="-228600">
              <a:lnSpc>
                <a:spcPct val="107000"/>
              </a:lnSpc>
              <a:spcAft>
                <a:spcPts val="800"/>
              </a:spcAft>
              <a:buAutoNum type="arabicPeriod" startAt="3"/>
            </a:pPr>
            <a:r>
              <a:rPr lang="en-US" sz="3200" dirty="0">
                <a:effectLst/>
                <a:ea typeface="Calibri" panose="020F0502020204030204" pitchFamily="34" charset="0"/>
                <a:cs typeface="Arial" panose="020B0604020202020204" pitchFamily="34" charset="0"/>
              </a:rPr>
              <a:t> Output</a:t>
            </a:r>
            <a:br>
              <a:rPr lang="en-US" dirty="0">
                <a:effectLst/>
                <a:ea typeface="Calibri" panose="020F0502020204030204" pitchFamily="34" charset="0"/>
                <a:cs typeface="Arial" panose="020B0604020202020204" pitchFamily="34" charset="0"/>
              </a:rPr>
            </a:br>
            <a:endParaRPr lang="en-US" dirty="0">
              <a:effectLst/>
              <a:ea typeface="Calibri" panose="020F0502020204030204" pitchFamily="34" charset="0"/>
              <a:cs typeface="Arial" panose="020B0604020202020204" pitchFamily="34" charset="0"/>
            </a:endParaRPr>
          </a:p>
          <a:p>
            <a:pPr lvl="0">
              <a:lnSpc>
                <a:spcPct val="107000"/>
              </a:lnSpc>
              <a:spcAft>
                <a:spcPts val="800"/>
              </a:spcAft>
            </a:pPr>
            <a:endParaRPr lang="en-US" sz="11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2059085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1A8895A0-2EAB-4DF6-8338-59FCAC0102E1}"/>
                  </a:ext>
                </a:extLst>
              </p:cNvPr>
              <p:cNvSpPr txBox="1"/>
              <p:nvPr/>
            </p:nvSpPr>
            <p:spPr>
              <a:xfrm>
                <a:off x="353008" y="627030"/>
                <a:ext cx="11485984" cy="6550896"/>
              </a:xfrm>
              <a:prstGeom prst="rect">
                <a:avLst/>
              </a:prstGeom>
              <a:noFill/>
            </p:spPr>
            <p:txBody>
              <a:bodyPr wrap="square">
                <a:spAutoFit/>
              </a:bodyPr>
              <a:lstStyle/>
              <a:p>
                <a:pPr lvl="0">
                  <a:lnSpc>
                    <a:spcPct val="107000"/>
                  </a:lnSpc>
                  <a:spcAft>
                    <a:spcPts val="800"/>
                  </a:spcAft>
                </a:pPr>
                <a:endParaRPr lang="en-US" dirty="0">
                  <a:effectLst/>
                  <a:ea typeface="Calibri" panose="020F0502020204030204" pitchFamily="34" charset="0"/>
                </a:endParaRPr>
              </a:p>
              <a:p>
                <a:pPr lvl="0">
                  <a:lnSpc>
                    <a:spcPct val="107000"/>
                  </a:lnSpc>
                  <a:spcAft>
                    <a:spcPts val="800"/>
                  </a:spcAft>
                </a:pPr>
                <a:r>
                  <a:rPr lang="en-US" dirty="0">
                    <a:effectLst/>
                    <a:ea typeface="Calibri" panose="020F0502020204030204" pitchFamily="34" charset="0"/>
                  </a:rPr>
                  <a:t>Computation phase </a:t>
                </a:r>
              </a:p>
              <a:p>
                <a:pPr lvl="0">
                  <a:lnSpc>
                    <a:spcPct val="107000"/>
                  </a:lnSpc>
                  <a:spcAft>
                    <a:spcPts val="800"/>
                  </a:spcAft>
                </a:pPr>
                <a:r>
                  <a:rPr lang="en-US" dirty="0">
                    <a:effectLst/>
                    <a:ea typeface="Calibri" panose="020F0502020204030204" pitchFamily="34" charset="0"/>
                    <a:cs typeface="Arial" panose="020B0604020202020204" pitchFamily="34" charset="0"/>
                  </a:rPr>
                  <a:t>1.  Phase estimation requires to perform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𝒪</m:t>
                    </m:r>
                    <m:d>
                      <m:dPr>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f>
                          <m:fPr>
                            <m:ctrlPr>
                              <a:rPr lang="en-US" i="1">
                                <a:effectLst/>
                                <a:latin typeface="Cambria Math" panose="02040503050406030204" pitchFamily="18" charset="0"/>
                                <a:ea typeface="Calibri" panose="020F0502020204030204" pitchFamily="34" charset="0"/>
                                <a:cs typeface="Calibri Light" panose="020F0302020204030204" pitchFamily="34" charset="0"/>
                              </a:rPr>
                            </m:ctrlPr>
                          </m:fPr>
                          <m:num>
                            <m:r>
                              <a:rPr lang="en-US">
                                <a:effectLst/>
                                <a:latin typeface="Cambria Math" panose="02040503050406030204" pitchFamily="18" charset="0"/>
                                <a:ea typeface="Calibri" panose="020F0502020204030204" pitchFamily="34" charset="0"/>
                                <a:cs typeface="Calibri Light" panose="020F0302020204030204" pitchFamily="34" charset="0"/>
                              </a:rPr>
                              <m:t>1</m:t>
                            </m:r>
                          </m:num>
                          <m:den>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𝜖</m:t>
                                </m:r>
                              </m:e>
                              <m:sup>
                                <m:r>
                                  <a:rPr lang="en-US">
                                    <a:effectLst/>
                                    <a:latin typeface="Cambria Math" panose="02040503050406030204" pitchFamily="18" charset="0"/>
                                    <a:ea typeface="Calibri" panose="020F0502020204030204" pitchFamily="34" charset="0"/>
                                    <a:cs typeface="Calibri Light" panose="020F0302020204030204" pitchFamily="34" charset="0"/>
                                  </a:rPr>
                                  <m:t>3</m:t>
                                </m:r>
                              </m:sup>
                            </m:sSup>
                          </m:den>
                        </m:f>
                      </m:e>
                    </m:d>
                  </m:oMath>
                </a14:m>
                <a:r>
                  <a:rPr lang="en-US" dirty="0">
                    <a:effectLst/>
                    <a:ea typeface="Calibri" panose="020F0502020204030204" pitchFamily="34" charset="0"/>
                    <a:cs typeface="Arial" panose="020B0604020202020204" pitchFamily="34" charset="0"/>
                  </a:rPr>
                  <a:t> calls to </a:t>
                </a:r>
                <a14:m>
                  <m:oMath xmlns:m="http://schemas.openxmlformats.org/officeDocument/2006/math">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𝑒</m:t>
                        </m:r>
                      </m:e>
                      <m:sup>
                        <m:r>
                          <a:rPr lang="en-US" i="1">
                            <a:effectLst/>
                            <a:latin typeface="Cambria Math" panose="02040503050406030204" pitchFamily="18" charset="0"/>
                            <a:ea typeface="Calibri" panose="020F0502020204030204" pitchFamily="34" charset="0"/>
                            <a:cs typeface="Calibri Light" panose="020F0302020204030204" pitchFamily="34" charset="0"/>
                          </a:rPr>
                          <m:t>𝑖𝐴𝑡</m:t>
                        </m:r>
                      </m:sup>
                    </m:sSup>
                  </m:oMath>
                </a14:m>
                <a:endParaRPr lang="en-US" dirty="0">
                  <a:effectLst/>
                  <a:ea typeface="Calibri" panose="020F0502020204030204" pitchFamily="34" charset="0"/>
                  <a:cs typeface="Arial" panose="020B0604020202020204" pitchFamily="34" charset="0"/>
                </a:endParaRPr>
              </a:p>
              <a:p>
                <a:pPr marL="742950" lvl="1" indent="-285750">
                  <a:lnSpc>
                    <a:spcPct val="107000"/>
                  </a:lnSpc>
                  <a:buFont typeface="+mj-lt"/>
                  <a:buAutoNum type="alphaLcPeriod"/>
                </a:pPr>
                <a:r>
                  <a:rPr lang="en-US" dirty="0">
                    <a:effectLst/>
                    <a:ea typeface="Calibri" panose="020F0502020204030204" pitchFamily="34" charset="0"/>
                    <a:cs typeface="Arial" panose="020B0604020202020204" pitchFamily="34" charset="0"/>
                  </a:rPr>
                  <a:t>decompose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𝐴</m:t>
                    </m:r>
                  </m:oMath>
                </a14:m>
                <a:r>
                  <a:rPr lang="en-US" dirty="0">
                    <a:effectLst/>
                    <a:ea typeface="Calibri" panose="020F0502020204030204" pitchFamily="34" charset="0"/>
                    <a:cs typeface="Arial" panose="020B0604020202020204" pitchFamily="34" charset="0"/>
                  </a:rPr>
                  <a:t> into three block matrices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𝐵</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𝐶</m:t>
                    </m:r>
                  </m:oMath>
                </a14:m>
                <a:r>
                  <a:rPr lang="en-US" dirty="0">
                    <a:effectLst/>
                    <a:ea typeface="Calibri" panose="020F0502020204030204" pitchFamily="34" charset="0"/>
                    <a:cs typeface="Arial" panose="020B0604020202020204" pitchFamily="34" charset="0"/>
                  </a:rPr>
                  <a:t>, and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𝐷</m:t>
                    </m:r>
                  </m:oMath>
                </a14:m>
                <a:r>
                  <a:rPr lang="en-US" dirty="0">
                    <a:effectLst/>
                    <a:ea typeface="Times New Roman" panose="02020603050405020304" pitchFamily="18" charset="0"/>
                    <a:cs typeface="Arial" panose="020B0604020202020204" pitchFamily="34" charset="0"/>
                  </a:rPr>
                  <a:t> . </a:t>
                </a:r>
                <a:r>
                  <a:rPr lang="en-US" dirty="0">
                    <a:effectLst/>
                    <a:ea typeface="Calibri" panose="020F0502020204030204" pitchFamily="34" charset="0"/>
                    <a:cs typeface="Arial" panose="020B0604020202020204" pitchFamily="34" charset="0"/>
                  </a:rPr>
                  <a:t>applying for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𝑛</m:t>
                    </m:r>
                  </m:oMath>
                </a14:m>
                <a:r>
                  <a:rPr lang="en-US" dirty="0">
                    <a:effectLst/>
                    <a:ea typeface="Calibri" panose="020F0502020204030204" pitchFamily="34" charset="0"/>
                    <a:cs typeface="Arial" panose="020B0604020202020204" pitchFamily="34" charset="0"/>
                  </a:rPr>
                  <a:t> short times </a:t>
                </a:r>
                <a14:m>
                  <m:oMath xmlns:m="http://schemas.openxmlformats.org/officeDocument/2006/math">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Δ</m:t>
                    </m:r>
                    <m:r>
                      <a:rPr lang="en-US" i="1">
                        <a:effectLst/>
                        <a:latin typeface="Cambria Math" panose="02040503050406030204" pitchFamily="18" charset="0"/>
                        <a:ea typeface="Calibri" panose="020F0502020204030204" pitchFamily="34" charset="0"/>
                        <a:cs typeface="Calibri Light" panose="020F0302020204030204" pitchFamily="34" charset="0"/>
                      </a:rPr>
                      <m:t>𝑡</m:t>
                    </m:r>
                  </m:oMath>
                </a14:m>
                <a:r>
                  <a:rPr lang="en-US" dirty="0">
                    <a:effectLst/>
                    <a:ea typeface="Calibri" panose="020F0502020204030204" pitchFamily="34" charset="0"/>
                    <a:cs typeface="Arial" panose="020B0604020202020204" pitchFamily="34" charset="0"/>
                  </a:rPr>
                  <a:t> the </a:t>
                </a:r>
                <a:r>
                  <a:rPr lang="en-US" dirty="0" err="1">
                    <a:effectLst/>
                    <a:ea typeface="Calibri" panose="020F0502020204030204" pitchFamily="34" charset="0"/>
                    <a:cs typeface="Arial" panose="020B0604020202020204" pitchFamily="34" charset="0"/>
                  </a:rPr>
                  <a:t>unitaries</a:t>
                </a:r>
                <a:r>
                  <a:rPr lang="en-US" dirty="0">
                    <a:effectLst/>
                    <a:ea typeface="Calibri" panose="020F0502020204030204" pitchFamily="34" charset="0"/>
                    <a:cs typeface="Arial" panose="020B0604020202020204" pitchFamily="34" charset="0"/>
                  </a:rPr>
                  <a:t> </a:t>
                </a:r>
                <a14:m>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𝑈</m:t>
                        </m:r>
                      </m:e>
                      <m:sub>
                        <m:r>
                          <a:rPr lang="en-US" i="1">
                            <a:effectLst/>
                            <a:latin typeface="Cambria Math" panose="02040503050406030204" pitchFamily="18" charset="0"/>
                            <a:ea typeface="Calibri" panose="020F0502020204030204" pitchFamily="34" charset="0"/>
                            <a:cs typeface="Calibri Light" panose="020F0302020204030204" pitchFamily="34" charset="0"/>
                          </a:rPr>
                          <m:t>𝐵</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𝐶</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𝐷</m:t>
                        </m:r>
                      </m:sub>
                    </m:sSub>
                  </m:oMath>
                </a14:m>
                <a:r>
                  <a:rPr lang="en-US" dirty="0">
                    <a:effectLst/>
                    <a:ea typeface="Calibri" panose="020F0502020204030204" pitchFamily="34" charset="0"/>
                    <a:cs typeface="Arial" panose="020B0604020202020204" pitchFamily="34" charset="0"/>
                  </a:rPr>
                  <a:t> generated by these block matrices</a:t>
                </a:r>
                <a:r>
                  <a:rPr lang="en-US" dirty="0">
                    <a:ea typeface="Calibri" panose="020F0502020204030204" pitchFamily="34" charset="0"/>
                    <a:cs typeface="Arial" panose="020B0604020202020204" pitchFamily="34" charset="0"/>
                  </a:rPr>
                  <a:t> </a:t>
                </a:r>
                <a:r>
                  <a:rPr lang="en-US" dirty="0">
                    <a:effectLst/>
                    <a:ea typeface="Calibri" panose="020F0502020204030204" pitchFamily="34" charset="0"/>
                    <a:cs typeface="Arial" panose="020B0604020202020204" pitchFamily="34" charset="0"/>
                  </a:rPr>
                  <a:t>requiring a number of steps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𝑛</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𝒪</m:t>
                    </m:r>
                    <m:d>
                      <m:dPr>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sSup>
                          <m:sSup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i="1">
                                <a:effectLst/>
                                <a:latin typeface="Cambria Math" panose="02040503050406030204" pitchFamily="18" charset="0"/>
                                <a:ea typeface="Calibri" panose="020F0502020204030204" pitchFamily="34" charset="0"/>
                                <a:cs typeface="Calibri Light" panose="020F0302020204030204" pitchFamily="34" charset="0"/>
                              </a:rPr>
                              <m:t>𝑡</m:t>
                            </m:r>
                          </m:e>
                          <m:sup>
                            <m:r>
                              <a:rPr lang="en-US">
                                <a:effectLst/>
                                <a:latin typeface="Cambria Math" panose="02040503050406030204" pitchFamily="18" charset="0"/>
                                <a:ea typeface="Calibri" panose="020F0502020204030204" pitchFamily="34" charset="0"/>
                                <a:cs typeface="Calibri Light" panose="020F0302020204030204" pitchFamily="34" charset="0"/>
                              </a:rPr>
                              <m:t>2</m:t>
                            </m:r>
                          </m:sup>
                        </m:sSup>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𝜖</m:t>
                        </m:r>
                      </m:e>
                    </m:d>
                  </m:oMath>
                </a14:m>
                <a:r>
                  <a:rPr lang="en-US" dirty="0">
                    <a:effectLst/>
                    <a:ea typeface="Times New Roman" panose="02020603050405020304" pitchFamily="18" charset="0"/>
                    <a:cs typeface="Arial" panose="020B0604020202020204" pitchFamily="34" charset="0"/>
                  </a:rPr>
                  <a:t>. The decomposition require</a:t>
                </a:r>
                <a:endParaRPr lang="en-US" dirty="0">
                  <a:effectLst/>
                  <a:ea typeface="Calibri" panose="020F0502020204030204" pitchFamily="34" charset="0"/>
                  <a:cs typeface="Arial" panose="020B0604020202020204" pitchFamily="34" charset="0"/>
                </a:endParaRPr>
              </a:p>
              <a:p>
                <a:pPr marL="914400">
                  <a:lnSpc>
                    <a:spcPct val="107000"/>
                  </a:lnSpc>
                </a:pPr>
                <a:r>
                  <a:rPr lang="en-US" dirty="0">
                    <a:effectLst/>
                    <a:ea typeface="Calibri" panose="020F0502020204030204" pitchFamily="34" charset="0"/>
                    <a:cs typeface="Arial" panose="020B0604020202020204" pitchFamily="34" charset="0"/>
                  </a:rPr>
                  <a:t> </a:t>
                </a:r>
              </a:p>
              <a:p>
                <a:pPr marL="1143000" lvl="2" indent="-228600">
                  <a:lnSpc>
                    <a:spcPct val="107000"/>
                  </a:lnSpc>
                  <a:buFont typeface="+mj-lt"/>
                  <a:buAutoNum type="romanLcPeriod"/>
                </a:pPr>
                <a:r>
                  <a:rPr lang="en-US" dirty="0">
                    <a:effectLst/>
                    <a:ea typeface="Calibri" panose="020F0502020204030204" pitchFamily="34" charset="0"/>
                    <a:cs typeface="Arial" panose="020B0604020202020204" pitchFamily="34" charset="0"/>
                  </a:rPr>
                  <a:t>both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𝐵</m:t>
                    </m:r>
                  </m:oMath>
                </a14:m>
                <a:r>
                  <a:rPr lang="en-US" dirty="0">
                    <a:effectLst/>
                    <a:ea typeface="Calibri" panose="020F0502020204030204" pitchFamily="34" charset="0"/>
                    <a:cs typeface="Arial" panose="020B0604020202020204" pitchFamily="34" charset="0"/>
                  </a:rPr>
                  <a:t> and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𝐶</m:t>
                    </m:r>
                  </m:oMath>
                </a14:m>
                <a:r>
                  <a:rPr lang="en-US" dirty="0">
                    <a:effectLst/>
                    <a:ea typeface="Calibri" panose="020F0502020204030204" pitchFamily="34" charset="0"/>
                    <a:cs typeface="Arial" panose="020B0604020202020204" pitchFamily="34" charset="0"/>
                  </a:rPr>
                  <a:t> are sparse matrices use efficient sparse Hamiltonian simulation techniques to evaluate </a:t>
                </a:r>
                <a14:m>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𝑈</m:t>
                        </m:r>
                      </m:e>
                      <m:sub>
                        <m:r>
                          <a:rPr lang="en-US" i="1">
                            <a:effectLst/>
                            <a:latin typeface="Cambria Math" panose="02040503050406030204" pitchFamily="18" charset="0"/>
                            <a:ea typeface="Calibri" panose="020F0502020204030204" pitchFamily="34" charset="0"/>
                            <a:cs typeface="Calibri Light" panose="020F0302020204030204" pitchFamily="34" charset="0"/>
                          </a:rPr>
                          <m:t>𝐵</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𝐶</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Δ</m:t>
                    </m:r>
                    <m:r>
                      <a:rPr lang="en-US" i="1">
                        <a:effectLst/>
                        <a:latin typeface="Cambria Math" panose="02040503050406030204" pitchFamily="18" charset="0"/>
                        <a:ea typeface="Calibri" panose="020F0502020204030204" pitchFamily="34" charset="0"/>
                        <a:cs typeface="Calibri Light" panose="020F0302020204030204" pitchFamily="34" charset="0"/>
                      </a:rPr>
                      <m:t>𝑡</m:t>
                    </m:r>
                    <m:r>
                      <a:rPr lang="en-US">
                        <a:effectLst/>
                        <a:latin typeface="Cambria Math" panose="02040503050406030204" pitchFamily="18" charset="0"/>
                        <a:ea typeface="Calibri" panose="020F0502020204030204" pitchFamily="34" charset="0"/>
                        <a:cs typeface="Calibri Light" panose="020F0302020204030204" pitchFamily="34" charset="0"/>
                      </a:rPr>
                      <m:t>)</m:t>
                    </m:r>
                  </m:oMath>
                </a14:m>
                <a:r>
                  <a:rPr lang="en-US" dirty="0">
                    <a:effectLst/>
                    <a:ea typeface="Calibri" panose="020F0502020204030204" pitchFamily="34" charset="0"/>
                    <a:cs typeface="Arial" panose="020B0604020202020204" pitchFamily="34" charset="0"/>
                  </a:rPr>
                  <a:t> with run time </a:t>
                </a:r>
                <a14:m>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𝑇</m:t>
                        </m:r>
                      </m:e>
                      <m:sub>
                        <m:r>
                          <a:rPr lang="en-US" i="1">
                            <a:effectLst/>
                            <a:latin typeface="Cambria Math" panose="02040503050406030204" pitchFamily="18" charset="0"/>
                            <a:ea typeface="Calibri" panose="020F0502020204030204" pitchFamily="34" charset="0"/>
                            <a:cs typeface="Calibri Light" panose="020F0302020204030204" pitchFamily="34" charset="0"/>
                          </a:rPr>
                          <m:t>𝐵</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𝐶</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oMath>
                </a14:m>
                <a:r>
                  <a:rPr lang="en-US" dirty="0">
                    <a:effectLst/>
                    <a:ea typeface="Calibri" panose="020F0502020204030204" pitchFamily="34" charset="0"/>
                    <a:cs typeface="Arial" panose="020B0604020202020204" pitchFamily="34" charset="0"/>
                  </a:rPr>
                  <a:t>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𝒪</m:t>
                    </m:r>
                    <m:d>
                      <m:dPr>
                        <m:end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d>
                  </m:oMath>
                </a14:m>
                <a:r>
                  <a:rPr lang="en-US" dirty="0">
                    <a:effectLst/>
                    <a:ea typeface="Calibri" panose="020F0502020204030204" pitchFamily="34" charset="0"/>
                    <a:cs typeface="Arial" panose="020B0604020202020204" pitchFamily="34" charset="0"/>
                  </a:rPr>
                  <a:t> poly </a:t>
                </a:r>
                <a14:m>
                  <m:oMath xmlns:m="http://schemas.openxmlformats.org/officeDocument/2006/math">
                    <m:d>
                      <m:dPr>
                        <m:beg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d>
                          <m:dPr>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Δ</m:t>
                            </m:r>
                            <m:r>
                              <a:rPr lang="en-US" i="1">
                                <a:effectLst/>
                                <a:latin typeface="Cambria Math" panose="02040503050406030204" pitchFamily="18" charset="0"/>
                                <a:ea typeface="Calibri" panose="020F0502020204030204" pitchFamily="34" charset="0"/>
                                <a:cs typeface="Calibri Light" panose="020F0302020204030204" pitchFamily="34" charset="0"/>
                              </a:rPr>
                              <m:t>𝑡</m:t>
                            </m:r>
                            <m:r>
                              <a:rPr lang="en-US">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log</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𝑑</m:t>
                            </m:r>
                            <m:r>
                              <a:rPr lang="en-US">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log</m:t>
                            </m:r>
                            <m:r>
                              <a:rPr lang="en-US">
                                <a:effectLst/>
                                <a:latin typeface="Cambria Math" panose="02040503050406030204" pitchFamily="18" charset="0"/>
                                <a:ea typeface="Calibri" panose="020F0502020204030204" pitchFamily="34" charset="0"/>
                                <a:cs typeface="Calibri Light" panose="020F0302020204030204" pitchFamily="34" charset="0"/>
                              </a:rPr>
                              <m:t>⁡</m:t>
                            </m:r>
                            <m:d>
                              <m:dPr>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f>
                                  <m:fPr>
                                    <m:ctrlPr>
                                      <a:rPr lang="en-US" i="1">
                                        <a:effectLst/>
                                        <a:latin typeface="Cambria Math" panose="02040503050406030204" pitchFamily="18" charset="0"/>
                                        <a:ea typeface="Calibri" panose="020F0502020204030204" pitchFamily="34" charset="0"/>
                                        <a:cs typeface="Calibri Light" panose="020F0302020204030204" pitchFamily="34" charset="0"/>
                                      </a:rPr>
                                    </m:ctrlPr>
                                  </m:fPr>
                                  <m:num>
                                    <m:r>
                                      <a:rPr lang="en-US">
                                        <a:effectLst/>
                                        <a:latin typeface="Cambria Math" panose="02040503050406030204" pitchFamily="18" charset="0"/>
                                        <a:ea typeface="Calibri" panose="020F0502020204030204" pitchFamily="34" charset="0"/>
                                        <a:cs typeface="Calibri Light" panose="020F0302020204030204" pitchFamily="34" charset="0"/>
                                      </a:rPr>
                                      <m:t>1</m:t>
                                    </m:r>
                                  </m:num>
                                  <m:den>
                                    <m:r>
                                      <a:rPr lang="en-US" i="1">
                                        <a:effectLst/>
                                        <a:latin typeface="Cambria Math" panose="02040503050406030204" pitchFamily="18" charset="0"/>
                                        <a:ea typeface="Calibri" panose="020F0502020204030204" pitchFamily="34" charset="0"/>
                                        <a:cs typeface="Calibri Light" panose="020F0302020204030204" pitchFamily="34" charset="0"/>
                                      </a:rPr>
                                      <m:t>𝜖</m:t>
                                    </m:r>
                                  </m:den>
                                </m:f>
                              </m:e>
                            </m:d>
                          </m:e>
                        </m:d>
                      </m:e>
                    </m:d>
                  </m:oMath>
                </a14:m>
                <a:r>
                  <a:rPr lang="en-US" dirty="0">
                    <a:effectLst/>
                    <a:ea typeface="Calibri" panose="020F0502020204030204" pitchFamily="34" charset="0"/>
                    <a:cs typeface="Arial" panose="020B0604020202020204" pitchFamily="34" charset="0"/>
                  </a:rPr>
                  <a:t>.</a:t>
                </a:r>
              </a:p>
              <a:p>
                <a:pPr marL="1143000" lvl="2" indent="-228600">
                  <a:lnSpc>
                    <a:spcPct val="107000"/>
                  </a:lnSpc>
                  <a:spcAft>
                    <a:spcPts val="800"/>
                  </a:spcAft>
                  <a:buFont typeface="+mj-lt"/>
                  <a:buAutoNum type="romanLcPeriod"/>
                </a:pPr>
                <a:r>
                  <a:rPr lang="en-US" dirty="0">
                    <a:effectLst/>
                    <a:ea typeface="Calibri" panose="020F0502020204030204" pitchFamily="34" charset="0"/>
                    <a:cs typeface="Arial" panose="020B0604020202020204" pitchFamily="34" charset="0"/>
                  </a:rPr>
                  <a:t>matrix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𝐷</m:t>
                    </m:r>
                    <m:r>
                      <a:rPr lang="it-IT" b="0" i="0" smtClean="0">
                        <a:effectLst/>
                        <a:latin typeface="Cambria Math" panose="02040503050406030204" pitchFamily="18" charset="0"/>
                        <a:ea typeface="Calibri" panose="020F0502020204030204" pitchFamily="34" charset="0"/>
                        <a:cs typeface="Calibri Light" panose="020F0302020204030204" pitchFamily="34" charset="0"/>
                      </a:rPr>
                      <m:t> </m:t>
                    </m:r>
                  </m:oMath>
                </a14:m>
                <a:r>
                  <a:rPr lang="en-US" dirty="0">
                    <a:effectLst/>
                    <a:ea typeface="Calibri" panose="020F0502020204030204" pitchFamily="34" charset="0"/>
                    <a:cs typeface="Arial" panose="020B0604020202020204" pitchFamily="34" charset="0"/>
                  </a:rPr>
                  <a:t>use the quantum Hebbian learning techniques discussed to simulate for a time </a:t>
                </a:r>
                <a14:m>
                  <m:oMath xmlns:m="http://schemas.openxmlformats.org/officeDocument/2006/math">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Δ</m:t>
                    </m:r>
                    <m:r>
                      <a:rPr lang="en-US" i="1">
                        <a:effectLst/>
                        <a:latin typeface="Cambria Math" panose="02040503050406030204" pitchFamily="18" charset="0"/>
                        <a:ea typeface="Calibri" panose="020F0502020204030204" pitchFamily="34" charset="0"/>
                        <a:cs typeface="Calibri Light" panose="020F0302020204030204" pitchFamily="34" charset="0"/>
                      </a:rPr>
                      <m:t>𝑡</m:t>
                    </m:r>
                  </m:oMath>
                </a14:m>
                <a:r>
                  <a:rPr lang="en-US" dirty="0">
                    <a:effectLst/>
                    <a:ea typeface="Calibri" panose="020F0502020204030204" pitchFamily="34" charset="0"/>
                    <a:cs typeface="Arial" panose="020B0604020202020204" pitchFamily="34" charset="0"/>
                  </a:rPr>
                  <a:t>, requiring a run time </a:t>
                </a:r>
                <a14:m>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𝑇</m:t>
                        </m:r>
                      </m:e>
                      <m:sub>
                        <m:r>
                          <a:rPr lang="en-US" i="1">
                            <a:effectLst/>
                            <a:latin typeface="Cambria Math" panose="02040503050406030204" pitchFamily="18" charset="0"/>
                            <a:ea typeface="Calibri" panose="020F0502020204030204" pitchFamily="34" charset="0"/>
                            <a:cs typeface="Calibri Light" panose="020F0302020204030204" pitchFamily="34" charset="0"/>
                          </a:rPr>
                          <m:t>𝐷</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𝒪</m:t>
                    </m:r>
                    <m:d>
                      <m:dPr>
                        <m:end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d>
                  </m:oMath>
                </a14:m>
                <a:r>
                  <a:rPr lang="en-US" dirty="0">
                    <a:effectLst/>
                    <a:ea typeface="Calibri" panose="020F0502020204030204" pitchFamily="34" charset="0"/>
                    <a:cs typeface="Arial" panose="020B0604020202020204" pitchFamily="34" charset="0"/>
                  </a:rPr>
                  <a:t> poly </a:t>
                </a:r>
                <a14:m>
                  <m:oMath xmlns:m="http://schemas.openxmlformats.org/officeDocument/2006/math">
                    <m:d>
                      <m:dPr>
                        <m:beg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d>
                          <m:dPr>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Δ</m:t>
                            </m:r>
                            <m:r>
                              <a:rPr lang="en-US" i="1">
                                <a:effectLst/>
                                <a:latin typeface="Cambria Math" panose="02040503050406030204" pitchFamily="18" charset="0"/>
                                <a:ea typeface="Calibri" panose="020F0502020204030204" pitchFamily="34" charset="0"/>
                                <a:cs typeface="Calibri Light" panose="020F0302020204030204" pitchFamily="34" charset="0"/>
                              </a:rPr>
                              <m:t>𝑡</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𝑀</m:t>
                            </m:r>
                            <m:r>
                              <a:rPr lang="en-US">
                                <a:effectLst/>
                                <a:latin typeface="Cambria Math" panose="02040503050406030204" pitchFamily="18" charset="0"/>
                                <a:ea typeface="Calibri" panose="020F0502020204030204" pitchFamily="34" charset="0"/>
                                <a:cs typeface="Calibri Light" panose="020F0302020204030204" pitchFamily="34" charset="0"/>
                              </a:rPr>
                              <m:t>,</m:t>
                            </m:r>
                            <m:f>
                              <m:fPr>
                                <m:ctrlPr>
                                  <a:rPr lang="en-US" i="1">
                                    <a:effectLst/>
                                    <a:latin typeface="Cambria Math" panose="02040503050406030204" pitchFamily="18" charset="0"/>
                                    <a:ea typeface="Calibri" panose="020F0502020204030204" pitchFamily="34" charset="0"/>
                                    <a:cs typeface="Calibri Light" panose="020F0302020204030204" pitchFamily="34" charset="0"/>
                                  </a:rPr>
                                </m:ctrlPr>
                              </m:fPr>
                              <m:num>
                                <m:r>
                                  <a:rPr lang="en-US">
                                    <a:effectLst/>
                                    <a:latin typeface="Cambria Math" panose="02040503050406030204" pitchFamily="18" charset="0"/>
                                    <a:ea typeface="Calibri" panose="020F0502020204030204" pitchFamily="34" charset="0"/>
                                    <a:cs typeface="Calibri Light" panose="020F0302020204030204" pitchFamily="34" charset="0"/>
                                  </a:rPr>
                                  <m:t>1</m:t>
                                </m:r>
                              </m:num>
                              <m:den>
                                <m:r>
                                  <a:rPr lang="en-US" i="1">
                                    <a:effectLst/>
                                    <a:latin typeface="Cambria Math" panose="02040503050406030204" pitchFamily="18" charset="0"/>
                                    <a:ea typeface="Calibri" panose="020F0502020204030204" pitchFamily="34" charset="0"/>
                                    <a:cs typeface="Calibri Light" panose="020F0302020204030204" pitchFamily="34" charset="0"/>
                                  </a:rPr>
                                  <m:t>𝜖</m:t>
                                </m:r>
                              </m:den>
                            </m:f>
                            <m:r>
                              <a:rPr lang="en-US">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log</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𝑑</m:t>
                            </m:r>
                          </m:e>
                        </m:d>
                      </m:e>
                    </m:d>
                  </m:oMath>
                </a14:m>
                <a:endParaRPr lang="en-US" dirty="0">
                  <a:effectLst/>
                  <a:ea typeface="Calibri" panose="020F0502020204030204" pitchFamily="34" charset="0"/>
                  <a:cs typeface="Arial" panose="020B0604020202020204" pitchFamily="34" charset="0"/>
                </a:endParaRPr>
              </a:p>
              <a:p>
                <a:pPr marL="457200"/>
                <a:r>
                  <a:rPr lang="en-US" dirty="0">
                    <a:effectLst/>
                    <a:ea typeface="Calibri" panose="020F0502020204030204" pitchFamily="34" charset="0"/>
                  </a:rPr>
                  <a:t> </a:t>
                </a:r>
                <a14:m>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𝑇</m:t>
                        </m:r>
                      </m:e>
                      <m:sub>
                        <m:r>
                          <a:rPr lang="en-US" i="1">
                            <a:effectLst/>
                            <a:latin typeface="Cambria Math" panose="02040503050406030204" pitchFamily="18" charset="0"/>
                            <a:ea typeface="Calibri" panose="020F0502020204030204" pitchFamily="34" charset="0"/>
                            <a:cs typeface="Calibri Light" panose="020F0302020204030204" pitchFamily="34" charset="0"/>
                          </a:rPr>
                          <m:t>𝐷</m:t>
                        </m:r>
                      </m:sub>
                    </m:sSub>
                  </m:oMath>
                </a14:m>
                <a:r>
                  <a:rPr lang="en-US" dirty="0">
                    <a:effectLst/>
                    <a:ea typeface="Calibri" panose="020F0502020204030204" pitchFamily="34" charset="0"/>
                  </a:rPr>
                  <a:t> is the dominant run time compared to </a:t>
                </a:r>
                <a14:m>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𝑇</m:t>
                        </m:r>
                      </m:e>
                      <m:sub>
                        <m:r>
                          <a:rPr lang="en-US" i="1">
                            <a:effectLst/>
                            <a:latin typeface="Cambria Math" panose="02040503050406030204" pitchFamily="18" charset="0"/>
                            <a:ea typeface="Calibri" panose="020F0502020204030204" pitchFamily="34" charset="0"/>
                            <a:cs typeface="Calibri Light" panose="020F0302020204030204" pitchFamily="34" charset="0"/>
                          </a:rPr>
                          <m:t>𝐵</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𝐶</m:t>
                        </m:r>
                      </m:sub>
                    </m:sSub>
                  </m:oMath>
                </a14:m>
                <a:endParaRPr lang="en-US" dirty="0">
                  <a:effectLst/>
                  <a:ea typeface="Calibri" panose="020F0502020204030204" pitchFamily="34" charset="0"/>
                </a:endParaRPr>
              </a:p>
              <a:p>
                <a:pPr lvl="0">
                  <a:lnSpc>
                    <a:spcPct val="107000"/>
                  </a:lnSpc>
                  <a:spcAft>
                    <a:spcPts val="800"/>
                  </a:spcAft>
                </a:pPr>
                <a:r>
                  <a:rPr lang="en-US" dirty="0">
                    <a:effectLst/>
                    <a:ea typeface="Calibri" panose="020F0502020204030204" pitchFamily="34" charset="0"/>
                    <a:cs typeface="Arial" panose="020B0604020202020204" pitchFamily="34" charset="0"/>
                  </a:rPr>
                  <a:t>2.  The run time for filtering and amplification adds an additional overhead </a:t>
                </a:r>
                <a14:m>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𝑇</m:t>
                        </m:r>
                      </m:e>
                      <m:sub>
                        <m:r>
                          <m:rPr>
                            <m:nor/>
                          </m:rPr>
                          <a:rPr lang="en-US">
                            <a:effectLst/>
                            <a:ea typeface="Calibri" panose="020F0502020204030204" pitchFamily="34" charset="0"/>
                            <a:cs typeface="Arial" panose="020B0604020202020204" pitchFamily="34" charset="0"/>
                          </a:rPr>
                          <m:t>filter</m:t>
                        </m:r>
                        <m:r>
                          <m:rPr>
                            <m:nor/>
                          </m:rPr>
                          <a:rPr lang="en-US" i="1">
                            <a:effectLst/>
                            <a:ea typeface="Calibri" panose="020F0502020204030204" pitchFamily="34" charset="0"/>
                            <a:cs typeface="Arial" panose="020B0604020202020204" pitchFamily="34" charset="0"/>
                          </a:rPr>
                          <m:t> </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𝒪</m:t>
                    </m:r>
                    <m:d>
                      <m:dPr>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f>
                          <m:fPr>
                            <m:ctrlPr>
                              <a:rPr lang="en-US" i="1">
                                <a:effectLst/>
                                <a:latin typeface="Cambria Math" panose="02040503050406030204" pitchFamily="18" charset="0"/>
                                <a:ea typeface="Calibri" panose="020F0502020204030204" pitchFamily="34" charset="0"/>
                                <a:cs typeface="Calibri Light" panose="020F0302020204030204" pitchFamily="34" charset="0"/>
                              </a:rPr>
                            </m:ctrlPr>
                          </m:fPr>
                          <m:num>
                            <m:r>
                              <a:rPr lang="en-US">
                                <a:effectLst/>
                                <a:latin typeface="Cambria Math" panose="02040503050406030204" pitchFamily="18" charset="0"/>
                                <a:ea typeface="Calibri" panose="020F0502020204030204" pitchFamily="34" charset="0"/>
                                <a:cs typeface="Calibri Light" panose="020F0302020204030204" pitchFamily="34" charset="0"/>
                              </a:rPr>
                              <m:t>1</m:t>
                            </m:r>
                          </m:num>
                          <m:den>
                            <m:r>
                              <a:rPr lang="en-US" i="1">
                                <a:effectLst/>
                                <a:latin typeface="Cambria Math" panose="02040503050406030204" pitchFamily="18" charset="0"/>
                                <a:ea typeface="Calibri" panose="020F0502020204030204" pitchFamily="34" charset="0"/>
                                <a:cs typeface="Calibri Light" panose="020F0302020204030204" pitchFamily="34" charset="0"/>
                              </a:rPr>
                              <m:t>𝜇</m:t>
                            </m:r>
                          </m:den>
                        </m:f>
                      </m:e>
                    </m:d>
                  </m:oMath>
                </a14:m>
                <a:endParaRPr lang="en-US" dirty="0">
                  <a:effectLst/>
                  <a:ea typeface="Calibri" panose="020F0502020204030204" pitchFamily="34" charset="0"/>
                  <a:cs typeface="Arial" panose="020B0604020202020204" pitchFamily="34" charset="0"/>
                </a:endParaRPr>
              </a:p>
              <a:p>
                <a:pPr>
                  <a:spcAft>
                    <a:spcPts val="1200"/>
                  </a:spcAft>
                </a:pPr>
                <a:r>
                  <a:rPr lang="en-US" dirty="0">
                    <a:effectLst/>
                    <a:ea typeface="Calibri" panose="020F0502020204030204" pitchFamily="34" charset="0"/>
                  </a:rPr>
                  <a:t>overall algorithm run time of</a:t>
                </a:r>
              </a:p>
              <a:p>
                <a:pPr marL="228600">
                  <a:spcAft>
                    <a:spcPts val="1200"/>
                  </a:spcAft>
                </a:pPr>
                <a14:m>
                  <m:oMathPara xmlns:m="http://schemas.openxmlformats.org/officeDocument/2006/math">
                    <m:oMathParaPr>
                      <m:jc m:val="centerGroup"/>
                    </m:oMathParaPr>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𝑇</m:t>
                          </m:r>
                        </m:e>
                        <m:sub>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qHop</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𝒪</m:t>
                      </m:r>
                      <m:d>
                        <m:dPr>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poly</m:t>
                          </m:r>
                          <m:r>
                            <a:rPr lang="en-US">
                              <a:effectLst/>
                              <a:latin typeface="Cambria Math" panose="02040503050406030204" pitchFamily="18" charset="0"/>
                              <a:ea typeface="Calibri" panose="020F0502020204030204" pitchFamily="34" charset="0"/>
                              <a:cs typeface="Calibri Light" panose="020F0302020204030204" pitchFamily="34" charset="0"/>
                            </a:rPr>
                            <m:t>⁡</m:t>
                          </m:r>
                          <m:d>
                            <m:dPr>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r>
                                <a:rPr lang="en-US" i="1">
                                  <a:effectLst/>
                                  <a:latin typeface="Cambria Math" panose="02040503050406030204" pitchFamily="18" charset="0"/>
                                  <a:ea typeface="Calibri" panose="020F0502020204030204" pitchFamily="34" charset="0"/>
                                  <a:cs typeface="Calibri Light" panose="020F0302020204030204" pitchFamily="34" charset="0"/>
                                </a:rPr>
                                <m:t>𝑀</m:t>
                              </m:r>
                              <m:r>
                                <a:rPr lang="en-US">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a:effectLst/>
                                  <a:latin typeface="Cambria Math" panose="02040503050406030204" pitchFamily="18" charset="0"/>
                                  <a:ea typeface="Calibri" panose="020F0502020204030204" pitchFamily="34" charset="0"/>
                                  <a:cs typeface="Calibri Light" panose="020F0302020204030204" pitchFamily="34" charset="0"/>
                                </a:rPr>
                                <m:t>log</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𝑑</m:t>
                              </m:r>
                              <m:r>
                                <a:rPr lang="en-US">
                                  <a:effectLst/>
                                  <a:latin typeface="Cambria Math" panose="02040503050406030204" pitchFamily="18" charset="0"/>
                                  <a:ea typeface="Calibri" panose="020F0502020204030204" pitchFamily="34" charset="0"/>
                                  <a:cs typeface="Calibri Light" panose="020F0302020204030204" pitchFamily="34" charset="0"/>
                                </a:rPr>
                                <m:t>,</m:t>
                              </m:r>
                              <m:f>
                                <m:fPr>
                                  <m:ctrlPr>
                                    <a:rPr lang="en-US" i="1">
                                      <a:effectLst/>
                                      <a:latin typeface="Cambria Math" panose="02040503050406030204" pitchFamily="18" charset="0"/>
                                      <a:ea typeface="Calibri" panose="020F0502020204030204" pitchFamily="34" charset="0"/>
                                      <a:cs typeface="Calibri Light" panose="020F0302020204030204" pitchFamily="34" charset="0"/>
                                    </a:rPr>
                                  </m:ctrlPr>
                                </m:fPr>
                                <m:num>
                                  <m:r>
                                    <a:rPr lang="en-US">
                                      <a:effectLst/>
                                      <a:latin typeface="Cambria Math" panose="02040503050406030204" pitchFamily="18" charset="0"/>
                                      <a:ea typeface="Calibri" panose="020F0502020204030204" pitchFamily="34" charset="0"/>
                                      <a:cs typeface="Calibri Light" panose="020F0302020204030204" pitchFamily="34" charset="0"/>
                                    </a:rPr>
                                    <m:t>1</m:t>
                                  </m:r>
                                </m:num>
                                <m:den>
                                  <m:r>
                                    <a:rPr lang="en-US" i="1">
                                      <a:effectLst/>
                                      <a:latin typeface="Cambria Math" panose="02040503050406030204" pitchFamily="18" charset="0"/>
                                      <a:ea typeface="Calibri" panose="020F0502020204030204" pitchFamily="34" charset="0"/>
                                      <a:cs typeface="Calibri Light" panose="020F0302020204030204" pitchFamily="34" charset="0"/>
                                    </a:rPr>
                                    <m:t>𝜖</m:t>
                                  </m:r>
                                </m:den>
                              </m:f>
                              <m:r>
                                <a:rPr lang="en-US">
                                  <a:effectLst/>
                                  <a:latin typeface="Cambria Math" panose="02040503050406030204" pitchFamily="18" charset="0"/>
                                  <a:ea typeface="Calibri" panose="020F0502020204030204" pitchFamily="34" charset="0"/>
                                  <a:cs typeface="Calibri Light" panose="020F0302020204030204" pitchFamily="34" charset="0"/>
                                </a:rPr>
                                <m:t>,</m:t>
                              </m:r>
                              <m:f>
                                <m:fPr>
                                  <m:ctrlPr>
                                    <a:rPr lang="en-US" i="1">
                                      <a:effectLst/>
                                      <a:latin typeface="Cambria Math" panose="02040503050406030204" pitchFamily="18" charset="0"/>
                                      <a:ea typeface="Calibri" panose="020F0502020204030204" pitchFamily="34" charset="0"/>
                                      <a:cs typeface="Calibri Light" panose="020F0302020204030204" pitchFamily="34" charset="0"/>
                                    </a:rPr>
                                  </m:ctrlPr>
                                </m:fPr>
                                <m:num>
                                  <m:r>
                                    <a:rPr lang="en-US">
                                      <a:effectLst/>
                                      <a:latin typeface="Cambria Math" panose="02040503050406030204" pitchFamily="18" charset="0"/>
                                      <a:ea typeface="Calibri" panose="020F0502020204030204" pitchFamily="34" charset="0"/>
                                      <a:cs typeface="Calibri Light" panose="020F0302020204030204" pitchFamily="34" charset="0"/>
                                    </a:rPr>
                                    <m:t>1</m:t>
                                  </m:r>
                                </m:num>
                                <m:den>
                                  <m:r>
                                    <a:rPr lang="en-US" i="1">
                                      <a:effectLst/>
                                      <a:latin typeface="Cambria Math" panose="02040503050406030204" pitchFamily="18" charset="0"/>
                                      <a:ea typeface="Calibri" panose="020F0502020204030204" pitchFamily="34" charset="0"/>
                                      <a:cs typeface="Calibri Light" panose="020F0302020204030204" pitchFamily="34" charset="0"/>
                                    </a:rPr>
                                    <m:t>𝜇</m:t>
                                  </m:r>
                                </m:den>
                              </m:f>
                            </m:e>
                          </m:d>
                        </m:e>
                      </m:d>
                    </m:oMath>
                  </m:oMathPara>
                </a14:m>
                <a:endParaRPr lang="en-US" dirty="0">
                  <a:effectLst/>
                  <a:ea typeface="Calibri" panose="020F0502020204030204" pitchFamily="34" charset="0"/>
                </a:endParaRPr>
              </a:p>
              <a:p>
                <a:r>
                  <a:rPr lang="en-US" sz="900" dirty="0">
                    <a:effectLst/>
                    <a:latin typeface="Calibri Light" panose="020F0302020204030204" pitchFamily="34" charset="0"/>
                    <a:ea typeface="Calibri" panose="020F0502020204030204" pitchFamily="34" charset="0"/>
                  </a:rPr>
                  <a:t> </a:t>
                </a:r>
                <a:endParaRPr lang="en-US" dirty="0"/>
              </a:p>
            </p:txBody>
          </p:sp>
        </mc:Choice>
        <mc:Fallback xmlns="">
          <p:sp>
            <p:nvSpPr>
              <p:cNvPr id="5" name="CasellaDiTesto 4">
                <a:extLst>
                  <a:ext uri="{FF2B5EF4-FFF2-40B4-BE49-F238E27FC236}">
                    <a16:creationId xmlns:a16="http://schemas.microsoft.com/office/drawing/2014/main" id="{1A8895A0-2EAB-4DF6-8338-59FCAC0102E1}"/>
                  </a:ext>
                </a:extLst>
              </p:cNvPr>
              <p:cNvSpPr txBox="1">
                <a:spLocks noRot="1" noChangeAspect="1" noMove="1" noResize="1" noEditPoints="1" noAdjustHandles="1" noChangeArrowheads="1" noChangeShapeType="1" noTextEdit="1"/>
              </p:cNvSpPr>
              <p:nvPr/>
            </p:nvSpPr>
            <p:spPr>
              <a:xfrm>
                <a:off x="353008" y="627030"/>
                <a:ext cx="11485984" cy="6550896"/>
              </a:xfrm>
              <a:prstGeom prst="rect">
                <a:avLst/>
              </a:prstGeom>
              <a:blipFill>
                <a:blip r:embed="rId2"/>
                <a:stretch>
                  <a:fillRect l="-478" r="-690"/>
                </a:stretch>
              </a:blipFill>
            </p:spPr>
            <p:txBody>
              <a:bodyPr/>
              <a:lstStyle/>
              <a:p>
                <a:r>
                  <a:rPr lang="en-US">
                    <a:noFill/>
                  </a:rPr>
                  <a:t> </a:t>
                </a:r>
              </a:p>
            </p:txBody>
          </p:sp>
        </mc:Fallback>
      </mc:AlternateContent>
      <p:sp>
        <p:nvSpPr>
          <p:cNvPr id="6" name="CasellaDiTesto 5">
            <a:extLst>
              <a:ext uri="{FF2B5EF4-FFF2-40B4-BE49-F238E27FC236}">
                <a16:creationId xmlns:a16="http://schemas.microsoft.com/office/drawing/2014/main" id="{C0250861-B31E-4CF2-B2B5-ECF77819442C}"/>
              </a:ext>
            </a:extLst>
          </p:cNvPr>
          <p:cNvSpPr txBox="1"/>
          <p:nvPr/>
        </p:nvSpPr>
        <p:spPr>
          <a:xfrm>
            <a:off x="2677886" y="111967"/>
            <a:ext cx="7641772" cy="769441"/>
          </a:xfrm>
          <a:prstGeom prst="rect">
            <a:avLst/>
          </a:prstGeom>
          <a:noFill/>
        </p:spPr>
        <p:txBody>
          <a:bodyPr wrap="square" rtlCol="0">
            <a:spAutoFit/>
          </a:bodyPr>
          <a:lstStyle/>
          <a:p>
            <a:r>
              <a:rPr lang="it-IT" sz="4400" dirty="0" err="1">
                <a:solidFill>
                  <a:schemeClr val="accent1">
                    <a:lumMod val="50000"/>
                  </a:schemeClr>
                </a:solidFill>
                <a:latin typeface="+mj-lt"/>
              </a:rPr>
              <a:t>Efficiency</a:t>
            </a:r>
            <a:r>
              <a:rPr lang="it-IT" sz="4400" dirty="0">
                <a:solidFill>
                  <a:schemeClr val="accent1">
                    <a:lumMod val="50000"/>
                  </a:schemeClr>
                </a:solidFill>
                <a:latin typeface="+mj-lt"/>
              </a:rPr>
              <a:t> and </a:t>
            </a:r>
            <a:r>
              <a:rPr lang="it-IT" sz="4400" dirty="0" err="1">
                <a:solidFill>
                  <a:schemeClr val="accent1">
                    <a:lumMod val="50000"/>
                  </a:schemeClr>
                </a:solidFill>
                <a:latin typeface="+mj-lt"/>
              </a:rPr>
              <a:t>comparison</a:t>
            </a:r>
            <a:r>
              <a:rPr lang="it-IT" sz="4400" dirty="0">
                <a:solidFill>
                  <a:schemeClr val="accent1">
                    <a:lumMod val="50000"/>
                  </a:schemeClr>
                </a:solidFill>
                <a:latin typeface="+mj-lt"/>
              </a:rPr>
              <a:t> -2</a:t>
            </a:r>
            <a:endParaRPr lang="en-US" sz="4400" dirty="0">
              <a:solidFill>
                <a:schemeClr val="accent1">
                  <a:lumMod val="50000"/>
                </a:schemeClr>
              </a:solidFill>
              <a:latin typeface="+mj-lt"/>
            </a:endParaRPr>
          </a:p>
        </p:txBody>
      </p:sp>
    </p:spTree>
    <p:extLst>
      <p:ext uri="{BB962C8B-B14F-4D97-AF65-F5344CB8AC3E}">
        <p14:creationId xmlns:p14="http://schemas.microsoft.com/office/powerpoint/2010/main" val="8399285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A0F7E988-6ED2-4724-9CF6-E0F1EEFF136C}"/>
              </a:ext>
            </a:extLst>
          </p:cNvPr>
          <p:cNvPicPr>
            <a:picLocks noChangeAspect="1"/>
          </p:cNvPicPr>
          <p:nvPr/>
        </p:nvPicPr>
        <p:blipFill rotWithShape="1">
          <a:blip r:embed="rId2"/>
          <a:srcRect b="31602"/>
          <a:stretch/>
        </p:blipFill>
        <p:spPr bwMode="auto">
          <a:xfrm>
            <a:off x="229677" y="3175279"/>
            <a:ext cx="11877869" cy="3587261"/>
          </a:xfrm>
          <a:prstGeom prst="rect">
            <a:avLst/>
          </a:prstGeom>
          <a:ln>
            <a:noFill/>
          </a:ln>
          <a:extLst>
            <a:ext uri="{53640926-AAD7-44D8-BBD7-CCE9431645EC}">
              <a14:shadowObscured xmlns:a14="http://schemas.microsoft.com/office/drawing/2010/main"/>
            </a:ext>
          </a:extLst>
        </p:spPr>
      </p:pic>
      <p:sp>
        <p:nvSpPr>
          <p:cNvPr id="3" name="CasellaDiTesto 2">
            <a:extLst>
              <a:ext uri="{FF2B5EF4-FFF2-40B4-BE49-F238E27FC236}">
                <a16:creationId xmlns:a16="http://schemas.microsoft.com/office/drawing/2014/main" id="{027DFD79-872B-44EC-AC12-6EF36CE9561D}"/>
              </a:ext>
            </a:extLst>
          </p:cNvPr>
          <p:cNvSpPr txBox="1"/>
          <p:nvPr/>
        </p:nvSpPr>
        <p:spPr>
          <a:xfrm>
            <a:off x="4762200" y="375403"/>
            <a:ext cx="7641772" cy="769441"/>
          </a:xfrm>
          <a:prstGeom prst="rect">
            <a:avLst/>
          </a:prstGeom>
          <a:noFill/>
        </p:spPr>
        <p:txBody>
          <a:bodyPr wrap="square" rtlCol="0">
            <a:spAutoFit/>
          </a:bodyPr>
          <a:lstStyle/>
          <a:p>
            <a:r>
              <a:rPr lang="it-IT" sz="4400" dirty="0">
                <a:solidFill>
                  <a:schemeClr val="accent1">
                    <a:lumMod val="50000"/>
                  </a:schemeClr>
                </a:solidFill>
                <a:latin typeface="+mj-lt"/>
              </a:rPr>
              <a:t>Application</a:t>
            </a:r>
            <a:endParaRPr lang="en-US" sz="4400" dirty="0">
              <a:solidFill>
                <a:schemeClr val="accent1">
                  <a:lumMod val="50000"/>
                </a:schemeClr>
              </a:solidFill>
              <a:latin typeface="+mj-lt"/>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1E64F8D8-A15B-42FA-95DB-B432AC98A2E3}"/>
                  </a:ext>
                </a:extLst>
              </p:cNvPr>
              <p:cNvSpPr txBox="1"/>
              <p:nvPr/>
            </p:nvSpPr>
            <p:spPr>
              <a:xfrm>
                <a:off x="490934" y="1599442"/>
                <a:ext cx="11460384" cy="1477328"/>
              </a:xfrm>
              <a:prstGeom prst="rect">
                <a:avLst/>
              </a:prstGeom>
              <a:noFill/>
            </p:spPr>
            <p:txBody>
              <a:bodyPr wrap="square">
                <a:spAutoFit/>
              </a:bodyPr>
              <a:lstStyle/>
              <a:p>
                <a:r>
                  <a:rPr lang="en-US" sz="1800" dirty="0">
                    <a:effectLst/>
                    <a:ea typeface="Calibri" panose="020F0502020204030204" pitchFamily="34" charset="0"/>
                  </a:rPr>
                  <a:t>They store the first 50 RNA-bases from each of the 8 segments of the influenza A H1N1 strain (i.e., so that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r>
                      <a:rPr lang="en-US" sz="1800">
                        <a:effectLst/>
                        <a:latin typeface="Cambria Math" panose="02040503050406030204" pitchFamily="18" charset="0"/>
                        <a:ea typeface="Calibri" panose="020F0502020204030204" pitchFamily="34" charset="0"/>
                        <a:cs typeface="Calibri Light" panose="020F0302020204030204" pitchFamily="34" charset="0"/>
                      </a:rPr>
                      <m:t>=100,</m:t>
                    </m:r>
                    <m:r>
                      <a:rPr lang="en-US" sz="1800" i="1">
                        <a:effectLst/>
                        <a:latin typeface="Cambria Math" panose="02040503050406030204" pitchFamily="18" charset="0"/>
                        <a:ea typeface="Calibri" panose="020F0502020204030204" pitchFamily="34" charset="0"/>
                        <a:cs typeface="Calibri Light" panose="020F0302020204030204" pitchFamily="34" charset="0"/>
                      </a:rPr>
                      <m:t>𝑀</m:t>
                    </m:r>
                    <m:r>
                      <a:rPr lang="en-US" sz="1800">
                        <a:effectLst/>
                        <a:latin typeface="Cambria Math" panose="02040503050406030204" pitchFamily="18" charset="0"/>
                        <a:ea typeface="Calibri" panose="020F0502020204030204" pitchFamily="34" charset="0"/>
                        <a:cs typeface="Calibri Light" panose="020F0302020204030204" pitchFamily="34" charset="0"/>
                      </a:rPr>
                      <m:t>=8</m:t>
                    </m:r>
                  </m:oMath>
                </a14:m>
                <a:r>
                  <a:rPr lang="en-US" sz="1800" dirty="0">
                    <a:effectLst/>
                    <a:ea typeface="Calibri" panose="020F0502020204030204" pitchFamily="34" charset="0"/>
                  </a:rPr>
                  <a:t> ) in the weighting matrix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𝑊</m:t>
                    </m:r>
                  </m:oMath>
                </a14:m>
                <a:r>
                  <a:rPr lang="en-US" sz="1800" dirty="0">
                    <a:effectLst/>
                    <a:ea typeface="Calibri" panose="020F0502020204030204" pitchFamily="34" charset="0"/>
                  </a:rPr>
                  <a:t> using the Hebbian learning rule. They then generate incomplete data from the first segment of H1N1 randomly selecting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𝑙</m:t>
                    </m:r>
                    <m:r>
                      <a:rPr lang="en-US" sz="1800">
                        <a:effectLst/>
                        <a:latin typeface="Cambria Math" panose="02040503050406030204" pitchFamily="18" charset="0"/>
                        <a:ea typeface="Calibri" panose="020F0502020204030204" pitchFamily="34" charset="0"/>
                        <a:cs typeface="Calibri Light" panose="020F0302020204030204" pitchFamily="34" charset="0"/>
                      </a:rPr>
                      <m:t>/2</m:t>
                    </m:r>
                  </m:oMath>
                </a14:m>
                <a:r>
                  <a:rPr lang="en-US" sz="1800" dirty="0">
                    <a:effectLst/>
                    <a:ea typeface="Calibri" panose="020F0502020204030204" pitchFamily="34" charset="0"/>
                  </a:rPr>
                  <a:t> known RNA-bases for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𝑙</m:t>
                    </m:r>
                    <m:r>
                      <a:rPr lang="en-US" sz="1800">
                        <a:effectLst/>
                        <a:latin typeface="Cambria Math" panose="02040503050406030204" pitchFamily="18" charset="0"/>
                        <a:ea typeface="Calibri" panose="020F0502020204030204" pitchFamily="34" charset="0"/>
                        <a:cs typeface="Calibri Light" panose="020F0302020204030204" pitchFamily="34" charset="0"/>
                      </a:rPr>
                      <m:t>/2∈{1,2,…,50}</m:t>
                    </m:r>
                  </m:oMath>
                </a14:m>
                <a:r>
                  <a:rPr lang="en-US" sz="1800" dirty="0">
                    <a:effectLst/>
                    <a:ea typeface="Calibri" panose="020F0502020204030204" pitchFamily="34" charset="0"/>
                  </a:rPr>
                  <a:t>. The Hamming distance measured between the result and the original pattern is used to measure differences in performance between classical and quantum Hopfield network. This is averaged over 1000 repetitions of random choices of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𝑙</m:t>
                    </m:r>
                    <m:r>
                      <a:rPr lang="en-US" sz="1800">
                        <a:effectLst/>
                        <a:latin typeface="Cambria Math" panose="02040503050406030204" pitchFamily="18" charset="0"/>
                        <a:ea typeface="Calibri" panose="020F0502020204030204" pitchFamily="34" charset="0"/>
                        <a:cs typeface="Calibri Light" panose="020F0302020204030204" pitchFamily="34" charset="0"/>
                      </a:rPr>
                      <m:t>/2</m:t>
                    </m:r>
                  </m:oMath>
                </a14:m>
                <a:r>
                  <a:rPr lang="en-US" sz="1800" dirty="0">
                    <a:effectLst/>
                    <a:ea typeface="Calibri" panose="020F0502020204030204" pitchFamily="34" charset="0"/>
                  </a:rPr>
                  <a:t> RNA-bases as known bases. </a:t>
                </a:r>
                <a:endParaRPr lang="en-US" dirty="0"/>
              </a:p>
            </p:txBody>
          </p:sp>
        </mc:Choice>
        <mc:Fallback xmlns="">
          <p:sp>
            <p:nvSpPr>
              <p:cNvPr id="5" name="CasellaDiTesto 4">
                <a:extLst>
                  <a:ext uri="{FF2B5EF4-FFF2-40B4-BE49-F238E27FC236}">
                    <a16:creationId xmlns:a16="http://schemas.microsoft.com/office/drawing/2014/main" id="{1E64F8D8-A15B-42FA-95DB-B432AC98A2E3}"/>
                  </a:ext>
                </a:extLst>
              </p:cNvPr>
              <p:cNvSpPr txBox="1">
                <a:spLocks noRot="1" noChangeAspect="1" noMove="1" noResize="1" noEditPoints="1" noAdjustHandles="1" noChangeArrowheads="1" noChangeShapeType="1" noTextEdit="1"/>
              </p:cNvSpPr>
              <p:nvPr/>
            </p:nvSpPr>
            <p:spPr>
              <a:xfrm>
                <a:off x="490934" y="1599442"/>
                <a:ext cx="11460384" cy="1477328"/>
              </a:xfrm>
              <a:prstGeom prst="rect">
                <a:avLst/>
              </a:prstGeom>
              <a:blipFill>
                <a:blip r:embed="rId4"/>
                <a:stretch>
                  <a:fillRect l="-479" t="-2058" b="-5350"/>
                </a:stretch>
              </a:blipFill>
            </p:spPr>
            <p:txBody>
              <a:bodyPr/>
              <a:lstStyle/>
              <a:p>
                <a:r>
                  <a:rPr lang="en-US">
                    <a:noFill/>
                  </a:rPr>
                  <a:t> </a:t>
                </a:r>
              </a:p>
            </p:txBody>
          </p:sp>
        </mc:Fallback>
      </mc:AlternateContent>
    </p:spTree>
    <p:extLst>
      <p:ext uri="{BB962C8B-B14F-4D97-AF65-F5344CB8AC3E}">
        <p14:creationId xmlns:p14="http://schemas.microsoft.com/office/powerpoint/2010/main" val="32171788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7BE3287B-3C6B-4162-B9D3-5F7BD0A4C22E}"/>
              </a:ext>
            </a:extLst>
          </p:cNvPr>
          <p:cNvSpPr txBox="1"/>
          <p:nvPr/>
        </p:nvSpPr>
        <p:spPr>
          <a:xfrm>
            <a:off x="4532375" y="3044279"/>
            <a:ext cx="5299587" cy="769441"/>
          </a:xfrm>
          <a:prstGeom prst="rect">
            <a:avLst/>
          </a:prstGeom>
          <a:noFill/>
        </p:spPr>
        <p:txBody>
          <a:bodyPr wrap="square" rtlCol="0">
            <a:spAutoFit/>
          </a:bodyPr>
          <a:lstStyle/>
          <a:p>
            <a:r>
              <a:rPr lang="it-IT" sz="4400" dirty="0">
                <a:solidFill>
                  <a:schemeClr val="accent1">
                    <a:lumMod val="50000"/>
                  </a:schemeClr>
                </a:solidFill>
                <a:latin typeface="+mj-lt"/>
              </a:rPr>
              <a:t>AQO model</a:t>
            </a:r>
            <a:endParaRPr lang="en-US" sz="4400" dirty="0">
              <a:solidFill>
                <a:schemeClr val="accent1">
                  <a:lumMod val="50000"/>
                </a:schemeClr>
              </a:solidFill>
              <a:latin typeface="+mj-lt"/>
            </a:endParaRPr>
          </a:p>
        </p:txBody>
      </p:sp>
    </p:spTree>
    <p:extLst>
      <p:ext uri="{BB962C8B-B14F-4D97-AF65-F5344CB8AC3E}">
        <p14:creationId xmlns:p14="http://schemas.microsoft.com/office/powerpoint/2010/main" val="25261940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66002DF0-1586-4668-A962-3FEBDABFEE2A}"/>
              </a:ext>
            </a:extLst>
          </p:cNvPr>
          <p:cNvSpPr txBox="1"/>
          <p:nvPr/>
        </p:nvSpPr>
        <p:spPr>
          <a:xfrm>
            <a:off x="2884202" y="508340"/>
            <a:ext cx="5928851" cy="769441"/>
          </a:xfrm>
          <a:prstGeom prst="rect">
            <a:avLst/>
          </a:prstGeom>
          <a:noFill/>
        </p:spPr>
        <p:txBody>
          <a:bodyPr wrap="square" rtlCol="0">
            <a:spAutoFit/>
          </a:bodyPr>
          <a:lstStyle/>
          <a:p>
            <a:r>
              <a:rPr lang="it-IT" sz="4400" dirty="0">
                <a:solidFill>
                  <a:schemeClr val="accent1">
                    <a:lumMod val="50000"/>
                  </a:schemeClr>
                </a:solidFill>
                <a:latin typeface="+mj-lt"/>
              </a:rPr>
              <a:t>A </a:t>
            </a:r>
            <a:r>
              <a:rPr lang="it-IT" sz="4400" dirty="0" err="1">
                <a:solidFill>
                  <a:schemeClr val="accent1">
                    <a:lumMod val="50000"/>
                  </a:schemeClr>
                </a:solidFill>
                <a:latin typeface="+mj-lt"/>
              </a:rPr>
              <a:t>view</a:t>
            </a:r>
            <a:r>
              <a:rPr lang="it-IT" sz="4400" dirty="0">
                <a:solidFill>
                  <a:schemeClr val="accent1">
                    <a:lumMod val="50000"/>
                  </a:schemeClr>
                </a:solidFill>
                <a:latin typeface="+mj-lt"/>
              </a:rPr>
              <a:t> over </a:t>
            </a:r>
            <a:r>
              <a:rPr lang="it-IT" sz="4400" dirty="0" err="1">
                <a:solidFill>
                  <a:schemeClr val="accent1">
                    <a:lumMod val="50000"/>
                  </a:schemeClr>
                </a:solidFill>
                <a:latin typeface="+mj-lt"/>
              </a:rPr>
              <a:t>local</a:t>
            </a:r>
            <a:r>
              <a:rPr lang="it-IT" sz="4400" dirty="0">
                <a:solidFill>
                  <a:schemeClr val="accent1">
                    <a:lumMod val="50000"/>
                  </a:schemeClr>
                </a:solidFill>
                <a:latin typeface="+mj-lt"/>
              </a:rPr>
              <a:t> minima</a:t>
            </a:r>
            <a:endParaRPr lang="en-US" sz="4400" dirty="0">
              <a:solidFill>
                <a:schemeClr val="accent1">
                  <a:lumMod val="50000"/>
                </a:schemeClr>
              </a:solidFill>
              <a:latin typeface="+mj-lt"/>
            </a:endParaRPr>
          </a:p>
        </p:txBody>
      </p:sp>
      <p:pic>
        <p:nvPicPr>
          <p:cNvPr id="3" name="Immagine 2">
            <a:extLst>
              <a:ext uri="{FF2B5EF4-FFF2-40B4-BE49-F238E27FC236}">
                <a16:creationId xmlns:a16="http://schemas.microsoft.com/office/drawing/2014/main" id="{253AD85F-F497-41C0-8667-4BC29D9584D1}"/>
              </a:ext>
            </a:extLst>
          </p:cNvPr>
          <p:cNvPicPr>
            <a:picLocks noChangeAspect="1"/>
          </p:cNvPicPr>
          <p:nvPr/>
        </p:nvPicPr>
        <p:blipFill rotWithShape="1">
          <a:blip r:embed="rId2"/>
          <a:srcRect t="1" b="15294"/>
          <a:stretch/>
        </p:blipFill>
        <p:spPr bwMode="auto">
          <a:xfrm>
            <a:off x="401823" y="1682643"/>
            <a:ext cx="3796112" cy="2395010"/>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B9950406-3BB1-4E5E-A231-1472CE558B67}"/>
                  </a:ext>
                </a:extLst>
              </p:cNvPr>
              <p:cNvSpPr txBox="1"/>
              <p:nvPr/>
            </p:nvSpPr>
            <p:spPr>
              <a:xfrm>
                <a:off x="1668026" y="4482515"/>
                <a:ext cx="9072880" cy="1683666"/>
              </a:xfrm>
              <a:prstGeom prst="rect">
                <a:avLst/>
              </a:prstGeom>
              <a:noFill/>
            </p:spPr>
            <p:txBody>
              <a:bodyPr wrap="square">
                <a:spAutoFit/>
              </a:bodyPr>
              <a:lstStyle/>
              <a:p>
                <a:r>
                  <a:rPr lang="en-US" dirty="0">
                    <a:effectLst/>
                    <a:ea typeface="Calibri" panose="020F0502020204030204" pitchFamily="34" charset="0"/>
                  </a:rPr>
                  <a:t>the free energy for this circuit is given by  </a:t>
                </a:r>
              </a:p>
              <a:p>
                <a:pPr>
                  <a:spcAft>
                    <a:spcPts val="1200"/>
                  </a:spcAft>
                </a:pPr>
                <a14:m>
                  <m:oMathPara xmlns:m="http://schemas.openxmlformats.org/officeDocument/2006/math">
                    <m:oMathParaPr>
                      <m:jc m:val="centerGroup"/>
                    </m:oMathParaPr>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𝐸</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𝐴</m:t>
                      </m:r>
                      <m:r>
                        <a:rPr lang="en-US" i="1">
                          <a:effectLst/>
                          <a:latin typeface="Cambria Math" panose="02040503050406030204" pitchFamily="18" charset="0"/>
                          <a:ea typeface="Calibri" panose="020F0502020204030204" pitchFamily="34" charset="0"/>
                          <a:cs typeface="Calibri Light" panose="020F0302020204030204" pitchFamily="34" charset="0"/>
                        </a:rPr>
                        <m:t>−</m:t>
                      </m:r>
                      <m:r>
                        <a:rPr lang="en-US">
                          <a:effectLst/>
                          <a:latin typeface="Cambria Math" panose="02040503050406030204" pitchFamily="18" charset="0"/>
                          <a:ea typeface="Calibri" panose="020F0502020204030204" pitchFamily="34" charset="0"/>
                          <a:cs typeface="Calibri Light" panose="020F0302020204030204" pitchFamily="34" charset="0"/>
                        </a:rPr>
                        <m:t>1/2</m:t>
                      </m:r>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a:effectLst/>
                              <a:latin typeface="Cambria Math" panose="02040503050406030204" pitchFamily="18" charset="0"/>
                              <a:ea typeface="Calibri" panose="020F0502020204030204" pitchFamily="34" charset="0"/>
                              <a:cs typeface="Calibri Light" panose="020F0302020204030204" pitchFamily="34" charset="0"/>
                            </a:rPr>
                            <m:t>∑</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𝐵</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𝑖𝑗</m:t>
                          </m:r>
                        </m:sub>
                      </m:sSub>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𝑁</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m:t>
                          </m:r>
                        </m:sub>
                      </m:sSub>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𝑁</m:t>
                          </m:r>
                        </m:e>
                        <m:sub>
                          <m:r>
                            <a:rPr lang="en-US"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i="1">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a:effectLst/>
                              <a:latin typeface="Cambria Math" panose="02040503050406030204" pitchFamily="18" charset="0"/>
                              <a:ea typeface="Calibri" panose="020F0502020204030204" pitchFamily="34" charset="0"/>
                              <a:cs typeface="Calibri Light" panose="020F0302020204030204" pitchFamily="34" charset="0"/>
                            </a:rPr>
                            <m:t>∑</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m:t>
                          </m:r>
                        </m:sub>
                      </m:sSub>
                      <m:r>
                        <a:rPr lang="en-US">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𝐶</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m:t>
                          </m:r>
                        </m:sub>
                      </m:sSub>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𝑁</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m:t>
                          </m:r>
                        </m:sub>
                      </m:sSub>
                    </m:oMath>
                  </m:oMathPara>
                </a14:m>
                <a:endParaRPr lang="en-US" dirty="0">
                  <a:effectLst/>
                  <a:ea typeface="Calibri" panose="020F0502020204030204" pitchFamily="34" charset="0"/>
                </a:endParaRPr>
              </a:p>
              <a:p>
                <a:r>
                  <a:rPr lang="en-US" dirty="0">
                    <a:effectLst/>
                    <a:ea typeface="Calibri" panose="020F0502020204030204" pitchFamily="34" charset="0"/>
                  </a:rPr>
                  <a:t>where </a:t>
                </a:r>
                <a14:m>
                  <m:oMath xmlns:m="http://schemas.openxmlformats.org/officeDocument/2006/math">
                    <m:sSub>
                      <m:sSubPr>
                        <m:ctrlPr>
                          <a:rPr lang="en-US" i="1">
                            <a:effectLst/>
                            <a:latin typeface="Cambria Math" panose="02040503050406030204" pitchFamily="18"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𝑁</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m:t>
                        </m:r>
                      </m:sub>
                    </m:sSub>
                  </m:oMath>
                </a14:m>
                <a:r>
                  <a:rPr lang="en-US" dirty="0">
                    <a:effectLst/>
                    <a:ea typeface="Calibri" panose="020F0502020204030204" pitchFamily="34" charset="0"/>
                  </a:rPr>
                  <a:t> is the state of each tunnel junction, and that the coefficients </a:t>
                </a:r>
                <a14:m>
                  <m:oMath xmlns:m="http://schemas.openxmlformats.org/officeDocument/2006/math">
                    <m:r>
                      <a:rPr lang="en-US" i="1">
                        <a:effectLst/>
                        <a:latin typeface="Cambria Math" panose="02040503050406030204" pitchFamily="18" charset="0"/>
                        <a:ea typeface="Calibri" panose="020F0502020204030204" pitchFamily="34" charset="0"/>
                        <a:cs typeface="Calibri Light" panose="020F0302020204030204" pitchFamily="34" charset="0"/>
                      </a:rPr>
                      <m:t>𝐴</m:t>
                    </m:r>
                    <m:r>
                      <a:rPr lang="en-US">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i="1">
                            <a:effectLst/>
                            <a:latin typeface="Cambria Math" panose="02040503050406030204" pitchFamily="18"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𝐵</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𝑖𝑗</m:t>
                        </m:r>
                      </m:sub>
                    </m:sSub>
                  </m:oMath>
                </a14:m>
                <a:r>
                  <a:rPr lang="en-US" dirty="0">
                    <a:effectLst/>
                    <a:ea typeface="Calibri" panose="020F0502020204030204" pitchFamily="34" charset="0"/>
                  </a:rPr>
                  <a:t>, and </a:t>
                </a:r>
                <a14:m>
                  <m:oMath xmlns:m="http://schemas.openxmlformats.org/officeDocument/2006/math">
                    <m:sSub>
                      <m:sSubPr>
                        <m:ctrlPr>
                          <a:rPr lang="en-US" i="1">
                            <a:effectLst/>
                            <a:latin typeface="Cambria Math" panose="02040503050406030204" pitchFamily="18"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𝐶</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m:t>
                        </m:r>
                      </m:sub>
                    </m:sSub>
                  </m:oMath>
                </a14:m>
                <a:r>
                  <a:rPr lang="en-US" dirty="0">
                    <a:effectLst/>
                    <a:ea typeface="Calibri" panose="020F0502020204030204" pitchFamily="34" charset="0"/>
                  </a:rPr>
                  <a:t> can be set at any desired value, based on the connection pattern and the capacitance values of the tunnel junctions, connection capacitors, and ground capacitors</a:t>
                </a:r>
                <a:endParaRPr lang="en-US" dirty="0"/>
              </a:p>
            </p:txBody>
          </p:sp>
        </mc:Choice>
        <mc:Fallback xmlns="">
          <p:sp>
            <p:nvSpPr>
              <p:cNvPr id="6" name="CasellaDiTesto 5">
                <a:extLst>
                  <a:ext uri="{FF2B5EF4-FFF2-40B4-BE49-F238E27FC236}">
                    <a16:creationId xmlns:a16="http://schemas.microsoft.com/office/drawing/2014/main" id="{B9950406-3BB1-4E5E-A231-1472CE558B67}"/>
                  </a:ext>
                </a:extLst>
              </p:cNvPr>
              <p:cNvSpPr txBox="1">
                <a:spLocks noRot="1" noChangeAspect="1" noMove="1" noResize="1" noEditPoints="1" noAdjustHandles="1" noChangeArrowheads="1" noChangeShapeType="1" noTextEdit="1"/>
              </p:cNvSpPr>
              <p:nvPr/>
            </p:nvSpPr>
            <p:spPr>
              <a:xfrm>
                <a:off x="1668026" y="4482515"/>
                <a:ext cx="9072880" cy="1683666"/>
              </a:xfrm>
              <a:prstGeom prst="rect">
                <a:avLst/>
              </a:prstGeom>
              <a:blipFill>
                <a:blip r:embed="rId4"/>
                <a:stretch>
                  <a:fillRect l="-605" t="-1805" r="-403" b="-4693"/>
                </a:stretch>
              </a:blipFill>
            </p:spPr>
            <p:txBody>
              <a:bodyPr/>
              <a:lstStyle/>
              <a:p>
                <a:r>
                  <a:rPr lang="en-US">
                    <a:noFill/>
                  </a:rPr>
                  <a:t> </a:t>
                </a:r>
              </a:p>
            </p:txBody>
          </p:sp>
        </mc:Fallback>
      </mc:AlternateContent>
      <p:pic>
        <p:nvPicPr>
          <p:cNvPr id="7" name="Immagine 6">
            <a:extLst>
              <a:ext uri="{FF2B5EF4-FFF2-40B4-BE49-F238E27FC236}">
                <a16:creationId xmlns:a16="http://schemas.microsoft.com/office/drawing/2014/main" id="{19088C2F-CB53-4F21-8997-DBD84C92F5F4}"/>
              </a:ext>
            </a:extLst>
          </p:cNvPr>
          <p:cNvPicPr>
            <a:picLocks noChangeAspect="1"/>
          </p:cNvPicPr>
          <p:nvPr/>
        </p:nvPicPr>
        <p:blipFill>
          <a:blip r:embed="rId5"/>
          <a:stretch>
            <a:fillRect/>
          </a:stretch>
        </p:blipFill>
        <p:spPr>
          <a:xfrm>
            <a:off x="4436949" y="1682643"/>
            <a:ext cx="3895682" cy="2461512"/>
          </a:xfrm>
          <a:prstGeom prst="rect">
            <a:avLst/>
          </a:prstGeom>
        </p:spPr>
      </p:pic>
      <p:pic>
        <p:nvPicPr>
          <p:cNvPr id="5" name="Immagine 4">
            <a:extLst>
              <a:ext uri="{FF2B5EF4-FFF2-40B4-BE49-F238E27FC236}">
                <a16:creationId xmlns:a16="http://schemas.microsoft.com/office/drawing/2014/main" id="{1BE4F5EF-0E74-49BD-863E-3F02D0C2E711}"/>
              </a:ext>
            </a:extLst>
          </p:cNvPr>
          <p:cNvPicPr>
            <a:picLocks noChangeAspect="1"/>
          </p:cNvPicPr>
          <p:nvPr/>
        </p:nvPicPr>
        <p:blipFill>
          <a:blip r:embed="rId6"/>
          <a:stretch>
            <a:fillRect/>
          </a:stretch>
        </p:blipFill>
        <p:spPr>
          <a:xfrm>
            <a:off x="8571645" y="1757745"/>
            <a:ext cx="3421964" cy="2319908"/>
          </a:xfrm>
          <a:prstGeom prst="rect">
            <a:avLst/>
          </a:prstGeom>
        </p:spPr>
      </p:pic>
    </p:spTree>
    <p:extLst>
      <p:ext uri="{BB962C8B-B14F-4D97-AF65-F5344CB8AC3E}">
        <p14:creationId xmlns:p14="http://schemas.microsoft.com/office/powerpoint/2010/main" val="6205431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66002DF0-1586-4668-A962-3FEBDABFEE2A}"/>
              </a:ext>
            </a:extLst>
          </p:cNvPr>
          <p:cNvSpPr txBox="1"/>
          <p:nvPr/>
        </p:nvSpPr>
        <p:spPr>
          <a:xfrm>
            <a:off x="4268004" y="409644"/>
            <a:ext cx="5928851" cy="769441"/>
          </a:xfrm>
          <a:prstGeom prst="rect">
            <a:avLst/>
          </a:prstGeom>
          <a:noFill/>
        </p:spPr>
        <p:txBody>
          <a:bodyPr wrap="square" rtlCol="0">
            <a:spAutoFit/>
          </a:bodyPr>
          <a:lstStyle/>
          <a:p>
            <a:r>
              <a:rPr lang="it-IT" sz="4400" dirty="0" err="1">
                <a:solidFill>
                  <a:schemeClr val="accent1">
                    <a:lumMod val="50000"/>
                  </a:schemeClr>
                </a:solidFill>
                <a:latin typeface="+mj-lt"/>
              </a:rPr>
              <a:t>Ising</a:t>
            </a:r>
            <a:r>
              <a:rPr lang="it-IT" sz="4400" dirty="0">
                <a:solidFill>
                  <a:schemeClr val="accent1">
                    <a:lumMod val="50000"/>
                  </a:schemeClr>
                </a:solidFill>
                <a:latin typeface="+mj-lt"/>
              </a:rPr>
              <a:t> </a:t>
            </a:r>
            <a:r>
              <a:rPr lang="it-IT" sz="4400" dirty="0" err="1">
                <a:solidFill>
                  <a:schemeClr val="accent1">
                    <a:lumMod val="50000"/>
                  </a:schemeClr>
                </a:solidFill>
                <a:latin typeface="+mj-lt"/>
              </a:rPr>
              <a:t>Parallelism</a:t>
            </a:r>
            <a:endParaRPr lang="en-US" sz="4400" dirty="0">
              <a:solidFill>
                <a:schemeClr val="accent1">
                  <a:lumMod val="50000"/>
                </a:schemeClr>
              </a:solidFill>
              <a:latin typeface="+mj-lt"/>
            </a:endParaRPr>
          </a:p>
        </p:txBody>
      </p:sp>
      <p:pic>
        <p:nvPicPr>
          <p:cNvPr id="3" name="Immagine 2" descr="Immagine che contiene interni&#10;&#10;Descrizione generata automaticamente">
            <a:extLst>
              <a:ext uri="{FF2B5EF4-FFF2-40B4-BE49-F238E27FC236}">
                <a16:creationId xmlns:a16="http://schemas.microsoft.com/office/drawing/2014/main" id="{22D61AD2-CEDC-4565-A669-FF5B75543C78}"/>
              </a:ext>
            </a:extLst>
          </p:cNvPr>
          <p:cNvPicPr>
            <a:picLocks noChangeAspect="1"/>
          </p:cNvPicPr>
          <p:nvPr/>
        </p:nvPicPr>
        <p:blipFill rotWithShape="1">
          <a:blip r:embed="rId2"/>
          <a:srcRect b="9289"/>
          <a:stretch/>
        </p:blipFill>
        <p:spPr bwMode="auto">
          <a:xfrm>
            <a:off x="3692698" y="1483779"/>
            <a:ext cx="4816820" cy="2315390"/>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8214D62B-C649-497B-B994-7198B17DD5DD}"/>
                  </a:ext>
                </a:extLst>
              </p:cNvPr>
              <p:cNvSpPr txBox="1"/>
              <p:nvPr/>
            </p:nvSpPr>
            <p:spPr>
              <a:xfrm>
                <a:off x="1276141" y="4103863"/>
                <a:ext cx="10369899" cy="2635337"/>
              </a:xfrm>
              <a:prstGeom prst="rect">
                <a:avLst/>
              </a:prstGeom>
              <a:noFill/>
            </p:spPr>
            <p:txBody>
              <a:bodyPr wrap="square">
                <a:spAutoFit/>
              </a:bodyPr>
              <a:lstStyle/>
              <a:p>
                <a:r>
                  <a:rPr lang="en-US" sz="1800" dirty="0">
                    <a:effectLst/>
                    <a:latin typeface="Calibri Light" panose="020F0302020204030204" pitchFamily="34" charset="0"/>
                    <a:ea typeface="Calibri" panose="020F0502020204030204" pitchFamily="34" charset="0"/>
                  </a:rPr>
                  <a:t>The total magnetic field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h</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r>
                      <a:rPr lang="en-US" sz="1800" i="1">
                        <a:effectLst/>
                        <a:latin typeface="Cambria Math" panose="02040503050406030204" pitchFamily="18" charset="0"/>
                        <a:ea typeface="Calibri" panose="020F0502020204030204" pitchFamily="34" charset="0"/>
                        <a:cs typeface="Calibri Light" panose="020F0302020204030204" pitchFamily="34" charset="0"/>
                      </a:rPr>
                      <m:t> </m:t>
                    </m:r>
                  </m:oMath>
                </a14:m>
                <a:r>
                  <a:rPr lang="en-US" sz="1800" dirty="0">
                    <a:effectLst/>
                    <a:latin typeface="Calibri Light" panose="020F0302020204030204" pitchFamily="34" charset="0"/>
                    <a:ea typeface="Calibri" panose="020F0502020204030204" pitchFamily="34" charset="0"/>
                  </a:rPr>
                  <a:t>sensed by the atom </a:t>
                </a:r>
                <a:r>
                  <a:rPr lang="en-US" sz="1800" dirty="0" err="1">
                    <a:effectLst/>
                    <a:latin typeface="Calibri Light" panose="020F0302020204030204" pitchFamily="34" charset="0"/>
                    <a:ea typeface="Calibri" panose="020F0502020204030204" pitchFamily="34" charset="0"/>
                  </a:rPr>
                  <a:t>i</a:t>
                </a:r>
                <a:r>
                  <a:rPr lang="en-US" sz="1800" dirty="0">
                    <a:effectLst/>
                    <a:latin typeface="Calibri Light" panose="020F0302020204030204" pitchFamily="34" charset="0"/>
                    <a:ea typeface="Calibri" panose="020F0502020204030204" pitchFamily="34" charset="0"/>
                  </a:rPr>
                  <a:t> in an ensemble of particles is the sum of the fields induced by each atom and the external field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h</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m:t>
                        </m:r>
                      </m:sup>
                    </m:sSup>
                  </m:oMath>
                </a14:m>
                <a:r>
                  <a:rPr lang="en-US" sz="1800" dirty="0">
                    <a:effectLst/>
                    <a:latin typeface="Calibri Light" panose="020F0302020204030204" pitchFamily="34" charset="0"/>
                    <a:ea typeface="Calibri" panose="020F0502020204030204" pitchFamily="34" charset="0"/>
                  </a:rPr>
                  <a:t> (if present), that is</a:t>
                </a:r>
                <a:endParaRPr lang="en-US" sz="2800" dirty="0">
                  <a:effectLst/>
                  <a:latin typeface="Calibri" panose="020F0502020204030204" pitchFamily="34" charset="0"/>
                  <a:ea typeface="Calibri" panose="020F0502020204030204" pitchFamily="34" charset="0"/>
                </a:endParaRPr>
              </a:p>
              <a:p>
                <a:r>
                  <a:rPr lang="en-US" sz="1800" dirty="0">
                    <a:effectLst/>
                    <a:latin typeface="Calibri Light" panose="020F0302020204030204" pitchFamily="34" charset="0"/>
                    <a:ea typeface="Calibri" panose="020F0502020204030204" pitchFamily="34" charset="0"/>
                  </a:rPr>
                  <a:t> </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h</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𝑤</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𝑖𝑗</m:t>
                          </m:r>
                        </m:sub>
                      </m:s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h</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m:t>
                          </m:r>
                        </m:sup>
                      </m:sSup>
                    </m:oMath>
                  </m:oMathPara>
                </a14:m>
                <a:endParaRPr lang="en-US" sz="2800" dirty="0">
                  <a:effectLst/>
                  <a:latin typeface="Calibri" panose="020F0502020204030204" pitchFamily="34" charset="0"/>
                  <a:ea typeface="Calibri" panose="020F0502020204030204" pitchFamily="34" charset="0"/>
                </a:endParaRPr>
              </a:p>
              <a:p>
                <a:r>
                  <a:rPr lang="en-US" sz="1800" dirty="0">
                    <a:effectLst/>
                    <a:latin typeface="Calibri Light" panose="020F0302020204030204" pitchFamily="34" charset="0"/>
                    <a:ea typeface="Calibri" panose="020F0502020204030204" pitchFamily="34" charset="0"/>
                  </a:rPr>
                  <a:t>where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𝑤</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𝑖𝑗</m:t>
                        </m:r>
                      </m:sub>
                    </m:sSub>
                    <m:r>
                      <a:rPr lang="en-US" sz="1800" i="1">
                        <a:effectLst/>
                        <a:latin typeface="Cambria Math" panose="02040503050406030204" pitchFamily="18" charset="0"/>
                        <a:ea typeface="Calibri" panose="020F0502020204030204" pitchFamily="34" charset="0"/>
                        <a:cs typeface="Calibri Light" panose="020F0302020204030204" pitchFamily="34" charset="0"/>
                      </a:rPr>
                      <m:t> </m:t>
                    </m:r>
                  </m:oMath>
                </a14:m>
                <a:r>
                  <a:rPr lang="en-US" sz="1800" dirty="0">
                    <a:effectLst/>
                    <a:latin typeface="Calibri Light" panose="020F0302020204030204" pitchFamily="34" charset="0"/>
                    <a:ea typeface="Calibri" panose="020F0502020204030204" pitchFamily="34" charset="0"/>
                  </a:rPr>
                  <a:t>represents the magnitude of the magnetic coupling between the atoms labeled </a:t>
                </a:r>
                <a:r>
                  <a:rPr lang="en-US" sz="1800" dirty="0" err="1">
                    <a:effectLst/>
                    <a:latin typeface="Calibri Light" panose="020F0302020204030204" pitchFamily="34" charset="0"/>
                    <a:ea typeface="Calibri" panose="020F0502020204030204" pitchFamily="34" charset="0"/>
                  </a:rPr>
                  <a:t>i</a:t>
                </a:r>
                <a:r>
                  <a:rPr lang="en-US" sz="1800" dirty="0">
                    <a:effectLst/>
                    <a:latin typeface="Calibri Light" panose="020F0302020204030204" pitchFamily="34" charset="0"/>
                    <a:ea typeface="Calibri" panose="020F0502020204030204" pitchFamily="34" charset="0"/>
                  </a:rPr>
                  <a:t> and j. The potential energy E of a certain state of an </a:t>
                </a:r>
                <a:r>
                  <a:rPr lang="en-US" sz="1800" dirty="0" err="1">
                    <a:effectLst/>
                    <a:latin typeface="Calibri Light" panose="020F0302020204030204" pitchFamily="34" charset="0"/>
                    <a:ea typeface="Calibri" panose="020F0502020204030204" pitchFamily="34" charset="0"/>
                  </a:rPr>
                  <a:t>Ising</a:t>
                </a:r>
                <a:r>
                  <a:rPr lang="en-US" sz="1800" dirty="0">
                    <a:effectLst/>
                    <a:latin typeface="Calibri Light" panose="020F0302020204030204" pitchFamily="34" charset="0"/>
                    <a:ea typeface="Calibri" panose="020F0502020204030204" pitchFamily="34" charset="0"/>
                  </a:rPr>
                  <a:t> material has the form</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𝐸</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a:effectLst/>
                              <a:latin typeface="Cambria Math" panose="02040503050406030204" pitchFamily="18" charset="0"/>
                              <a:ea typeface="Calibri" panose="020F0502020204030204" pitchFamily="34" charset="0"/>
                              <a:cs typeface="Calibri Light" panose="020F0302020204030204" pitchFamily="34" charset="0"/>
                            </a:rPr>
                            <m:t>2</m:t>
                          </m:r>
                        </m:den>
                      </m:f>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𝑤</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𝑖𝑗</m:t>
                          </m:r>
                        </m:sub>
                      </m:s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h</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m:t>
                          </m:r>
                        </m:sup>
                      </m:sSup>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oMath>
                  </m:oMathPara>
                </a14:m>
                <a:endParaRPr lang="en-US" sz="2800" dirty="0">
                  <a:effectLst/>
                  <a:latin typeface="Calibri" panose="020F0502020204030204" pitchFamily="34" charset="0"/>
                  <a:ea typeface="Calibri" panose="020F0502020204030204" pitchFamily="34" charset="0"/>
                </a:endParaRPr>
              </a:p>
            </p:txBody>
          </p:sp>
        </mc:Choice>
        <mc:Fallback xmlns="">
          <p:sp>
            <p:nvSpPr>
              <p:cNvPr id="5" name="CasellaDiTesto 4">
                <a:extLst>
                  <a:ext uri="{FF2B5EF4-FFF2-40B4-BE49-F238E27FC236}">
                    <a16:creationId xmlns:a16="http://schemas.microsoft.com/office/drawing/2014/main" id="{8214D62B-C649-497B-B994-7198B17DD5DD}"/>
                  </a:ext>
                </a:extLst>
              </p:cNvPr>
              <p:cNvSpPr txBox="1">
                <a:spLocks noRot="1" noChangeAspect="1" noMove="1" noResize="1" noEditPoints="1" noAdjustHandles="1" noChangeArrowheads="1" noChangeShapeType="1" noTextEdit="1"/>
              </p:cNvSpPr>
              <p:nvPr/>
            </p:nvSpPr>
            <p:spPr>
              <a:xfrm>
                <a:off x="1276141" y="4103863"/>
                <a:ext cx="10369899" cy="2635337"/>
              </a:xfrm>
              <a:prstGeom prst="rect">
                <a:avLst/>
              </a:prstGeom>
              <a:blipFill>
                <a:blip r:embed="rId4"/>
                <a:stretch>
                  <a:fillRect l="-470" t="-1155" r="-176"/>
                </a:stretch>
              </a:blipFill>
            </p:spPr>
            <p:txBody>
              <a:bodyPr/>
              <a:lstStyle/>
              <a:p>
                <a:r>
                  <a:rPr lang="en-US">
                    <a:noFill/>
                  </a:rPr>
                  <a:t> </a:t>
                </a:r>
              </a:p>
            </p:txBody>
          </p:sp>
        </mc:Fallback>
      </mc:AlternateContent>
    </p:spTree>
    <p:extLst>
      <p:ext uri="{BB962C8B-B14F-4D97-AF65-F5344CB8AC3E}">
        <p14:creationId xmlns:p14="http://schemas.microsoft.com/office/powerpoint/2010/main" val="17267838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61E1C02F-068F-463D-B0C3-3F1B67886333}"/>
              </a:ext>
            </a:extLst>
          </p:cNvPr>
          <p:cNvSpPr txBox="1"/>
          <p:nvPr/>
        </p:nvSpPr>
        <p:spPr>
          <a:xfrm>
            <a:off x="2492805" y="327051"/>
            <a:ext cx="8412299" cy="769441"/>
          </a:xfrm>
          <a:prstGeom prst="rect">
            <a:avLst/>
          </a:prstGeom>
          <a:noFill/>
        </p:spPr>
        <p:txBody>
          <a:bodyPr wrap="square" rtlCol="0">
            <a:spAutoFit/>
          </a:bodyPr>
          <a:lstStyle/>
          <a:p>
            <a:r>
              <a:rPr lang="it-IT" sz="4400" dirty="0" err="1">
                <a:solidFill>
                  <a:schemeClr val="accent1">
                    <a:lumMod val="50000"/>
                  </a:schemeClr>
                </a:solidFill>
                <a:latin typeface="+mj-lt"/>
              </a:rPr>
              <a:t>Problem</a:t>
            </a:r>
            <a:r>
              <a:rPr lang="it-IT" sz="4400" dirty="0">
                <a:solidFill>
                  <a:schemeClr val="accent1">
                    <a:lumMod val="50000"/>
                  </a:schemeClr>
                </a:solidFill>
                <a:latin typeface="+mj-lt"/>
              </a:rPr>
              <a:t> solving via </a:t>
            </a:r>
            <a:r>
              <a:rPr lang="it-IT" sz="4400" dirty="0" err="1">
                <a:solidFill>
                  <a:schemeClr val="accent1">
                    <a:lumMod val="50000"/>
                  </a:schemeClr>
                </a:solidFill>
                <a:latin typeface="+mj-lt"/>
              </a:rPr>
              <a:t>Hopfield</a:t>
            </a:r>
            <a:r>
              <a:rPr lang="it-IT" sz="4400" dirty="0">
                <a:solidFill>
                  <a:schemeClr val="accent1">
                    <a:lumMod val="50000"/>
                  </a:schemeClr>
                </a:solidFill>
                <a:latin typeface="+mj-lt"/>
              </a:rPr>
              <a:t> </a:t>
            </a:r>
            <a:endParaRPr lang="en-US" sz="4400" dirty="0">
              <a:solidFill>
                <a:schemeClr val="accent1">
                  <a:lumMod val="50000"/>
                </a:schemeClr>
              </a:solidFill>
              <a:latin typeface="+mj-lt"/>
            </a:endParaRPr>
          </a:p>
        </p:txBody>
      </p:sp>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5856F90D-E7FB-4B67-87CA-6AA2F4D94F12}"/>
                  </a:ext>
                </a:extLst>
              </p:cNvPr>
              <p:cNvSpPr txBox="1"/>
              <p:nvPr/>
            </p:nvSpPr>
            <p:spPr>
              <a:xfrm>
                <a:off x="1751823" y="1607586"/>
                <a:ext cx="8539842" cy="1695079"/>
              </a:xfrm>
              <a:prstGeom prst="rect">
                <a:avLst/>
              </a:prstGeom>
              <a:noFill/>
            </p:spPr>
            <p:txBody>
              <a:bodyPr wrap="square">
                <a:spAutoFit/>
              </a:bodyPr>
              <a:lstStyle/>
              <a:p>
                <a:r>
                  <a:rPr lang="en-US" dirty="0">
                    <a:effectLst/>
                    <a:ea typeface="Calibri" panose="020F0502020204030204" pitchFamily="34" charset="0"/>
                  </a:rPr>
                  <a:t>They consider the k-rooks problem as a canonical example of an energy minimization solvable problem. Modeling the configuration or state of the chessboard in terms of a bipolar k × k matrix </a:t>
                </a:r>
                <a:r>
                  <a:rPr lang="en-US" b="1" dirty="0">
                    <a:effectLst/>
                    <a:ea typeface="Calibri" panose="020F0502020204030204" pitchFamily="34" charset="0"/>
                  </a:rPr>
                  <a:t>S</a:t>
                </a:r>
                <a:r>
                  <a:rPr lang="en-US" dirty="0">
                    <a:effectLst/>
                    <a:ea typeface="Calibri" panose="020F0502020204030204" pitchFamily="34" charset="0"/>
                  </a:rPr>
                  <a:t> with entries</a:t>
                </a:r>
              </a:p>
              <a:p>
                <a:pPr>
                  <a:spcAft>
                    <a:spcPts val="1200"/>
                  </a:spcAft>
                </a:pPr>
                <a14:m>
                  <m:oMathPara xmlns:m="http://schemas.openxmlformats.org/officeDocument/2006/math">
                    <m:oMathParaPr>
                      <m:jc m:val="centerGroup"/>
                    </m:oMathParaPr>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i="1">
                              <a:effectLst/>
                              <a:latin typeface="Cambria Math" panose="02040503050406030204" pitchFamily="18" charset="0"/>
                              <a:ea typeface="Calibri" panose="020F0502020204030204" pitchFamily="34" charset="0"/>
                              <a:cs typeface="Calibri Light" panose="020F0302020204030204" pitchFamily="34" charset="0"/>
                            </a:rPr>
                            <m:t>𝑠</m:t>
                          </m:r>
                        </m:e>
                        <m:sub>
                          <m:r>
                            <a:rPr lang="en-US" i="1">
                              <a:effectLst/>
                              <a:latin typeface="Cambria Math" panose="02040503050406030204" pitchFamily="18" charset="0"/>
                              <a:ea typeface="Calibri" panose="020F0502020204030204" pitchFamily="34" charset="0"/>
                              <a:cs typeface="Calibri Light" panose="020F0302020204030204" pitchFamily="34" charset="0"/>
                            </a:rPr>
                            <m:t>𝑖𝑗</m:t>
                          </m:r>
                        </m:sub>
                      </m:sSub>
                      <m:r>
                        <a:rPr lang="en-US">
                          <a:effectLst/>
                          <a:latin typeface="Cambria Math" panose="02040503050406030204" pitchFamily="18" charset="0"/>
                          <a:ea typeface="Calibri" panose="020F0502020204030204" pitchFamily="34" charset="0"/>
                          <a:cs typeface="Calibri Light" panose="020F0302020204030204" pitchFamily="34" charset="0"/>
                        </a:rPr>
                        <m:t>=</m:t>
                      </m:r>
                      <m:d>
                        <m:dPr>
                          <m:begChr m:val="{"/>
                          <m:endChr m:val=""/>
                          <m:ctrlPr>
                            <a:rPr lang="en-US" i="1">
                              <a:effectLst/>
                              <a:latin typeface="Cambria Math" panose="02040503050406030204" pitchFamily="18" charset="0"/>
                              <a:ea typeface="Calibri" panose="020F0502020204030204" pitchFamily="34" charset="0"/>
                              <a:cs typeface="Calibri Light" panose="020F0302020204030204" pitchFamily="34" charset="0"/>
                            </a:rPr>
                          </m:ctrlPr>
                        </m:dPr>
                        <m:e>
                          <m:m>
                            <m:mPr>
                              <m:plcHide m:val="on"/>
                              <m:mcs>
                                <m:mc>
                                  <m:mcPr>
                                    <m:count m:val="2"/>
                                    <m:mcJc m:val="center"/>
                                  </m:mcPr>
                                </m:mc>
                              </m:mcs>
                              <m:ctrlPr>
                                <a:rPr lang="en-US" i="1">
                                  <a:effectLst/>
                                  <a:latin typeface="Cambria Math" panose="02040503050406030204" pitchFamily="18" charset="0"/>
                                  <a:ea typeface="Calibri" panose="020F0502020204030204" pitchFamily="34" charset="0"/>
                                  <a:cs typeface="Calibri Light" panose="020F0302020204030204" pitchFamily="34" charset="0"/>
                                </a:rPr>
                              </m:ctrlPr>
                            </m:mPr>
                            <m:mr>
                              <m:e>
                                <m:r>
                                  <a:rPr lang="en-US">
                                    <a:effectLst/>
                                    <a:latin typeface="Cambria Math" panose="02040503050406030204" pitchFamily="18" charset="0"/>
                                    <a:ea typeface="Calibri" panose="020F0502020204030204" pitchFamily="34" charset="0"/>
                                    <a:cs typeface="Calibri Light" panose="020F0302020204030204" pitchFamily="34" charset="0"/>
                                  </a:rPr>
                                  <m:t>+1</m:t>
                                </m:r>
                              </m:e>
                              <m:e>
                                <m:r>
                                  <m:rPr>
                                    <m:nor/>
                                  </m:rPr>
                                  <a:rPr lang="en-US" i="1">
                                    <a:effectLst/>
                                    <a:ea typeface="Calibri" panose="020F0502020204030204" pitchFamily="34" charset="0"/>
                                  </a:rPr>
                                  <m:t> </m:t>
                                </m:r>
                                <m:r>
                                  <m:rPr>
                                    <m:nor/>
                                  </m:rPr>
                                  <a:rPr lang="en-US">
                                    <a:effectLst/>
                                    <a:ea typeface="Calibri" panose="020F0502020204030204" pitchFamily="34" charset="0"/>
                                  </a:rPr>
                                  <m:t>if</m:t>
                                </m:r>
                                <m:r>
                                  <m:rPr>
                                    <m:nor/>
                                  </m:rPr>
                                  <a:rPr lang="en-US">
                                    <a:effectLst/>
                                    <a:ea typeface="Calibri" panose="020F0502020204030204" pitchFamily="34" charset="0"/>
                                  </a:rPr>
                                  <m:t> </m:t>
                                </m:r>
                                <m:r>
                                  <m:rPr>
                                    <m:nor/>
                                  </m:rPr>
                                  <a:rPr lang="en-US">
                                    <a:effectLst/>
                                    <a:ea typeface="Calibri" panose="020F0502020204030204" pitchFamily="34" charset="0"/>
                                  </a:rPr>
                                  <m:t>a</m:t>
                                </m:r>
                                <m:r>
                                  <m:rPr>
                                    <m:nor/>
                                  </m:rPr>
                                  <a:rPr lang="en-US">
                                    <a:effectLst/>
                                    <a:ea typeface="Calibri" panose="020F0502020204030204" pitchFamily="34" charset="0"/>
                                  </a:rPr>
                                  <m:t> </m:t>
                                </m:r>
                                <m:r>
                                  <m:rPr>
                                    <m:nor/>
                                  </m:rPr>
                                  <a:rPr lang="en-US">
                                    <a:effectLst/>
                                    <a:ea typeface="Calibri" panose="020F0502020204030204" pitchFamily="34" charset="0"/>
                                  </a:rPr>
                                  <m:t>rook</m:t>
                                </m:r>
                                <m:r>
                                  <m:rPr>
                                    <m:nor/>
                                  </m:rPr>
                                  <a:rPr lang="en-US">
                                    <a:effectLst/>
                                    <a:ea typeface="Calibri" panose="020F0502020204030204" pitchFamily="34" charset="0"/>
                                  </a:rPr>
                                  <m:t> </m:t>
                                </m:r>
                                <m:r>
                                  <m:rPr>
                                    <m:nor/>
                                  </m:rPr>
                                  <a:rPr lang="en-US">
                                    <a:effectLst/>
                                    <a:ea typeface="Calibri" panose="020F0502020204030204" pitchFamily="34" charset="0"/>
                                  </a:rPr>
                                  <m:t>is</m:t>
                                </m:r>
                                <m:r>
                                  <m:rPr>
                                    <m:nor/>
                                  </m:rPr>
                                  <a:rPr lang="en-US">
                                    <a:effectLst/>
                                    <a:ea typeface="Calibri" panose="020F0502020204030204" pitchFamily="34" charset="0"/>
                                  </a:rPr>
                                  <m:t> </m:t>
                                </m:r>
                                <m:r>
                                  <m:rPr>
                                    <m:nor/>
                                  </m:rPr>
                                  <a:rPr lang="en-US">
                                    <a:effectLst/>
                                    <a:ea typeface="Calibri" panose="020F0502020204030204" pitchFamily="34" charset="0"/>
                                  </a:rPr>
                                  <m:t>placed</m:t>
                                </m:r>
                                <m:r>
                                  <m:rPr>
                                    <m:nor/>
                                  </m:rPr>
                                  <a:rPr lang="en-US">
                                    <a:effectLst/>
                                    <a:ea typeface="Calibri" panose="020F0502020204030204" pitchFamily="34" charset="0"/>
                                  </a:rPr>
                                  <m:t> </m:t>
                                </m:r>
                                <m:r>
                                  <m:rPr>
                                    <m:nor/>
                                  </m:rPr>
                                  <a:rPr lang="en-US">
                                    <a:effectLst/>
                                    <a:ea typeface="Calibri" panose="020F0502020204030204" pitchFamily="34" charset="0"/>
                                  </a:rPr>
                                  <m:t>on</m:t>
                                </m:r>
                                <m:r>
                                  <m:rPr>
                                    <m:nor/>
                                  </m:rPr>
                                  <a:rPr lang="en-US">
                                    <a:effectLst/>
                                    <a:ea typeface="Calibri" panose="020F0502020204030204" pitchFamily="34" charset="0"/>
                                  </a:rPr>
                                  <m:t> </m:t>
                                </m:r>
                                <m:r>
                                  <m:rPr>
                                    <m:nor/>
                                  </m:rPr>
                                  <a:rPr lang="en-US">
                                    <a:effectLst/>
                                    <a:ea typeface="Calibri" panose="020F0502020204030204" pitchFamily="34" charset="0"/>
                                  </a:rPr>
                                  <m:t>field</m:t>
                                </m:r>
                                <m:r>
                                  <m:rPr>
                                    <m:nor/>
                                  </m:rPr>
                                  <a:rPr lang="en-US" i="1">
                                    <a:effectLst/>
                                    <a:ea typeface="Calibri" panose="020F0502020204030204" pitchFamily="34" charset="0"/>
                                  </a:rPr>
                                  <m:t> </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𝑖</m:t>
                                </m:r>
                                <m:r>
                                  <a:rPr lang="en-US">
                                    <a:effectLst/>
                                    <a:latin typeface="Cambria Math" panose="02040503050406030204" pitchFamily="18" charset="0"/>
                                    <a:ea typeface="Calibri" panose="020F0502020204030204" pitchFamily="34" charset="0"/>
                                    <a:cs typeface="Calibri Light" panose="020F0302020204030204" pitchFamily="34" charset="0"/>
                                  </a:rPr>
                                  <m:t>,</m:t>
                                </m:r>
                                <m:r>
                                  <a:rPr lang="en-US" i="1">
                                    <a:effectLst/>
                                    <a:latin typeface="Cambria Math" panose="02040503050406030204" pitchFamily="18" charset="0"/>
                                    <a:ea typeface="Calibri" panose="020F0502020204030204" pitchFamily="34" charset="0"/>
                                    <a:cs typeface="Calibri Light" panose="020F0302020204030204" pitchFamily="34" charset="0"/>
                                  </a:rPr>
                                  <m:t>𝑗</m:t>
                                </m:r>
                                <m:r>
                                  <a:rPr lang="en-US">
                                    <a:effectLst/>
                                    <a:latin typeface="Cambria Math" panose="02040503050406030204" pitchFamily="18" charset="0"/>
                                    <a:ea typeface="Calibri" panose="020F0502020204030204" pitchFamily="34" charset="0"/>
                                    <a:cs typeface="Calibri Light" panose="020F0302020204030204" pitchFamily="34" charset="0"/>
                                  </a:rPr>
                                  <m:t>)</m:t>
                                </m:r>
                              </m:e>
                            </m:mr>
                            <m:mr>
                              <m:e>
                                <m:r>
                                  <a:rPr lang="en-US" i="1">
                                    <a:effectLst/>
                                    <a:latin typeface="Cambria Math" panose="02040503050406030204" pitchFamily="18" charset="0"/>
                                    <a:ea typeface="Calibri" panose="020F0502020204030204" pitchFamily="34" charset="0"/>
                                    <a:cs typeface="Calibri Light" panose="020F0302020204030204" pitchFamily="34" charset="0"/>
                                  </a:rPr>
                                  <m:t>−</m:t>
                                </m:r>
                                <m:r>
                                  <a:rPr lang="en-US">
                                    <a:effectLst/>
                                    <a:latin typeface="Cambria Math" panose="02040503050406030204" pitchFamily="18" charset="0"/>
                                    <a:ea typeface="Calibri" panose="020F0502020204030204" pitchFamily="34" charset="0"/>
                                    <a:cs typeface="Calibri Light" panose="020F0302020204030204" pitchFamily="34" charset="0"/>
                                  </a:rPr>
                                  <m:t>1</m:t>
                                </m:r>
                              </m:e>
                              <m:e>
                                <m:r>
                                  <m:rPr>
                                    <m:nor/>
                                  </m:rPr>
                                  <a:rPr lang="en-US" i="1">
                                    <a:effectLst/>
                                    <a:ea typeface="Calibri" panose="020F0502020204030204" pitchFamily="34" charset="0"/>
                                  </a:rPr>
                                  <m:t> </m:t>
                                </m:r>
                                <m:r>
                                  <m:rPr>
                                    <m:nor/>
                                  </m:rPr>
                                  <a:rPr lang="en-US">
                                    <a:effectLst/>
                                    <a:ea typeface="Calibri" panose="020F0502020204030204" pitchFamily="34" charset="0"/>
                                  </a:rPr>
                                  <m:t>otherwise</m:t>
                                </m:r>
                                <m:r>
                                  <m:rPr>
                                    <m:nor/>
                                  </m:rPr>
                                  <a:rPr lang="en-US" i="1">
                                    <a:effectLst/>
                                    <a:ea typeface="Calibri" panose="020F0502020204030204" pitchFamily="34" charset="0"/>
                                  </a:rPr>
                                  <m:t> </m:t>
                                </m:r>
                              </m:e>
                            </m:mr>
                          </m:m>
                        </m:e>
                      </m:d>
                    </m:oMath>
                  </m:oMathPara>
                </a14:m>
                <a:endParaRPr lang="en-US" dirty="0">
                  <a:effectLst/>
                  <a:ea typeface="Calibri" panose="020F0502020204030204" pitchFamily="34" charset="0"/>
                </a:endParaRPr>
              </a:p>
            </p:txBody>
          </p:sp>
        </mc:Choice>
        <mc:Fallback xmlns="">
          <p:sp>
            <p:nvSpPr>
              <p:cNvPr id="6" name="CasellaDiTesto 5">
                <a:extLst>
                  <a:ext uri="{FF2B5EF4-FFF2-40B4-BE49-F238E27FC236}">
                    <a16:creationId xmlns:a16="http://schemas.microsoft.com/office/drawing/2014/main" id="{5856F90D-E7FB-4B67-87CA-6AA2F4D94F12}"/>
                  </a:ext>
                </a:extLst>
              </p:cNvPr>
              <p:cNvSpPr txBox="1">
                <a:spLocks noRot="1" noChangeAspect="1" noMove="1" noResize="1" noEditPoints="1" noAdjustHandles="1" noChangeArrowheads="1" noChangeShapeType="1" noTextEdit="1"/>
              </p:cNvSpPr>
              <p:nvPr/>
            </p:nvSpPr>
            <p:spPr>
              <a:xfrm>
                <a:off x="1751823" y="1607586"/>
                <a:ext cx="8539842" cy="1695079"/>
              </a:xfrm>
              <a:prstGeom prst="rect">
                <a:avLst/>
              </a:prstGeom>
              <a:blipFill>
                <a:blip r:embed="rId2"/>
                <a:stretch>
                  <a:fillRect l="-571" t="-2158"/>
                </a:stretch>
              </a:blipFill>
            </p:spPr>
            <p:txBody>
              <a:bodyPr/>
              <a:lstStyle/>
              <a:p>
                <a:r>
                  <a:rPr lang="en-US">
                    <a:noFill/>
                  </a:rPr>
                  <a:t> </a:t>
                </a:r>
              </a:p>
            </p:txBody>
          </p:sp>
        </mc:Fallback>
      </mc:AlternateContent>
      <p:sp>
        <p:nvSpPr>
          <p:cNvPr id="8" name="CasellaDiTesto 7">
            <a:extLst>
              <a:ext uri="{FF2B5EF4-FFF2-40B4-BE49-F238E27FC236}">
                <a16:creationId xmlns:a16="http://schemas.microsoft.com/office/drawing/2014/main" id="{05267A11-D74E-4DDE-B7B3-137C60AFDB02}"/>
              </a:ext>
            </a:extLst>
          </p:cNvPr>
          <p:cNvSpPr txBox="1"/>
          <p:nvPr/>
        </p:nvSpPr>
        <p:spPr>
          <a:xfrm>
            <a:off x="1792830" y="5775848"/>
            <a:ext cx="8539841" cy="923330"/>
          </a:xfrm>
          <a:prstGeom prst="rect">
            <a:avLst/>
          </a:prstGeom>
          <a:noFill/>
        </p:spPr>
        <p:txBody>
          <a:bodyPr wrap="square">
            <a:spAutoFit/>
          </a:bodyPr>
          <a:lstStyle/>
          <a:p>
            <a:r>
              <a:rPr lang="en-US" sz="1800" dirty="0">
                <a:effectLst/>
                <a:ea typeface="Calibri" panose="020F0502020204030204" pitchFamily="34" charset="0"/>
              </a:rPr>
              <a:t>The rook problem is a 2-d extension of the </a:t>
            </a:r>
            <a:r>
              <a:rPr lang="en-US" sz="1800" dirty="0" err="1">
                <a:effectLst/>
                <a:ea typeface="Calibri" panose="020F0502020204030204" pitchFamily="34" charset="0"/>
              </a:rPr>
              <a:t>multiflop</a:t>
            </a:r>
            <a:r>
              <a:rPr lang="en-US" sz="1800" dirty="0">
                <a:effectLst/>
                <a:ea typeface="Calibri" panose="020F0502020204030204" pitchFamily="34" charset="0"/>
              </a:rPr>
              <a:t> network: Assume that we are looking for a binary vector of dimension n whose components are all zero with the exception of a single 1.</a:t>
            </a:r>
            <a:endParaRPr lang="en-US" sz="2800" dirty="0">
              <a:effectLst/>
              <a:ea typeface="Calibri" panose="020F0502020204030204" pitchFamily="34" charset="0"/>
            </a:endParaRPr>
          </a:p>
        </p:txBody>
      </p:sp>
      <p:pic>
        <p:nvPicPr>
          <p:cNvPr id="2050" name="Picture 2" descr="Find position of non-attacking Rooks in lexicographic order that can be  placed on N*N chessboard - GeeksforGeeks">
            <a:extLst>
              <a:ext uri="{FF2B5EF4-FFF2-40B4-BE49-F238E27FC236}">
                <a16:creationId xmlns:a16="http://schemas.microsoft.com/office/drawing/2014/main" id="{6068010A-F5C6-4310-97AC-E321267E1E8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439" t="9172" r="23113" b="7354"/>
          <a:stretch/>
        </p:blipFill>
        <p:spPr bwMode="auto">
          <a:xfrm>
            <a:off x="4491614" y="3302665"/>
            <a:ext cx="2512088" cy="2367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1169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66002DF0-1586-4668-A962-3FEBDABFEE2A}"/>
              </a:ext>
            </a:extLst>
          </p:cNvPr>
          <p:cNvSpPr txBox="1"/>
          <p:nvPr/>
        </p:nvSpPr>
        <p:spPr>
          <a:xfrm>
            <a:off x="2492805" y="327051"/>
            <a:ext cx="8412299" cy="769441"/>
          </a:xfrm>
          <a:prstGeom prst="rect">
            <a:avLst/>
          </a:prstGeom>
          <a:noFill/>
        </p:spPr>
        <p:txBody>
          <a:bodyPr wrap="square" rtlCol="0">
            <a:spAutoFit/>
          </a:bodyPr>
          <a:lstStyle/>
          <a:p>
            <a:r>
              <a:rPr lang="it-IT" sz="4400" dirty="0" err="1">
                <a:solidFill>
                  <a:schemeClr val="accent1">
                    <a:lumMod val="50000"/>
                  </a:schemeClr>
                </a:solidFill>
                <a:latin typeface="+mj-lt"/>
              </a:rPr>
              <a:t>Problem</a:t>
            </a:r>
            <a:r>
              <a:rPr lang="it-IT" sz="4400" dirty="0">
                <a:solidFill>
                  <a:schemeClr val="accent1">
                    <a:lumMod val="50000"/>
                  </a:schemeClr>
                </a:solidFill>
                <a:latin typeface="+mj-lt"/>
              </a:rPr>
              <a:t> solving via </a:t>
            </a:r>
            <a:r>
              <a:rPr lang="it-IT" sz="4400" dirty="0" err="1">
                <a:solidFill>
                  <a:schemeClr val="accent1">
                    <a:lumMod val="50000"/>
                  </a:schemeClr>
                </a:solidFill>
                <a:latin typeface="+mj-lt"/>
              </a:rPr>
              <a:t>Hopfield</a:t>
            </a:r>
            <a:r>
              <a:rPr lang="it-IT" sz="4400" dirty="0">
                <a:solidFill>
                  <a:schemeClr val="accent1">
                    <a:lumMod val="50000"/>
                  </a:schemeClr>
                </a:solidFill>
                <a:latin typeface="+mj-lt"/>
              </a:rPr>
              <a:t> -1</a:t>
            </a:r>
            <a:endParaRPr lang="en-US" sz="4400" dirty="0">
              <a:solidFill>
                <a:schemeClr val="accent1">
                  <a:lumMod val="50000"/>
                </a:schemeClr>
              </a:solidFill>
              <a:latin typeface="+mj-lt"/>
            </a:endParaRPr>
          </a:p>
        </p:txBody>
      </p:sp>
      <p:pic>
        <p:nvPicPr>
          <p:cNvPr id="11" name="Immagine 10">
            <a:extLst>
              <a:ext uri="{FF2B5EF4-FFF2-40B4-BE49-F238E27FC236}">
                <a16:creationId xmlns:a16="http://schemas.microsoft.com/office/drawing/2014/main" id="{CA55030B-1685-41B9-A0C1-4BBBEEE14FE8}"/>
              </a:ext>
            </a:extLst>
          </p:cNvPr>
          <p:cNvPicPr>
            <a:picLocks noChangeAspect="1"/>
          </p:cNvPicPr>
          <p:nvPr/>
        </p:nvPicPr>
        <p:blipFill rotWithShape="1">
          <a:blip r:embed="rId2"/>
          <a:srcRect b="11558"/>
          <a:stretch/>
        </p:blipFill>
        <p:spPr bwMode="auto">
          <a:xfrm>
            <a:off x="3769834" y="1382543"/>
            <a:ext cx="4433253" cy="1680858"/>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2" name="CasellaDiTesto 11">
                <a:extLst>
                  <a:ext uri="{FF2B5EF4-FFF2-40B4-BE49-F238E27FC236}">
                    <a16:creationId xmlns:a16="http://schemas.microsoft.com/office/drawing/2014/main" id="{906141B0-9012-4650-AC8A-91184CF4B19C}"/>
                  </a:ext>
                </a:extLst>
              </p:cNvPr>
              <p:cNvSpPr txBox="1"/>
              <p:nvPr/>
            </p:nvSpPr>
            <p:spPr>
              <a:xfrm>
                <a:off x="1266092" y="3349452"/>
                <a:ext cx="10128738" cy="2970044"/>
              </a:xfrm>
              <a:prstGeom prst="rect">
                <a:avLst/>
              </a:prstGeom>
              <a:noFill/>
            </p:spPr>
            <p:txBody>
              <a:bodyPr wrap="square">
                <a:spAutoFit/>
              </a:bodyPr>
              <a:lstStyle/>
              <a:p>
                <a:r>
                  <a:rPr lang="en-US" sz="1800" dirty="0">
                    <a:effectLst/>
                    <a:latin typeface="Calibri Light" panose="020F0302020204030204" pitchFamily="34" charset="0"/>
                    <a:ea typeface="Calibri" panose="020F0502020204030204" pitchFamily="34" charset="0"/>
                  </a:rPr>
                  <a:t>Let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b>
                    </m:sSub>
                  </m:oMath>
                </a14:m>
                <a:r>
                  <a:rPr lang="en-US" sz="1800" dirty="0">
                    <a:effectLst/>
                    <a:latin typeface="Calibri Light" panose="020F0302020204030204" pitchFamily="34" charset="0"/>
                    <a:ea typeface="Calibri" panose="020F0502020204030204" pitchFamily="34" charset="0"/>
                  </a:rPr>
                  <a:t> denote the binary states of the individual units. Our task is to find a minimum of</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𝐸</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b>
                          </m:sSub>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r>
                                <a:rPr lang="en-US" sz="1800" i="1">
                                  <a:effectLst/>
                                  <a:latin typeface="Cambria Math" panose="02040503050406030204" pitchFamily="18" charset="0"/>
                                  <a:ea typeface="Calibri" panose="020F0502020204030204" pitchFamily="34" charset="0"/>
                                  <a:cs typeface="Calibri Light" panose="020F0302020204030204" pitchFamily="34" charset="0"/>
                                </a:rPr>
                                <m:t>−</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e>
                          </m:d>
                        </m:e>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p>
                    </m:oMath>
                  </m:oMathPara>
                </a14:m>
                <a:endParaRPr lang="en-US" sz="2800" dirty="0">
                  <a:effectLst/>
                  <a:latin typeface="Calibri" panose="020F0502020204030204" pitchFamily="34" charset="0"/>
                  <a:ea typeface="Calibri" panose="020F0502020204030204" pitchFamily="34" charset="0"/>
                </a:endParaRPr>
              </a:p>
              <a:p>
                <a:r>
                  <a:rPr lang="en-US" sz="1800" dirty="0">
                    <a:effectLst/>
                    <a:latin typeface="Calibri Light" panose="020F0302020204030204" pitchFamily="34" charset="0"/>
                    <a:ea typeface="Calibri" panose="020F0502020204030204" pitchFamily="34" charset="0"/>
                  </a:rPr>
                  <a:t>This expression can also be written expanding square</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𝐸</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b>
                          </m:sSub>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sz="1800" i="1">
                          <a:effectLst/>
                          <a:latin typeface="Cambria Math" panose="02040503050406030204" pitchFamily="18" charset="0"/>
                          <a:ea typeface="Calibri" panose="020F0502020204030204" pitchFamily="34" charset="0"/>
                          <a:cs typeface="Calibri Light" panose="020F0302020204030204" pitchFamily="34" charset="0"/>
                        </a:rPr>
                        <m:t>−</m:t>
                      </m:r>
                      <m:r>
                        <a:rPr lang="en-US" sz="1800">
                          <a:effectLst/>
                          <a:latin typeface="Cambria Math" panose="02040503050406030204" pitchFamily="18" charset="0"/>
                          <a:ea typeface="Calibri" panose="020F0502020204030204" pitchFamily="34" charset="0"/>
                          <a:cs typeface="Calibri Light" panose="020F0302020204030204" pitchFamily="34" charset="0"/>
                        </a:rPr>
                        <m:t>2</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+1</m:t>
                      </m:r>
                    </m:oMath>
                  </m:oMathPara>
                </a14:m>
                <a:endParaRPr lang="en-US" sz="2800" dirty="0">
                  <a:effectLst/>
                  <a:latin typeface="Calibri" panose="020F0502020204030204" pitchFamily="34" charset="0"/>
                  <a:ea typeface="Calibri" panose="020F0502020204030204" pitchFamily="34" charset="0"/>
                </a:endParaRPr>
              </a:p>
              <a:p>
                <a:r>
                  <a:rPr lang="en-US" sz="1800" dirty="0">
                    <a:effectLst/>
                    <a:latin typeface="Calibri Light" panose="020F0302020204030204" pitchFamily="34" charset="0"/>
                    <a:ea typeface="Calibri" panose="020F0502020204030204" pitchFamily="34" charset="0"/>
                  </a:rPr>
                  <a:t>For binary states it holds that x</a:t>
                </a:r>
                <a:r>
                  <a:rPr lang="en-US" sz="1800" baseline="-25000" dirty="0">
                    <a:effectLst/>
                    <a:latin typeface="Calibri Light" panose="020F0302020204030204" pitchFamily="34" charset="0"/>
                    <a:ea typeface="Calibri" panose="020F0502020204030204" pitchFamily="34" charset="0"/>
                  </a:rPr>
                  <a:t>i</a:t>
                </a:r>
                <a:r>
                  <a:rPr lang="en-US" sz="1800" dirty="0">
                    <a:effectLst/>
                    <a:latin typeface="Calibri Light" panose="020F0302020204030204" pitchFamily="34" charset="0"/>
                    <a:ea typeface="Calibri" panose="020F0502020204030204" pitchFamily="34" charset="0"/>
                  </a:rPr>
                  <a:t> = x</a:t>
                </a:r>
                <a:r>
                  <a:rPr lang="en-US" sz="1800" baseline="-25000" dirty="0">
                    <a:effectLst/>
                    <a:latin typeface="Calibri Light" panose="020F0302020204030204" pitchFamily="34" charset="0"/>
                    <a:ea typeface="Calibri" panose="020F0502020204030204" pitchFamily="34" charset="0"/>
                  </a:rPr>
                  <a:t>i</a:t>
                </a:r>
                <a:r>
                  <a:rPr lang="en-US" sz="1800" dirty="0">
                    <a:effectLst/>
                    <a:latin typeface="Calibri Light" panose="020F0302020204030204" pitchFamily="34" charset="0"/>
                    <a:ea typeface="Calibri" panose="020F0502020204030204" pitchFamily="34" charset="0"/>
                  </a:rPr>
                  <a:t> </a:t>
                </a:r>
                <a:r>
                  <a:rPr lang="en-US" sz="1800" baseline="30000" dirty="0">
                    <a:effectLst/>
                    <a:latin typeface="Calibri Light" panose="020F0302020204030204" pitchFamily="34" charset="0"/>
                    <a:ea typeface="Calibri" panose="020F0502020204030204" pitchFamily="34" charset="0"/>
                  </a:rPr>
                  <a:t>2</a:t>
                </a:r>
                <a:r>
                  <a:rPr lang="en-US" sz="1800" dirty="0">
                    <a:effectLst/>
                    <a:latin typeface="Calibri Light" panose="020F0302020204030204" pitchFamily="34" charset="0"/>
                    <a:ea typeface="Calibri" panose="020F0502020204030204" pitchFamily="34" charset="0"/>
                  </a:rPr>
                  <a:t> and therefore</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𝐸</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b>
                          </m:sSub>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sz="1800" i="1">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+1</m:t>
                      </m:r>
                    </m:oMath>
                  </m:oMathPara>
                </a14:m>
                <a:endParaRPr lang="en-US" sz="2800" dirty="0">
                  <a:effectLst/>
                  <a:latin typeface="Calibri" panose="020F0502020204030204" pitchFamily="34" charset="0"/>
                  <a:ea typeface="Calibri" panose="020F0502020204030204" pitchFamily="34" charset="0"/>
                </a:endParaRPr>
              </a:p>
              <a:p>
                <a:r>
                  <a:rPr lang="en-US" sz="1800" dirty="0">
                    <a:effectLst/>
                    <a:latin typeface="Calibri Light" panose="020F0302020204030204" pitchFamily="34" charset="0"/>
                    <a:ea typeface="Calibri" panose="020F0502020204030204" pitchFamily="34" charset="0"/>
                  </a:rPr>
                  <a:t>which can be rewritten as</a:t>
                </a:r>
                <a:endParaRPr lang="en-US" sz="2800" dirty="0">
                  <a:effectLst/>
                  <a:latin typeface="Calibri" panose="020F0502020204030204" pitchFamily="34" charset="0"/>
                  <a:ea typeface="Calibri" panose="020F0502020204030204" pitchFamily="34" charset="0"/>
                </a:endParaRPr>
              </a:p>
              <a:p>
                <a:pPr algn="ctr">
                  <a:spcAft>
                    <a:spcPts val="1200"/>
                  </a:spcAft>
                </a:pP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𝐸</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b>
                        </m:sSub>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a:effectLst/>
                            <a:latin typeface="Cambria Math" panose="02040503050406030204" pitchFamily="18" charset="0"/>
                            <a:ea typeface="Calibri" panose="020F0502020204030204" pitchFamily="34" charset="0"/>
                            <a:cs typeface="Calibri Light" panose="020F0302020204030204" pitchFamily="34" charset="0"/>
                          </a:rPr>
                          <m:t>2</m:t>
                        </m:r>
                      </m:den>
                    </m:f>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r>
                      <a:rPr lang="en-US" sz="1800">
                        <a:effectLst/>
                        <a:latin typeface="Cambria Math" panose="02040503050406030204" pitchFamily="18" charset="0"/>
                        <a:ea typeface="Calibri" panose="020F0502020204030204" pitchFamily="34" charset="0"/>
                        <a:cs typeface="Calibri Light" panose="020F0302020204030204" pitchFamily="34" charset="0"/>
                      </a:rPr>
                      <m:t>2)</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+1</m:t>
                    </m:r>
                  </m:oMath>
                </a14:m>
                <a:r>
                  <a:rPr lang="en-US" sz="1800" dirty="0">
                    <a:effectLst/>
                    <a:latin typeface="Calibri Light" panose="020F0302020204030204" pitchFamily="34" charset="0"/>
                    <a:ea typeface="Calibri" panose="020F0502020204030204" pitchFamily="34" charset="0"/>
                  </a:rPr>
                  <a:t> </a:t>
                </a:r>
                <a:endParaRPr lang="en-US" sz="2800" dirty="0">
                  <a:effectLst/>
                  <a:latin typeface="Calibri" panose="020F0502020204030204" pitchFamily="34" charset="0"/>
                  <a:ea typeface="Calibri" panose="020F0502020204030204" pitchFamily="34" charset="0"/>
                </a:endParaRPr>
              </a:p>
            </p:txBody>
          </p:sp>
        </mc:Choice>
        <mc:Fallback xmlns="">
          <p:sp>
            <p:nvSpPr>
              <p:cNvPr id="12" name="CasellaDiTesto 11">
                <a:extLst>
                  <a:ext uri="{FF2B5EF4-FFF2-40B4-BE49-F238E27FC236}">
                    <a16:creationId xmlns:a16="http://schemas.microsoft.com/office/drawing/2014/main" id="{906141B0-9012-4650-AC8A-91184CF4B19C}"/>
                  </a:ext>
                </a:extLst>
              </p:cNvPr>
              <p:cNvSpPr txBox="1">
                <a:spLocks noRot="1" noChangeAspect="1" noMove="1" noResize="1" noEditPoints="1" noAdjustHandles="1" noChangeArrowheads="1" noChangeShapeType="1" noTextEdit="1"/>
              </p:cNvSpPr>
              <p:nvPr/>
            </p:nvSpPr>
            <p:spPr>
              <a:xfrm>
                <a:off x="1266092" y="3349452"/>
                <a:ext cx="10128738" cy="2970044"/>
              </a:xfrm>
              <a:prstGeom prst="rect">
                <a:avLst/>
              </a:prstGeom>
              <a:blipFill>
                <a:blip r:embed="rId3"/>
                <a:stretch>
                  <a:fillRect l="-542" t="-1025"/>
                </a:stretch>
              </a:blipFill>
            </p:spPr>
            <p:txBody>
              <a:bodyPr/>
              <a:lstStyle/>
              <a:p>
                <a:r>
                  <a:rPr lang="en-US">
                    <a:noFill/>
                  </a:rPr>
                  <a:t> </a:t>
                </a:r>
              </a:p>
            </p:txBody>
          </p:sp>
        </mc:Fallback>
      </mc:AlternateContent>
    </p:spTree>
    <p:extLst>
      <p:ext uri="{BB962C8B-B14F-4D97-AF65-F5344CB8AC3E}">
        <p14:creationId xmlns:p14="http://schemas.microsoft.com/office/powerpoint/2010/main" val="21575136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descr="Immagine che contiene testo, elettronico, tastiera&#10;&#10;Descrizione generata automaticamente">
            <a:extLst>
              <a:ext uri="{FF2B5EF4-FFF2-40B4-BE49-F238E27FC236}">
                <a16:creationId xmlns:a16="http://schemas.microsoft.com/office/drawing/2014/main" id="{EC33B566-FB03-44F2-8E5D-3301F26C876E}"/>
              </a:ext>
            </a:extLst>
          </p:cNvPr>
          <p:cNvPicPr>
            <a:picLocks noChangeAspect="1"/>
          </p:cNvPicPr>
          <p:nvPr/>
        </p:nvPicPr>
        <p:blipFill rotWithShape="1">
          <a:blip r:embed="rId2"/>
          <a:srcRect l="-431" t="-535" r="431" b="6621"/>
          <a:stretch/>
        </p:blipFill>
        <p:spPr bwMode="auto">
          <a:xfrm>
            <a:off x="7800693" y="1475011"/>
            <a:ext cx="4214025" cy="3189451"/>
          </a:xfrm>
          <a:prstGeom prst="rect">
            <a:avLst/>
          </a:prstGeom>
          <a:ln>
            <a:noFill/>
          </a:ln>
          <a:extLst>
            <a:ext uri="{53640926-AAD7-44D8-BBD7-CCE9431645EC}">
              <a14:shadowObscured xmlns:a14="http://schemas.microsoft.com/office/drawing/2010/main"/>
            </a:ext>
          </a:extLst>
        </p:spPr>
      </p:pic>
      <p:sp>
        <p:nvSpPr>
          <p:cNvPr id="5" name="CasellaDiTesto 4">
            <a:extLst>
              <a:ext uri="{FF2B5EF4-FFF2-40B4-BE49-F238E27FC236}">
                <a16:creationId xmlns:a16="http://schemas.microsoft.com/office/drawing/2014/main" id="{8E36C5DC-51DE-46F3-9CBF-511E074FAC13}"/>
              </a:ext>
            </a:extLst>
          </p:cNvPr>
          <p:cNvSpPr txBox="1"/>
          <p:nvPr/>
        </p:nvSpPr>
        <p:spPr>
          <a:xfrm>
            <a:off x="2687313" y="373704"/>
            <a:ext cx="8412299" cy="769441"/>
          </a:xfrm>
          <a:prstGeom prst="rect">
            <a:avLst/>
          </a:prstGeom>
          <a:noFill/>
        </p:spPr>
        <p:txBody>
          <a:bodyPr wrap="square" rtlCol="0">
            <a:spAutoFit/>
          </a:bodyPr>
          <a:lstStyle/>
          <a:p>
            <a:r>
              <a:rPr lang="it-IT" sz="4400" dirty="0" err="1">
                <a:solidFill>
                  <a:schemeClr val="accent1">
                    <a:lumMod val="50000"/>
                  </a:schemeClr>
                </a:solidFill>
                <a:latin typeface="+mj-lt"/>
              </a:rPr>
              <a:t>Problem</a:t>
            </a:r>
            <a:r>
              <a:rPr lang="it-IT" sz="4400" dirty="0">
                <a:solidFill>
                  <a:schemeClr val="accent1">
                    <a:lumMod val="50000"/>
                  </a:schemeClr>
                </a:solidFill>
                <a:latin typeface="+mj-lt"/>
              </a:rPr>
              <a:t> solving via </a:t>
            </a:r>
            <a:r>
              <a:rPr lang="it-IT" sz="4400" dirty="0" err="1">
                <a:solidFill>
                  <a:schemeClr val="accent1">
                    <a:lumMod val="50000"/>
                  </a:schemeClr>
                </a:solidFill>
                <a:latin typeface="+mj-lt"/>
              </a:rPr>
              <a:t>Hopfield</a:t>
            </a:r>
            <a:r>
              <a:rPr lang="it-IT" sz="4400" dirty="0">
                <a:solidFill>
                  <a:schemeClr val="accent1">
                    <a:lumMod val="50000"/>
                  </a:schemeClr>
                </a:solidFill>
                <a:latin typeface="+mj-lt"/>
              </a:rPr>
              <a:t> - 2</a:t>
            </a:r>
            <a:endParaRPr lang="en-US" sz="4400" dirty="0">
              <a:solidFill>
                <a:schemeClr val="accent1">
                  <a:lumMod val="50000"/>
                </a:schemeClr>
              </a:solidFill>
              <a:latin typeface="+mj-lt"/>
            </a:endParaRPr>
          </a:p>
        </p:txBody>
      </p:sp>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FDCF71A6-11D4-4722-994D-B280A07D8F81}"/>
                  </a:ext>
                </a:extLst>
              </p:cNvPr>
              <p:cNvSpPr txBox="1"/>
              <p:nvPr/>
            </p:nvSpPr>
            <p:spPr>
              <a:xfrm>
                <a:off x="1565211" y="1324913"/>
                <a:ext cx="6097554" cy="3651256"/>
              </a:xfrm>
              <a:prstGeom prst="rect">
                <a:avLst/>
              </a:prstGeom>
              <a:noFill/>
            </p:spPr>
            <p:txBody>
              <a:bodyPr wrap="square">
                <a:spAutoFit/>
              </a:bodyPr>
              <a:lstStyle/>
              <a:p>
                <a:r>
                  <a:rPr lang="en-US" sz="1800" dirty="0">
                    <a:effectLst/>
                    <a:latin typeface="Calibri Light" panose="020F0302020204030204" pitchFamily="34" charset="0"/>
                    <a:ea typeface="Calibri" panose="020F0502020204030204" pitchFamily="34" charset="0"/>
                  </a:rPr>
                  <a:t>In the case of each column has only one 1 each we have that the function to be minimized is</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𝐸</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𝑛𝑛</m:t>
                              </m:r>
                            </m:sub>
                          </m:sSub>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𝑖𝑗</m:t>
                                  </m:r>
                                </m:sub>
                              </m:sSub>
                              <m:r>
                                <a:rPr lang="en-US" sz="1800" i="1">
                                  <a:effectLst/>
                                  <a:latin typeface="Cambria Math" panose="02040503050406030204" pitchFamily="18" charset="0"/>
                                  <a:ea typeface="Calibri" panose="020F0502020204030204" pitchFamily="34" charset="0"/>
                                  <a:cs typeface="Calibri Light" panose="020F0302020204030204" pitchFamily="34" charset="0"/>
                                </a:rPr>
                                <m:t>−</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e>
                          </m:d>
                        </m:e>
                        <m:sup>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p>
                    </m:oMath>
                  </m:oMathPara>
                </a14:m>
                <a:endParaRPr lang="en-US" sz="2800" dirty="0">
                  <a:effectLst/>
                  <a:latin typeface="Calibri" panose="020F0502020204030204" pitchFamily="34" charset="0"/>
                  <a:ea typeface="Calibri" panose="020F0502020204030204" pitchFamily="34" charset="0"/>
                </a:endParaRPr>
              </a:p>
              <a:p>
                <a:pPr>
                  <a:spcAft>
                    <a:spcPts val="1200"/>
                  </a:spcAft>
                </a:pPr>
                <a:r>
                  <a:rPr lang="en-US" sz="1800" dirty="0">
                    <a:effectLst/>
                    <a:latin typeface="Calibri Light" panose="020F0302020204030204" pitchFamily="34" charset="0"/>
                    <a:ea typeface="Calibri" panose="020F0502020204030204" pitchFamily="34" charset="0"/>
                  </a:rPr>
                  <a:t>An alternative (as done by the paper authors) is that we may consider the identity matrix </a:t>
                </a:r>
                <a14:m>
                  <m:oMath xmlns:m="http://schemas.openxmlformats.org/officeDocument/2006/math">
                    <m:r>
                      <a:rPr lang="en-US" sz="1800" b="1" i="1">
                        <a:effectLst/>
                        <a:latin typeface="Cambria Math" panose="02040503050406030204" pitchFamily="18" charset="0"/>
                        <a:ea typeface="Calibri" panose="020F0502020204030204" pitchFamily="34" charset="0"/>
                        <a:cs typeface="Calibri Light" panose="020F0302020204030204" pitchFamily="34" charset="0"/>
                      </a:rPr>
                      <m:t>𝑰</m:t>
                    </m:r>
                  </m:oMath>
                </a14:m>
                <a:r>
                  <a:rPr lang="en-US" sz="1800" dirty="0">
                    <a:effectLst/>
                    <a:latin typeface="Calibri Light" panose="020F0302020204030204" pitchFamily="34" charset="0"/>
                    <a:ea typeface="Calibri" panose="020F0502020204030204" pitchFamily="34" charset="0"/>
                  </a:rPr>
                  <a:t>, the matrix of all zeros </a:t>
                </a:r>
                <a14:m>
                  <m:oMath xmlns:m="http://schemas.openxmlformats.org/officeDocument/2006/math">
                    <m:r>
                      <a:rPr lang="en-US" sz="1800" b="1" i="1">
                        <a:effectLst/>
                        <a:latin typeface="Cambria Math" panose="02040503050406030204" pitchFamily="18" charset="0"/>
                        <a:ea typeface="Calibri" panose="020F0502020204030204" pitchFamily="34" charset="0"/>
                        <a:cs typeface="Calibri Light" panose="020F0302020204030204" pitchFamily="34" charset="0"/>
                      </a:rPr>
                      <m:t>𝟎</m:t>
                    </m:r>
                  </m:oMath>
                </a14:m>
                <a:r>
                  <a:rPr lang="en-US" sz="1800" dirty="0">
                    <a:effectLst/>
                    <a:latin typeface="Calibri Light" panose="020F0302020204030204" pitchFamily="34" charset="0"/>
                    <a:ea typeface="Calibri" panose="020F0502020204030204" pitchFamily="34" charset="0"/>
                  </a:rPr>
                  <a:t>, and the matrix </a:t>
                </a:r>
                <a14:m>
                  <m:oMath xmlns:m="http://schemas.openxmlformats.org/officeDocument/2006/math">
                    <m:r>
                      <a:rPr lang="en-US" sz="1800" b="1" i="1">
                        <a:effectLst/>
                        <a:latin typeface="Cambria Math" panose="02040503050406030204" pitchFamily="18" charset="0"/>
                        <a:ea typeface="Calibri" panose="020F0502020204030204" pitchFamily="34" charset="0"/>
                        <a:cs typeface="Calibri Light" panose="020F0302020204030204" pitchFamily="34" charset="0"/>
                      </a:rPr>
                      <m:t>𝑱</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𝟏𝟏</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p>
                    <m:r>
                      <a:rPr lang="en-US" sz="1800" i="1">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𝑰</m:t>
                    </m:r>
                  </m:oMath>
                </a14:m>
                <a:r>
                  <a:rPr lang="en-US" sz="1800" dirty="0">
                    <a:effectLst/>
                    <a:latin typeface="Calibri Light" panose="020F0302020204030204" pitchFamily="34" charset="0"/>
                    <a:ea typeface="Calibri" panose="020F0502020204030204" pitchFamily="34" charset="0"/>
                  </a:rPr>
                  <a:t> all of size </a:t>
                </a:r>
                <a14:m>
                  <m:oMath xmlns:m="http://schemas.openxmlformats.org/officeDocument/2006/math">
                    <m:r>
                      <a:rPr lang="en-US" sz="1800">
                        <a:effectLst/>
                        <a:latin typeface="Cambria Math" panose="02040503050406030204" pitchFamily="18" charset="0"/>
                        <a:ea typeface="Calibri" panose="020F0502020204030204" pitchFamily="34" charset="0"/>
                        <a:cs typeface="Calibri Light" panose="020F0302020204030204" pitchFamily="34" charset="0"/>
                      </a:rPr>
                      <m:t>4×4</m:t>
                    </m:r>
                  </m:oMath>
                </a14:m>
                <a:r>
                  <a:rPr lang="en-US" sz="1800" dirty="0">
                    <a:effectLst/>
                    <a:latin typeface="Calibri Light" panose="020F0302020204030204" pitchFamily="34" charset="0"/>
                    <a:ea typeface="Calibri" panose="020F0502020204030204" pitchFamily="34" charset="0"/>
                  </a:rPr>
                  <a:t> in order to define a </a:t>
                </a:r>
                <a14:m>
                  <m:oMath xmlns:m="http://schemas.openxmlformats.org/officeDocument/2006/math">
                    <m:r>
                      <a:rPr lang="en-US" sz="1800">
                        <a:effectLst/>
                        <a:latin typeface="Cambria Math" panose="02040503050406030204" pitchFamily="18" charset="0"/>
                        <a:ea typeface="Calibri" panose="020F0502020204030204" pitchFamily="34" charset="0"/>
                        <a:cs typeface="Calibri Light" panose="020F0302020204030204" pitchFamily="34" charset="0"/>
                      </a:rPr>
                      <m:t>16×16</m:t>
                    </m:r>
                  </m:oMath>
                </a14:m>
                <a:r>
                  <a:rPr lang="en-US" sz="1800" dirty="0">
                    <a:effectLst/>
                    <a:latin typeface="Calibri Light" panose="020F0302020204030204" pitchFamily="34" charset="0"/>
                    <a:ea typeface="Calibri" panose="020F0502020204030204" pitchFamily="34" charset="0"/>
                  </a:rPr>
                  <a:t> weight matrix</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𝑾</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r>
                        <a:rPr lang="en-US" sz="1800">
                          <a:effectLst/>
                          <a:latin typeface="Cambria Math" panose="02040503050406030204" pitchFamily="18" charset="0"/>
                          <a:ea typeface="Calibri" panose="020F0502020204030204" pitchFamily="34" charset="0"/>
                          <a:cs typeface="Calibri Light" panose="020F0302020204030204" pitchFamily="34" charset="0"/>
                        </a:rPr>
                        <m:t>2</m:t>
                      </m:r>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m>
                            <m:mPr>
                              <m:plcHide m:val="on"/>
                              <m:mcs>
                                <m:mc>
                                  <m:mcPr>
                                    <m:count m:val="4"/>
                                    <m:mcJc m:val="center"/>
                                  </m:mcPr>
                                </m:mc>
                              </m:mcs>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mPr>
                            <m:mr>
                              <m:e>
                                <m:r>
                                  <a:rPr lang="en-US" sz="1800" b="1" i="1">
                                    <a:effectLst/>
                                    <a:latin typeface="Cambria Math" panose="02040503050406030204" pitchFamily="18" charset="0"/>
                                    <a:ea typeface="Calibri" panose="020F0502020204030204" pitchFamily="34" charset="0"/>
                                    <a:cs typeface="Calibri Light" panose="020F0302020204030204" pitchFamily="34" charset="0"/>
                                  </a:rPr>
                                  <m:t>𝑱</m:t>
                                </m:r>
                              </m:e>
                              <m:e>
                                <m:r>
                                  <a:rPr lang="en-US" sz="1800" b="1" i="1">
                                    <a:effectLst/>
                                    <a:latin typeface="Cambria Math" panose="02040503050406030204" pitchFamily="18" charset="0"/>
                                    <a:ea typeface="Calibri" panose="020F0502020204030204" pitchFamily="34" charset="0"/>
                                    <a:cs typeface="Calibri Light" panose="020F0302020204030204" pitchFamily="34" charset="0"/>
                                  </a:rPr>
                                  <m:t>𝟎</m:t>
                                </m:r>
                              </m:e>
                              <m:e>
                                <m:r>
                                  <a:rPr lang="en-US" sz="1800" b="1" i="1">
                                    <a:effectLst/>
                                    <a:latin typeface="Cambria Math" panose="02040503050406030204" pitchFamily="18" charset="0"/>
                                    <a:ea typeface="Calibri" panose="020F0502020204030204" pitchFamily="34" charset="0"/>
                                    <a:cs typeface="Calibri Light" panose="020F0302020204030204" pitchFamily="34" charset="0"/>
                                  </a:rPr>
                                  <m:t>𝟎</m:t>
                                </m:r>
                              </m:e>
                              <m:e>
                                <m:r>
                                  <a:rPr lang="en-US" sz="1800" b="1" i="1">
                                    <a:effectLst/>
                                    <a:latin typeface="Cambria Math" panose="02040503050406030204" pitchFamily="18" charset="0"/>
                                    <a:ea typeface="Calibri" panose="020F0502020204030204" pitchFamily="34" charset="0"/>
                                    <a:cs typeface="Calibri Light" panose="020F0302020204030204" pitchFamily="34" charset="0"/>
                                  </a:rPr>
                                  <m:t>𝟎</m:t>
                                </m:r>
                              </m:e>
                            </m:mr>
                            <m:mr>
                              <m:e>
                                <m:r>
                                  <a:rPr lang="en-US" sz="1800" b="1" i="1">
                                    <a:effectLst/>
                                    <a:latin typeface="Cambria Math" panose="02040503050406030204" pitchFamily="18" charset="0"/>
                                    <a:ea typeface="Calibri" panose="020F0502020204030204" pitchFamily="34" charset="0"/>
                                    <a:cs typeface="Calibri Light" panose="020F0302020204030204" pitchFamily="34" charset="0"/>
                                  </a:rPr>
                                  <m:t>𝟎</m:t>
                                </m:r>
                              </m:e>
                              <m:e>
                                <m:r>
                                  <a:rPr lang="en-US" sz="1800" b="1" i="1">
                                    <a:effectLst/>
                                    <a:latin typeface="Cambria Math" panose="02040503050406030204" pitchFamily="18" charset="0"/>
                                    <a:ea typeface="Calibri" panose="020F0502020204030204" pitchFamily="34" charset="0"/>
                                    <a:cs typeface="Calibri Light" panose="020F0302020204030204" pitchFamily="34" charset="0"/>
                                  </a:rPr>
                                  <m:t>𝑱</m:t>
                                </m:r>
                              </m:e>
                              <m:e>
                                <m:r>
                                  <a:rPr lang="en-US" sz="1800" b="1" i="1">
                                    <a:effectLst/>
                                    <a:latin typeface="Cambria Math" panose="02040503050406030204" pitchFamily="18" charset="0"/>
                                    <a:ea typeface="Calibri" panose="020F0502020204030204" pitchFamily="34" charset="0"/>
                                    <a:cs typeface="Calibri Light" panose="020F0302020204030204" pitchFamily="34" charset="0"/>
                                  </a:rPr>
                                  <m:t>𝟎</m:t>
                                </m:r>
                              </m:e>
                              <m:e>
                                <m:r>
                                  <a:rPr lang="en-US" sz="1800" b="1" i="1">
                                    <a:effectLst/>
                                    <a:latin typeface="Cambria Math" panose="02040503050406030204" pitchFamily="18" charset="0"/>
                                    <a:ea typeface="Calibri" panose="020F0502020204030204" pitchFamily="34" charset="0"/>
                                    <a:cs typeface="Calibri Light" panose="020F0302020204030204" pitchFamily="34" charset="0"/>
                                  </a:rPr>
                                  <m:t>𝟎</m:t>
                                </m:r>
                              </m:e>
                            </m:mr>
                            <m:mr>
                              <m:e>
                                <m:r>
                                  <a:rPr lang="en-US" sz="1800" b="1" i="1">
                                    <a:effectLst/>
                                    <a:latin typeface="Cambria Math" panose="02040503050406030204" pitchFamily="18" charset="0"/>
                                    <a:ea typeface="Calibri" panose="020F0502020204030204" pitchFamily="34" charset="0"/>
                                    <a:cs typeface="Calibri Light" panose="020F0302020204030204" pitchFamily="34" charset="0"/>
                                  </a:rPr>
                                  <m:t>𝟎</m:t>
                                </m:r>
                              </m:e>
                              <m:e>
                                <m:r>
                                  <a:rPr lang="en-US" sz="1800" b="1" i="1">
                                    <a:effectLst/>
                                    <a:latin typeface="Cambria Math" panose="02040503050406030204" pitchFamily="18" charset="0"/>
                                    <a:ea typeface="Calibri" panose="020F0502020204030204" pitchFamily="34" charset="0"/>
                                    <a:cs typeface="Calibri Light" panose="020F0302020204030204" pitchFamily="34" charset="0"/>
                                  </a:rPr>
                                  <m:t>𝟎</m:t>
                                </m:r>
                              </m:e>
                              <m:e>
                                <m:r>
                                  <a:rPr lang="en-US" sz="1800" b="1" i="1">
                                    <a:effectLst/>
                                    <a:latin typeface="Cambria Math" panose="02040503050406030204" pitchFamily="18" charset="0"/>
                                    <a:ea typeface="Calibri" panose="020F0502020204030204" pitchFamily="34" charset="0"/>
                                    <a:cs typeface="Calibri Light" panose="020F0302020204030204" pitchFamily="34" charset="0"/>
                                  </a:rPr>
                                  <m:t>𝑱</m:t>
                                </m:r>
                              </m:e>
                              <m:e>
                                <m:r>
                                  <a:rPr lang="en-US" sz="1800" b="1" i="1">
                                    <a:effectLst/>
                                    <a:latin typeface="Cambria Math" panose="02040503050406030204" pitchFamily="18" charset="0"/>
                                    <a:ea typeface="Calibri" panose="020F0502020204030204" pitchFamily="34" charset="0"/>
                                    <a:cs typeface="Calibri Light" panose="020F0302020204030204" pitchFamily="34" charset="0"/>
                                  </a:rPr>
                                  <m:t>𝟎</m:t>
                                </m:r>
                              </m:e>
                            </m:mr>
                            <m:mr>
                              <m:e>
                                <m:r>
                                  <a:rPr lang="en-US" sz="1800" b="1" i="1">
                                    <a:effectLst/>
                                    <a:latin typeface="Cambria Math" panose="02040503050406030204" pitchFamily="18" charset="0"/>
                                    <a:ea typeface="Calibri" panose="020F0502020204030204" pitchFamily="34" charset="0"/>
                                    <a:cs typeface="Calibri Light" panose="020F0302020204030204" pitchFamily="34" charset="0"/>
                                  </a:rPr>
                                  <m:t>𝟎</m:t>
                                </m:r>
                              </m:e>
                              <m:e>
                                <m:r>
                                  <a:rPr lang="en-US" sz="1800" b="1" i="1">
                                    <a:effectLst/>
                                    <a:latin typeface="Cambria Math" panose="02040503050406030204" pitchFamily="18" charset="0"/>
                                    <a:ea typeface="Calibri" panose="020F0502020204030204" pitchFamily="34" charset="0"/>
                                    <a:cs typeface="Calibri Light" panose="020F0302020204030204" pitchFamily="34" charset="0"/>
                                  </a:rPr>
                                  <m:t>𝟎</m:t>
                                </m:r>
                              </m:e>
                              <m:e>
                                <m:r>
                                  <a:rPr lang="en-US" sz="1800" b="1" i="1">
                                    <a:effectLst/>
                                    <a:latin typeface="Cambria Math" panose="02040503050406030204" pitchFamily="18" charset="0"/>
                                    <a:ea typeface="Calibri" panose="020F0502020204030204" pitchFamily="34" charset="0"/>
                                    <a:cs typeface="Calibri Light" panose="020F0302020204030204" pitchFamily="34" charset="0"/>
                                  </a:rPr>
                                  <m:t>𝟎</m:t>
                                </m:r>
                              </m:e>
                              <m:e>
                                <m:r>
                                  <a:rPr lang="en-US" sz="1800" b="1" i="1">
                                    <a:effectLst/>
                                    <a:latin typeface="Cambria Math" panose="02040503050406030204" pitchFamily="18" charset="0"/>
                                    <a:ea typeface="Calibri" panose="020F0502020204030204" pitchFamily="34" charset="0"/>
                                    <a:cs typeface="Calibri Light" panose="020F0302020204030204" pitchFamily="34" charset="0"/>
                                  </a:rPr>
                                  <m:t>𝑱</m:t>
                                </m:r>
                              </m:e>
                            </m:mr>
                          </m:m>
                        </m:e>
                      </m:d>
                    </m:oMath>
                  </m:oMathPara>
                </a14:m>
                <a:endParaRPr lang="en-US" sz="2800" dirty="0">
                  <a:effectLst/>
                  <a:latin typeface="Calibri" panose="020F0502020204030204" pitchFamily="34" charset="0"/>
                  <a:ea typeface="Calibri" panose="020F0502020204030204" pitchFamily="34" charset="0"/>
                </a:endParaRPr>
              </a:p>
            </p:txBody>
          </p:sp>
        </mc:Choice>
        <mc:Fallback xmlns="">
          <p:sp>
            <p:nvSpPr>
              <p:cNvPr id="7" name="CasellaDiTesto 6">
                <a:extLst>
                  <a:ext uri="{FF2B5EF4-FFF2-40B4-BE49-F238E27FC236}">
                    <a16:creationId xmlns:a16="http://schemas.microsoft.com/office/drawing/2014/main" id="{FDCF71A6-11D4-4722-994D-B280A07D8F81}"/>
                  </a:ext>
                </a:extLst>
              </p:cNvPr>
              <p:cNvSpPr txBox="1">
                <a:spLocks noRot="1" noChangeAspect="1" noMove="1" noResize="1" noEditPoints="1" noAdjustHandles="1" noChangeArrowheads="1" noChangeShapeType="1" noTextEdit="1"/>
              </p:cNvSpPr>
              <p:nvPr/>
            </p:nvSpPr>
            <p:spPr>
              <a:xfrm>
                <a:off x="1565211" y="1324913"/>
                <a:ext cx="6097554" cy="3651256"/>
              </a:xfrm>
              <a:prstGeom prst="rect">
                <a:avLst/>
              </a:prstGeom>
              <a:blipFill>
                <a:blip r:embed="rId3"/>
                <a:stretch>
                  <a:fillRect l="-900" t="-8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A103E8AD-0A15-4B83-9815-BA55CBE283C9}"/>
                  </a:ext>
                </a:extLst>
              </p:cNvPr>
              <p:cNvSpPr txBox="1"/>
              <p:nvPr/>
            </p:nvSpPr>
            <p:spPr>
              <a:xfrm>
                <a:off x="1565211" y="4833291"/>
                <a:ext cx="6097554" cy="954107"/>
              </a:xfrm>
              <a:prstGeom prst="rect">
                <a:avLst/>
              </a:prstGeom>
              <a:noFill/>
            </p:spPr>
            <p:txBody>
              <a:bodyPr wrap="square">
                <a:spAutoFit/>
              </a:bodyPr>
              <a:lstStyle/>
              <a:p>
                <a:pPr>
                  <a:spcAft>
                    <a:spcPts val="1200"/>
                  </a:spcAft>
                </a:pPr>
                <a:r>
                  <a:rPr lang="en-US" sz="1800" dirty="0">
                    <a:effectLst/>
                    <a:latin typeface="Calibri Light" panose="020F0302020204030204" pitchFamily="34" charset="0"/>
                    <a:ea typeface="Calibri" panose="020F0502020204030204" pitchFamily="34" charset="0"/>
                  </a:rPr>
                  <a:t>Together with a 16-dimensional threshold vector</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𝜽</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r>
                        <a:rPr lang="en-US" sz="1800">
                          <a:effectLst/>
                          <a:latin typeface="Cambria Math" panose="02040503050406030204" pitchFamily="18" charset="0"/>
                          <a:ea typeface="Calibri" panose="020F0502020204030204" pitchFamily="34" charset="0"/>
                          <a:cs typeface="Calibri Light" panose="020F0302020204030204" pitchFamily="34" charset="0"/>
                        </a:rPr>
                        <m:t>2(2</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𝑘</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𝟏</m:t>
                      </m:r>
                    </m:oMath>
                  </m:oMathPara>
                </a14:m>
                <a:endParaRPr lang="en-US" sz="2800" dirty="0">
                  <a:effectLst/>
                  <a:latin typeface="Calibri" panose="020F0502020204030204" pitchFamily="34" charset="0"/>
                  <a:ea typeface="Calibri" panose="020F0502020204030204" pitchFamily="34" charset="0"/>
                </a:endParaRPr>
              </a:p>
            </p:txBody>
          </p:sp>
        </mc:Choice>
        <mc:Fallback xmlns="">
          <p:sp>
            <p:nvSpPr>
              <p:cNvPr id="9" name="CasellaDiTesto 8">
                <a:extLst>
                  <a:ext uri="{FF2B5EF4-FFF2-40B4-BE49-F238E27FC236}">
                    <a16:creationId xmlns:a16="http://schemas.microsoft.com/office/drawing/2014/main" id="{A103E8AD-0A15-4B83-9815-BA55CBE283C9}"/>
                  </a:ext>
                </a:extLst>
              </p:cNvPr>
              <p:cNvSpPr txBox="1">
                <a:spLocks noRot="1" noChangeAspect="1" noMove="1" noResize="1" noEditPoints="1" noAdjustHandles="1" noChangeArrowheads="1" noChangeShapeType="1" noTextEdit="1"/>
              </p:cNvSpPr>
              <p:nvPr/>
            </p:nvSpPr>
            <p:spPr>
              <a:xfrm>
                <a:off x="1565211" y="4833291"/>
                <a:ext cx="6097554" cy="954107"/>
              </a:xfrm>
              <a:prstGeom prst="rect">
                <a:avLst/>
              </a:prstGeom>
              <a:blipFill>
                <a:blip r:embed="rId4"/>
                <a:stretch>
                  <a:fillRect l="-900" t="-38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asellaDiTesto 10">
                <a:extLst>
                  <a:ext uri="{FF2B5EF4-FFF2-40B4-BE49-F238E27FC236}">
                    <a16:creationId xmlns:a16="http://schemas.microsoft.com/office/drawing/2014/main" id="{D71F1350-791E-4BEE-9481-B23DA973A85D}"/>
                  </a:ext>
                </a:extLst>
              </p:cNvPr>
              <p:cNvSpPr txBox="1"/>
              <p:nvPr/>
            </p:nvSpPr>
            <p:spPr>
              <a:xfrm>
                <a:off x="1565211" y="5787398"/>
                <a:ext cx="6097554" cy="483466"/>
              </a:xfrm>
              <a:prstGeom prst="rect">
                <a:avLst/>
              </a:prstGeom>
              <a:noFill/>
            </p:spPr>
            <p:txBody>
              <a:bodyPr wrap="square">
                <a:spAutoFit/>
              </a:bodyPr>
              <a:lstStyle/>
              <a:p>
                <a:r>
                  <a:rPr lang="en-US" sz="1800" dirty="0">
                    <a:effectLst/>
                    <a:latin typeface="Calibri Light" panose="020F0302020204030204" pitchFamily="34" charset="0"/>
                    <a:ea typeface="Calibri" panose="020F0502020204030204" pitchFamily="34" charset="0"/>
                  </a:rPr>
                  <a:t>energy function </a:t>
                </a:r>
                <a14:m>
                  <m:oMath xmlns:m="http://schemas.openxmlformats.org/officeDocument/2006/math">
                    <m:sSub>
                      <m:sSubPr>
                        <m:ctrlPr>
                          <a:rPr lang="en-US" sz="1800" i="1">
                            <a:effectLst/>
                            <a:latin typeface="Cambria Math" panose="02040503050406030204" pitchFamily="18"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a:effectLst/>
                            <a:latin typeface="Cambria Math" panose="02040503050406030204" pitchFamily="18" charset="0"/>
                            <a:ea typeface="Calibri" panose="020F0502020204030204" pitchFamily="34" charset="0"/>
                            <a:cs typeface="Calibri Light" panose="020F0302020204030204" pitchFamily="34" charset="0"/>
                          </a:rPr>
                          <m:t>2</m:t>
                        </m:r>
                      </m:den>
                    </m:f>
                    <m:sSup>
                      <m:sSupPr>
                        <m:ctrlPr>
                          <a:rPr lang="en-US" sz="1800" i="1">
                            <a:effectLst/>
                            <a:latin typeface="Cambria Math" panose="02040503050406030204" pitchFamily="18" charset="0"/>
                            <a:cs typeface="Calibri Light" panose="020F0302020204030204" pitchFamily="34" charset="0"/>
                          </a:rPr>
                        </m:ctrlPr>
                      </m:s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𝑠</m:t>
                        </m:r>
                      </m:e>
                      <m:sup>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p>
                    <m:sSub>
                      <m:sSubPr>
                        <m:ctrlPr>
                          <a:rPr lang="en-US" sz="1800" i="1">
                            <a:effectLst/>
                            <a:latin typeface="Cambria Math" panose="02040503050406030204" pitchFamily="18"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𝑾</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sub>
                    </m:sSub>
                    <m:r>
                      <a:rPr lang="en-US" sz="1800" i="1">
                        <a:effectLst/>
                        <a:latin typeface="Cambria Math" panose="02040503050406030204" pitchFamily="18" charset="0"/>
                        <a:ea typeface="Calibri" panose="020F0502020204030204" pitchFamily="34" charset="0"/>
                        <a:cs typeface="Calibri Light" panose="020F0302020204030204" pitchFamily="34" charset="0"/>
                      </a:rPr>
                      <m:t>𝑠</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cs typeface="Calibri Light" panose="020F0302020204030204" pitchFamily="34" charset="0"/>
                          </a:rPr>
                        </m:ctrlPr>
                      </m:sSubSup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𝜽</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sub>
                      <m:sup>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bSup>
                    <m:r>
                      <a:rPr lang="en-US" sz="1800" i="1">
                        <a:effectLst/>
                        <a:latin typeface="Cambria Math" panose="02040503050406030204" pitchFamily="18" charset="0"/>
                        <a:ea typeface="Calibri" panose="020F0502020204030204" pitchFamily="34" charset="0"/>
                        <a:cs typeface="Calibri Light" panose="020F0302020204030204" pitchFamily="34" charset="0"/>
                      </a:rPr>
                      <m:t>𝑠</m:t>
                    </m:r>
                  </m:oMath>
                </a14:m>
                <a:r>
                  <a:rPr lang="en-US" sz="1800" dirty="0">
                    <a:effectLst/>
                    <a:latin typeface="Calibri Light" panose="020F0302020204030204" pitchFamily="34" charset="0"/>
                    <a:ea typeface="Calibri" panose="020F0502020204030204" pitchFamily="34" charset="0"/>
                  </a:rPr>
                  <a:t> </a:t>
                </a:r>
                <a:endParaRPr lang="en-US" dirty="0"/>
              </a:p>
            </p:txBody>
          </p:sp>
        </mc:Choice>
        <mc:Fallback xmlns="">
          <p:sp>
            <p:nvSpPr>
              <p:cNvPr id="11" name="CasellaDiTesto 10">
                <a:extLst>
                  <a:ext uri="{FF2B5EF4-FFF2-40B4-BE49-F238E27FC236}">
                    <a16:creationId xmlns:a16="http://schemas.microsoft.com/office/drawing/2014/main" id="{D71F1350-791E-4BEE-9481-B23DA973A85D}"/>
                  </a:ext>
                </a:extLst>
              </p:cNvPr>
              <p:cNvSpPr txBox="1">
                <a:spLocks noRot="1" noChangeAspect="1" noMove="1" noResize="1" noEditPoints="1" noAdjustHandles="1" noChangeArrowheads="1" noChangeShapeType="1" noTextEdit="1"/>
              </p:cNvSpPr>
              <p:nvPr/>
            </p:nvSpPr>
            <p:spPr>
              <a:xfrm>
                <a:off x="1565211" y="5787398"/>
                <a:ext cx="6097554" cy="483466"/>
              </a:xfrm>
              <a:prstGeom prst="rect">
                <a:avLst/>
              </a:prstGeom>
              <a:blipFill>
                <a:blip r:embed="rId5"/>
                <a:stretch>
                  <a:fillRect l="-900" b="-7500"/>
                </a:stretch>
              </a:blipFill>
            </p:spPr>
            <p:txBody>
              <a:bodyPr/>
              <a:lstStyle/>
              <a:p>
                <a:r>
                  <a:rPr lang="en-US">
                    <a:noFill/>
                  </a:rPr>
                  <a:t> </a:t>
                </a:r>
              </a:p>
            </p:txBody>
          </p:sp>
        </mc:Fallback>
      </mc:AlternateContent>
    </p:spTree>
    <p:extLst>
      <p:ext uri="{BB962C8B-B14F-4D97-AF65-F5344CB8AC3E}">
        <p14:creationId xmlns:p14="http://schemas.microsoft.com/office/powerpoint/2010/main" val="12415615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66002DF0-1586-4668-A962-3FEBDABFEE2A}"/>
              </a:ext>
            </a:extLst>
          </p:cNvPr>
          <p:cNvSpPr txBox="1"/>
          <p:nvPr/>
        </p:nvSpPr>
        <p:spPr>
          <a:xfrm>
            <a:off x="2545391" y="327052"/>
            <a:ext cx="8412299" cy="769441"/>
          </a:xfrm>
          <a:prstGeom prst="rect">
            <a:avLst/>
          </a:prstGeom>
          <a:noFill/>
        </p:spPr>
        <p:txBody>
          <a:bodyPr wrap="square" rtlCol="0">
            <a:spAutoFit/>
          </a:bodyPr>
          <a:lstStyle/>
          <a:p>
            <a:r>
              <a:rPr lang="it-IT" sz="4400" dirty="0" err="1">
                <a:solidFill>
                  <a:schemeClr val="accent1">
                    <a:lumMod val="50000"/>
                  </a:schemeClr>
                </a:solidFill>
                <a:latin typeface="+mj-lt"/>
              </a:rPr>
              <a:t>Problem</a:t>
            </a:r>
            <a:r>
              <a:rPr lang="it-IT" sz="4400" dirty="0">
                <a:solidFill>
                  <a:schemeClr val="accent1">
                    <a:lumMod val="50000"/>
                  </a:schemeClr>
                </a:solidFill>
                <a:latin typeface="+mj-lt"/>
              </a:rPr>
              <a:t> solving via </a:t>
            </a:r>
            <a:r>
              <a:rPr lang="it-IT" sz="4400" dirty="0" err="1">
                <a:solidFill>
                  <a:schemeClr val="accent1">
                    <a:lumMod val="50000"/>
                  </a:schemeClr>
                </a:solidFill>
                <a:latin typeface="+mj-lt"/>
              </a:rPr>
              <a:t>Hopfield</a:t>
            </a:r>
            <a:r>
              <a:rPr lang="it-IT" sz="4400" dirty="0">
                <a:solidFill>
                  <a:schemeClr val="accent1">
                    <a:lumMod val="50000"/>
                  </a:schemeClr>
                </a:solidFill>
                <a:latin typeface="+mj-lt"/>
              </a:rPr>
              <a:t> -3</a:t>
            </a:r>
            <a:endParaRPr lang="en-US" sz="4400" dirty="0">
              <a:solidFill>
                <a:schemeClr val="accent1">
                  <a:lumMod val="50000"/>
                </a:schemeClr>
              </a:solidFill>
              <a:latin typeface="+mj-lt"/>
            </a:endParaRPr>
          </a:p>
        </p:txBody>
      </p:sp>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60B74262-3523-4A22-A5CC-061671A376A8}"/>
                  </a:ext>
                </a:extLst>
              </p:cNvPr>
              <p:cNvSpPr txBox="1"/>
              <p:nvPr/>
            </p:nvSpPr>
            <p:spPr>
              <a:xfrm>
                <a:off x="318583" y="5233587"/>
                <a:ext cx="8935947" cy="1318823"/>
              </a:xfrm>
              <a:prstGeom prst="rect">
                <a:avLst/>
              </a:prstGeom>
              <a:noFill/>
            </p:spPr>
            <p:txBody>
              <a:bodyPr wrap="square">
                <a:spAutoFit/>
              </a:bodyPr>
              <a:lstStyle/>
              <a:p>
                <a:r>
                  <a:rPr lang="en-US" sz="1800" dirty="0">
                    <a:effectLst/>
                    <a:latin typeface="Calibri Light" panose="020F0302020204030204" pitchFamily="34" charset="0"/>
                    <a:ea typeface="Calibri" panose="020F0502020204030204" pitchFamily="34" charset="0"/>
                  </a:rPr>
                  <a:t>Translating in AQO algorithm we may let</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b="1" i="1">
                          <a:effectLst/>
                          <a:latin typeface="Cambria Math" panose="02040503050406030204" pitchFamily="18" charset="0"/>
                          <a:ea typeface="Calibri" panose="020F0502020204030204" pitchFamily="34" charset="0"/>
                          <a:cs typeface="Calibri Light" panose="020F0302020204030204" pitchFamily="34" charset="0"/>
                        </a:rPr>
                        <m:t>𝑸</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a:effectLst/>
                              <a:latin typeface="Cambria Math" panose="02040503050406030204" pitchFamily="18" charset="0"/>
                              <a:ea typeface="Calibri" panose="020F0502020204030204" pitchFamily="34" charset="0"/>
                              <a:cs typeface="Calibri Light" panose="020F0302020204030204" pitchFamily="34" charset="0"/>
                            </a:rPr>
                            <m:t>2</m:t>
                          </m:r>
                        </m:den>
                      </m:f>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𝑾</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𝑾</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𝑐</m:t>
                              </m:r>
                            </m:sub>
                          </m:sSub>
                        </m:e>
                      </m:d>
                    </m:oMath>
                    <m:oMath xmlns:m="http://schemas.openxmlformats.org/officeDocument/2006/math">
                      <m:r>
                        <a:rPr lang="en-US" sz="1800" b="1" i="1">
                          <a:effectLst/>
                          <a:latin typeface="Cambria Math" panose="02040503050406030204" pitchFamily="18" charset="0"/>
                          <a:ea typeface="Calibri" panose="020F0502020204030204" pitchFamily="34" charset="0"/>
                          <a:cs typeface="Calibri Light" panose="020F0302020204030204" pitchFamily="34" charset="0"/>
                        </a:rPr>
                        <m:t>𝒒</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𝜽</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𝑟</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𝜽</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𝑐</m:t>
                          </m:r>
                        </m:sub>
                      </m:sSub>
                    </m:oMath>
                  </m:oMathPara>
                </a14:m>
                <a:endParaRPr lang="en-US" sz="2800" dirty="0">
                  <a:effectLst/>
                  <a:latin typeface="Calibri" panose="020F0502020204030204" pitchFamily="34" charset="0"/>
                  <a:ea typeface="Calibri" panose="020F0502020204030204" pitchFamily="34" charset="0"/>
                </a:endParaRPr>
              </a:p>
            </p:txBody>
          </p:sp>
        </mc:Choice>
        <mc:Fallback xmlns="">
          <p:sp>
            <p:nvSpPr>
              <p:cNvPr id="8" name="CasellaDiTesto 7">
                <a:extLst>
                  <a:ext uri="{FF2B5EF4-FFF2-40B4-BE49-F238E27FC236}">
                    <a16:creationId xmlns:a16="http://schemas.microsoft.com/office/drawing/2014/main" id="{60B74262-3523-4A22-A5CC-061671A376A8}"/>
                  </a:ext>
                </a:extLst>
              </p:cNvPr>
              <p:cNvSpPr txBox="1">
                <a:spLocks noRot="1" noChangeAspect="1" noMove="1" noResize="1" noEditPoints="1" noAdjustHandles="1" noChangeArrowheads="1" noChangeShapeType="1" noTextEdit="1"/>
              </p:cNvSpPr>
              <p:nvPr/>
            </p:nvSpPr>
            <p:spPr>
              <a:xfrm>
                <a:off x="318583" y="5233587"/>
                <a:ext cx="8935947" cy="1318823"/>
              </a:xfrm>
              <a:prstGeom prst="rect">
                <a:avLst/>
              </a:prstGeom>
              <a:blipFill>
                <a:blip r:embed="rId2"/>
                <a:stretch>
                  <a:fillRect l="-546" t="-2778"/>
                </a:stretch>
              </a:blipFill>
            </p:spPr>
            <p:txBody>
              <a:bodyPr/>
              <a:lstStyle/>
              <a:p>
                <a:r>
                  <a:rPr lang="en-US">
                    <a:noFill/>
                  </a:rPr>
                  <a:t> </a:t>
                </a:r>
              </a:p>
            </p:txBody>
          </p:sp>
        </mc:Fallback>
      </mc:AlternateContent>
      <p:pic>
        <p:nvPicPr>
          <p:cNvPr id="10" name="Immagine 9" descr="Immagine che contiene testo&#10;&#10;Descrizione generata automaticamente">
            <a:extLst>
              <a:ext uri="{FF2B5EF4-FFF2-40B4-BE49-F238E27FC236}">
                <a16:creationId xmlns:a16="http://schemas.microsoft.com/office/drawing/2014/main" id="{7393E4C8-7771-4CCF-8692-6681E8320B3A}"/>
              </a:ext>
            </a:extLst>
          </p:cNvPr>
          <p:cNvPicPr>
            <a:picLocks noChangeAspect="1"/>
          </p:cNvPicPr>
          <p:nvPr/>
        </p:nvPicPr>
        <p:blipFill rotWithShape="1">
          <a:blip r:embed="rId3"/>
          <a:srcRect b="3704"/>
          <a:stretch/>
        </p:blipFill>
        <p:spPr bwMode="auto">
          <a:xfrm>
            <a:off x="7883330" y="2346625"/>
            <a:ext cx="4100519" cy="2762412"/>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1" name="CasellaDiTesto 10">
                <a:extLst>
                  <a:ext uri="{FF2B5EF4-FFF2-40B4-BE49-F238E27FC236}">
                    <a16:creationId xmlns:a16="http://schemas.microsoft.com/office/drawing/2014/main" id="{B7A98977-92B6-4236-873E-C6DFEDE08AF6}"/>
                  </a:ext>
                </a:extLst>
              </p:cNvPr>
              <p:cNvSpPr txBox="1"/>
              <p:nvPr/>
            </p:nvSpPr>
            <p:spPr>
              <a:xfrm>
                <a:off x="318583" y="1188217"/>
                <a:ext cx="7428695" cy="3953646"/>
              </a:xfrm>
              <a:prstGeom prst="rect">
                <a:avLst/>
              </a:prstGeom>
              <a:noFill/>
            </p:spPr>
            <p:txBody>
              <a:bodyPr wrap="square">
                <a:spAutoFit/>
              </a:bodyPr>
              <a:lstStyle/>
              <a:p>
                <a:r>
                  <a:rPr lang="en-US" dirty="0">
                    <a:latin typeface="Calibri Light" panose="020F0302020204030204" pitchFamily="34" charset="0"/>
                    <a:ea typeface="Calibri" panose="020F0502020204030204" pitchFamily="34" charset="0"/>
                  </a:rPr>
                  <a:t>C</a:t>
                </a:r>
                <a:r>
                  <a:rPr lang="en-US" sz="1800" dirty="0">
                    <a:effectLst/>
                    <a:latin typeface="Calibri Light" panose="020F0302020204030204" pitchFamily="34" charset="0"/>
                    <a:ea typeface="Calibri" panose="020F0502020204030204" pitchFamily="34" charset="0"/>
                  </a:rPr>
                  <a:t>onsider a time dependent system of n = 16 qubits</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b="1" i="1">
                          <a:effectLst/>
                          <a:latin typeface="Cambria Math" panose="02040503050406030204" pitchFamily="18" charset="0"/>
                          <a:ea typeface="Calibri" panose="020F0502020204030204" pitchFamily="34" charset="0"/>
                          <a:cs typeface="Calibri Light" panose="020F0302020204030204" pitchFamily="34" charset="0"/>
                        </a:rPr>
                        <m:t>𝝍</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=0</m:t>
                          </m:r>
                        </m:sub>
                        <m:sup>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a:effectLst/>
                                  <a:latin typeface="Cambria Math" panose="02040503050406030204" pitchFamily="18" charset="0"/>
                                  <a:ea typeface="Calibri" panose="020F0502020204030204" pitchFamily="34" charset="0"/>
                                  <a:cs typeface="Calibri Light" panose="020F0302020204030204" pitchFamily="34" charset="0"/>
                                </a:rPr>
                                <m:t>2</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p>
                          <m:r>
                            <a:rPr lang="en-US" sz="1800" i="1">
                              <a:effectLst/>
                              <a:latin typeface="Cambria Math" panose="02040503050406030204" pitchFamily="18" charset="0"/>
                              <a:ea typeface="Calibri" panose="020F0502020204030204" pitchFamily="34" charset="0"/>
                              <a:cs typeface="Calibri Light" panose="020F0302020204030204" pitchFamily="34" charset="0"/>
                            </a:rPr>
                            <m:t>−</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𝑎</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𝝍</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e>
                      </m:d>
                    </m:oMath>
                  </m:oMathPara>
                </a14:m>
                <a:endParaRPr lang="en-US" sz="2800" dirty="0">
                  <a:effectLst/>
                  <a:latin typeface="Calibri" panose="020F0502020204030204" pitchFamily="34" charset="0"/>
                  <a:ea typeface="Calibri" panose="020F0502020204030204" pitchFamily="34" charset="0"/>
                </a:endParaRPr>
              </a:p>
              <a:p>
                <a:r>
                  <a:rPr lang="en-US" sz="1800" dirty="0">
                    <a:effectLst/>
                    <a:latin typeface="Calibri Light" panose="020F0302020204030204" pitchFamily="34" charset="0"/>
                    <a:ea typeface="Calibri" panose="020F0502020204030204" pitchFamily="34" charset="0"/>
                  </a:rPr>
                  <a:t>which is in a superposition of 65.536 basis states </a:t>
                </a:r>
                <a14:m>
                  <m:oMath xmlns:m="http://schemas.openxmlformats.org/officeDocument/2006/math">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𝝍</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e>
                    </m:d>
                  </m:oMath>
                </a14:m>
                <a:r>
                  <a:rPr lang="en-US" sz="1800" dirty="0">
                    <a:effectLst/>
                    <a:latin typeface="Calibri Light" panose="020F0302020204030204" pitchFamily="34" charset="0"/>
                    <a:ea typeface="Calibri" panose="020F0502020204030204" pitchFamily="34" charset="0"/>
                  </a:rPr>
                  <a:t>. Using </a:t>
                </a:r>
                <a:r>
                  <a:rPr lang="en-US" sz="1800" dirty="0" err="1">
                    <a:effectLst/>
                    <a:latin typeface="Calibri Light" panose="020F0302020204030204" pitchFamily="34" charset="0"/>
                    <a:ea typeface="Calibri" panose="020F0502020204030204" pitchFamily="34" charset="0"/>
                  </a:rPr>
                  <a:t>schroedinge</a:t>
                </a:r>
                <a:r>
                  <a:rPr lang="en-US" dirty="0" err="1">
                    <a:latin typeface="Calibri Light" panose="020F0302020204030204" pitchFamily="34" charset="0"/>
                    <a:ea typeface="Calibri" panose="020F0502020204030204" pitchFamily="34" charset="0"/>
                  </a:rPr>
                  <a:t>r</a:t>
                </a:r>
                <a:r>
                  <a:rPr lang="en-US" dirty="0">
                    <a:latin typeface="Calibri Light" panose="020F0302020204030204" pitchFamily="34" charset="0"/>
                    <a:ea typeface="Calibri" panose="020F0502020204030204" pitchFamily="34" charset="0"/>
                  </a:rPr>
                  <a:t> equation</a:t>
                </a:r>
                <a:r>
                  <a:rPr lang="en-US" sz="1800" dirty="0">
                    <a:effectLst/>
                    <a:latin typeface="Calibri Light" panose="020F0302020204030204" pitchFamily="34" charset="0"/>
                    <a:ea typeface="Calibri" panose="020F0502020204030204" pitchFamily="34" charset="0"/>
                  </a:rPr>
                  <a:t>, we consider a period ranging from t = 0 to t = τ and assume the Hamiltonian of the Schrödinger equation to be a convex combination of two static Hamiltonian</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r>
                            <a:rPr lang="en-US" sz="1800">
                              <a:effectLst/>
                              <a:latin typeface="Cambria Math" panose="02040503050406030204" pitchFamily="18" charset="0"/>
                              <a:ea typeface="Calibri" panose="020F0502020204030204" pitchFamily="34" charset="0"/>
                              <a:cs typeface="Calibri Light" panose="020F0302020204030204" pitchFamily="34" charset="0"/>
                            </a:rPr>
                            <m:t>1</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num>
                            <m:den>
                              <m:r>
                                <a:rPr lang="en-US" sz="1800" i="1">
                                  <a:effectLst/>
                                  <a:latin typeface="Cambria Math" panose="02040503050406030204" pitchFamily="18" charset="0"/>
                                  <a:ea typeface="Calibri" panose="020F0502020204030204" pitchFamily="34" charset="0"/>
                                  <a:cs typeface="Calibri Light" panose="020F0302020204030204" pitchFamily="34" charset="0"/>
                                </a:rPr>
                                <m:t>𝜏</m:t>
                              </m:r>
                            </m:den>
                          </m:f>
                        </m:e>
                      </m:d>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𝐵</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num>
                        <m:den>
                          <m:r>
                            <a:rPr lang="en-US" sz="1800" i="1">
                              <a:effectLst/>
                              <a:latin typeface="Cambria Math" panose="02040503050406030204" pitchFamily="18" charset="0"/>
                              <a:ea typeface="Calibri" panose="020F0502020204030204" pitchFamily="34" charset="0"/>
                              <a:cs typeface="Calibri Light" panose="020F0302020204030204" pitchFamily="34" charset="0"/>
                            </a:rPr>
                            <m:t>𝜏</m:t>
                          </m:r>
                        </m:den>
                      </m:f>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𝑃</m:t>
                          </m:r>
                        </m:sub>
                      </m:sSub>
                    </m:oMath>
                  </m:oMathPara>
                </a14:m>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𝑃</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𝑄</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𝑖𝑗</m:t>
                          </m:r>
                        </m:sub>
                      </m:sSub>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𝜎</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p>
                      </m:sSubSup>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𝜎</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a:effectLst/>
                              <a:latin typeface="Cambria Math" panose="02040503050406030204" pitchFamily="18" charset="0"/>
                              <a:ea typeface="Calibri" panose="020F0502020204030204" pitchFamily="34" charset="0"/>
                              <a:cs typeface="Calibri Light" panose="020F0302020204030204" pitchFamily="34" charset="0"/>
                            </a:rPr>
                            <m:t>∑</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 </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𝑞</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𝜎</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p>
                      </m:sSubSup>
                    </m:oMath>
                  </m:oMathPara>
                </a14:m>
                <a:endParaRPr lang="en-US" sz="2800" dirty="0">
                  <a:effectLst/>
                  <a:latin typeface="Calibri" panose="020F0502020204030204" pitchFamily="34" charset="0"/>
                  <a:ea typeface="Calibri" panose="020F0502020204030204" pitchFamily="34" charset="0"/>
                </a:endParaRPr>
              </a:p>
              <a:p>
                <a:r>
                  <a:rPr lang="en-US" sz="1800" dirty="0">
                    <a:effectLst/>
                    <a:latin typeface="Calibri Light" panose="020F0302020204030204" pitchFamily="34" charset="0"/>
                    <a:ea typeface="Calibri" panose="020F0502020204030204" pitchFamily="34" charset="0"/>
                  </a:rPr>
                  <a:t> </a:t>
                </a:r>
                <a:endParaRPr lang="en-US" sz="2800" dirty="0">
                  <a:effectLst/>
                  <a:latin typeface="Calibri" panose="020F0502020204030204" pitchFamily="34" charset="0"/>
                  <a:ea typeface="Calibri" panose="020F0502020204030204" pitchFamily="34" charset="0"/>
                </a:endParaRPr>
              </a:p>
              <a:p>
                <a:r>
                  <a:rPr lang="en-US" sz="1800" dirty="0">
                    <a:effectLst/>
                    <a:latin typeface="Calibri Light" panose="020F0302020204030204" pitchFamily="34" charset="0"/>
                    <a:ea typeface="Calibri" panose="020F0502020204030204" pitchFamily="34" charset="0"/>
                  </a:rPr>
                  <a:t>Evolving the system from t =0 to τ and after evolution measuring it , probabilities </a:t>
                </a:r>
                <a14:m>
                  <m:oMath xmlns:m="http://schemas.openxmlformats.org/officeDocument/2006/math">
                    <m:sSub>
                      <m:sSubPr>
                        <m:ctrlPr>
                          <a:rPr lang="en-US" sz="1800" i="1">
                            <a:effectLst/>
                            <a:latin typeface="Cambria Math" panose="02040503050406030204" pitchFamily="18"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𝑎</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d>
                      <m:dPr>
                        <m:ctrlPr>
                          <a:rPr lang="en-US" sz="1800" i="1">
                            <a:effectLst/>
                            <a:latin typeface="Cambria Math" panose="02040503050406030204" pitchFamily="18" charset="0"/>
                            <a:cs typeface="Calibri Light" panose="020F0302020204030204" pitchFamily="34" charset="0"/>
                          </a:rPr>
                        </m:ctrlPr>
                      </m:dPr>
                      <m:e>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e>
                    </m:d>
                    <m:r>
                      <a:rPr lang="en-US" sz="1800" i="1">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baseline="30000" dirty="0">
                    <a:effectLst/>
                    <a:latin typeface="Calibri Light" panose="020F0302020204030204" pitchFamily="34" charset="0"/>
                    <a:ea typeface="Calibri" panose="020F0502020204030204" pitchFamily="34" charset="0"/>
                  </a:rPr>
                  <a:t>2</a:t>
                </a:r>
                <a:r>
                  <a:rPr lang="en-US" sz="1800" dirty="0">
                    <a:effectLst/>
                    <a:latin typeface="Calibri Light" panose="020F0302020204030204" pitchFamily="34" charset="0"/>
                    <a:ea typeface="Calibri" panose="020F0502020204030204" pitchFamily="34" charset="0"/>
                  </a:rPr>
                  <a:t>  of obtain </a:t>
                </a:r>
                <a14:m>
                  <m:oMath xmlns:m="http://schemas.openxmlformats.org/officeDocument/2006/math">
                    <m:d>
                      <m:dPr>
                        <m:begChr m:val="|"/>
                        <m:endChr m:val="⟩"/>
                        <m:ctrlPr>
                          <a:rPr lang="en-US" sz="1800" i="1">
                            <a:effectLst/>
                            <a:latin typeface="Cambria Math" panose="02040503050406030204" pitchFamily="18" charset="0"/>
                            <a:cs typeface="Calibri Light" panose="020F0302020204030204" pitchFamily="34" charset="0"/>
                          </a:rPr>
                        </m:ctrlPr>
                      </m:dPr>
                      <m:e>
                        <m:sSub>
                          <m:sSubPr>
                            <m:ctrlPr>
                              <a:rPr lang="en-US" sz="1800" i="1">
                                <a:effectLst/>
                                <a:latin typeface="Cambria Math" panose="02040503050406030204" pitchFamily="18" charset="0"/>
                                <a:cs typeface="Calibri Light" panose="020F0302020204030204" pitchFamily="34" charset="0"/>
                              </a:rPr>
                            </m:ctrlPr>
                          </m:sSubPr>
                          <m:e>
                            <m:r>
                              <a:rPr lang="en-US" sz="1800" b="1" i="1">
                                <a:effectLst/>
                                <a:latin typeface="Cambria Math" panose="02040503050406030204" pitchFamily="18" charset="0"/>
                                <a:ea typeface="Calibri" panose="020F0502020204030204" pitchFamily="34" charset="0"/>
                                <a:cs typeface="Calibri Light" panose="020F0302020204030204" pitchFamily="34" charset="0"/>
                              </a:rPr>
                              <m:t>𝝍</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e>
                    </m:d>
                  </m:oMath>
                </a14:m>
                <a:r>
                  <a:rPr lang="en-US" sz="1800" dirty="0">
                    <a:effectLst/>
                    <a:latin typeface="Calibri Light" panose="020F0302020204030204" pitchFamily="34" charset="0"/>
                    <a:ea typeface="Calibri" panose="020F0502020204030204" pitchFamily="34" charset="0"/>
                  </a:rPr>
                  <a:t> will be </a:t>
                </a:r>
                <a:r>
                  <a:rPr lang="en-US" sz="1800" dirty="0" err="1">
                    <a:effectLst/>
                    <a:latin typeface="Calibri Light" panose="020F0302020204030204" pitchFamily="34" charset="0"/>
                    <a:ea typeface="Calibri" panose="020F0502020204030204" pitchFamily="34" charset="0"/>
                  </a:rPr>
                  <a:t>finded</a:t>
                </a:r>
                <a:r>
                  <a:rPr lang="en-US" sz="1800" dirty="0">
                    <a:effectLst/>
                    <a:latin typeface="Calibri Light" panose="020F0302020204030204" pitchFamily="34" charset="0"/>
                    <a:ea typeface="Calibri" panose="020F0502020204030204" pitchFamily="34" charset="0"/>
                  </a:rPr>
                  <a:t>. </a:t>
                </a:r>
                <a:endParaRPr lang="en-US" dirty="0"/>
              </a:p>
            </p:txBody>
          </p:sp>
        </mc:Choice>
        <mc:Fallback xmlns="">
          <p:sp>
            <p:nvSpPr>
              <p:cNvPr id="11" name="CasellaDiTesto 10">
                <a:extLst>
                  <a:ext uri="{FF2B5EF4-FFF2-40B4-BE49-F238E27FC236}">
                    <a16:creationId xmlns:a16="http://schemas.microsoft.com/office/drawing/2014/main" id="{B7A98977-92B6-4236-873E-C6DFEDE08AF6}"/>
                  </a:ext>
                </a:extLst>
              </p:cNvPr>
              <p:cNvSpPr txBox="1">
                <a:spLocks noRot="1" noChangeAspect="1" noMove="1" noResize="1" noEditPoints="1" noAdjustHandles="1" noChangeArrowheads="1" noChangeShapeType="1" noTextEdit="1"/>
              </p:cNvSpPr>
              <p:nvPr/>
            </p:nvSpPr>
            <p:spPr>
              <a:xfrm>
                <a:off x="318583" y="1188217"/>
                <a:ext cx="7428695" cy="3953646"/>
              </a:xfrm>
              <a:prstGeom prst="rect">
                <a:avLst/>
              </a:prstGeom>
              <a:blipFill>
                <a:blip r:embed="rId4"/>
                <a:stretch>
                  <a:fillRect l="-656" t="-926" b="-1698"/>
                </a:stretch>
              </a:blipFill>
            </p:spPr>
            <p:txBody>
              <a:bodyPr/>
              <a:lstStyle/>
              <a:p>
                <a:r>
                  <a:rPr lang="en-US">
                    <a:noFill/>
                  </a:rPr>
                  <a:t> </a:t>
                </a:r>
              </a:p>
            </p:txBody>
          </p:sp>
        </mc:Fallback>
      </mc:AlternateContent>
    </p:spTree>
    <p:extLst>
      <p:ext uri="{BB962C8B-B14F-4D97-AF65-F5344CB8AC3E}">
        <p14:creationId xmlns:p14="http://schemas.microsoft.com/office/powerpoint/2010/main" val="20737789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B6D377CB-C49C-47D0-8787-F38B6F70C051}"/>
              </a:ext>
            </a:extLst>
          </p:cNvPr>
          <p:cNvSpPr txBox="1"/>
          <p:nvPr/>
        </p:nvSpPr>
        <p:spPr>
          <a:xfrm>
            <a:off x="643909" y="327052"/>
            <a:ext cx="8412299" cy="769441"/>
          </a:xfrm>
          <a:prstGeom prst="rect">
            <a:avLst/>
          </a:prstGeom>
          <a:noFill/>
        </p:spPr>
        <p:txBody>
          <a:bodyPr wrap="square" rtlCol="0">
            <a:spAutoFit/>
          </a:bodyPr>
          <a:lstStyle/>
          <a:p>
            <a:r>
              <a:rPr lang="it-IT" sz="4400" dirty="0" err="1">
                <a:solidFill>
                  <a:schemeClr val="accent1">
                    <a:lumMod val="50000"/>
                  </a:schemeClr>
                </a:solidFill>
                <a:latin typeface="+mj-lt"/>
              </a:rPr>
              <a:t>Problem</a:t>
            </a:r>
            <a:r>
              <a:rPr lang="it-IT" sz="4400" dirty="0">
                <a:solidFill>
                  <a:schemeClr val="accent1">
                    <a:lumMod val="50000"/>
                  </a:schemeClr>
                </a:solidFill>
                <a:latin typeface="+mj-lt"/>
              </a:rPr>
              <a:t> solving via </a:t>
            </a:r>
            <a:r>
              <a:rPr lang="it-IT" sz="4400" dirty="0" err="1">
                <a:solidFill>
                  <a:schemeClr val="accent1">
                    <a:lumMod val="50000"/>
                  </a:schemeClr>
                </a:solidFill>
                <a:latin typeface="+mj-lt"/>
              </a:rPr>
              <a:t>Hopfield</a:t>
            </a:r>
            <a:r>
              <a:rPr lang="it-IT" sz="4400" dirty="0">
                <a:solidFill>
                  <a:schemeClr val="accent1">
                    <a:lumMod val="50000"/>
                  </a:schemeClr>
                </a:solidFill>
                <a:latin typeface="+mj-lt"/>
              </a:rPr>
              <a:t> -4</a:t>
            </a:r>
            <a:endParaRPr lang="en-US" sz="4400" dirty="0">
              <a:solidFill>
                <a:schemeClr val="accent1">
                  <a:lumMod val="50000"/>
                </a:schemeClr>
              </a:solidFill>
              <a:latin typeface="+mj-lt"/>
            </a:endParaRPr>
          </a:p>
        </p:txBody>
      </p:sp>
      <p:pic>
        <p:nvPicPr>
          <p:cNvPr id="5" name="Immagine 4">
            <a:extLst>
              <a:ext uri="{FF2B5EF4-FFF2-40B4-BE49-F238E27FC236}">
                <a16:creationId xmlns:a16="http://schemas.microsoft.com/office/drawing/2014/main" id="{009A1825-434D-40C8-B747-12CA55B7904F}"/>
              </a:ext>
            </a:extLst>
          </p:cNvPr>
          <p:cNvPicPr>
            <a:picLocks noChangeAspect="1"/>
          </p:cNvPicPr>
          <p:nvPr/>
        </p:nvPicPr>
        <p:blipFill rotWithShape="1">
          <a:blip r:embed="rId2"/>
          <a:srcRect b="18010"/>
          <a:stretch/>
        </p:blipFill>
        <p:spPr bwMode="auto">
          <a:xfrm>
            <a:off x="360364" y="2099663"/>
            <a:ext cx="5445338" cy="3041504"/>
          </a:xfrm>
          <a:prstGeom prst="rect">
            <a:avLst/>
          </a:prstGeom>
          <a:ln>
            <a:noFill/>
          </a:ln>
          <a:extLst>
            <a:ext uri="{53640926-AAD7-44D8-BBD7-CCE9431645EC}">
              <a14:shadowObscured xmlns:a14="http://schemas.microsoft.com/office/drawing/2010/main"/>
            </a:ext>
          </a:extLst>
        </p:spPr>
      </p:pic>
      <p:pic>
        <p:nvPicPr>
          <p:cNvPr id="1026" name="Picture 2">
            <a:extLst>
              <a:ext uri="{FF2B5EF4-FFF2-40B4-BE49-F238E27FC236}">
                <a16:creationId xmlns:a16="http://schemas.microsoft.com/office/drawing/2014/main" id="{298C68D5-A3BF-4C8B-A18A-3E49C9E68E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0220" y="2099663"/>
            <a:ext cx="4002300" cy="3197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54961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66002DF0-1586-4668-A962-3FEBDABFEE2A}"/>
              </a:ext>
            </a:extLst>
          </p:cNvPr>
          <p:cNvSpPr txBox="1"/>
          <p:nvPr/>
        </p:nvSpPr>
        <p:spPr>
          <a:xfrm>
            <a:off x="3804654" y="521098"/>
            <a:ext cx="5928851" cy="769441"/>
          </a:xfrm>
          <a:prstGeom prst="rect">
            <a:avLst/>
          </a:prstGeom>
          <a:noFill/>
        </p:spPr>
        <p:txBody>
          <a:bodyPr wrap="square" rtlCol="0">
            <a:spAutoFit/>
          </a:bodyPr>
          <a:lstStyle/>
          <a:p>
            <a:r>
              <a:rPr lang="it-IT" sz="4400" dirty="0">
                <a:solidFill>
                  <a:schemeClr val="accent1">
                    <a:lumMod val="50000"/>
                  </a:schemeClr>
                </a:solidFill>
                <a:latin typeface="+mj-lt"/>
              </a:rPr>
              <a:t>Grover </a:t>
            </a:r>
            <a:r>
              <a:rPr lang="it-IT" sz="4400" dirty="0" err="1">
                <a:solidFill>
                  <a:schemeClr val="accent1">
                    <a:lumMod val="50000"/>
                  </a:schemeClr>
                </a:solidFill>
                <a:latin typeface="+mj-lt"/>
              </a:rPr>
              <a:t>Parallelism</a:t>
            </a:r>
            <a:r>
              <a:rPr lang="it-IT" sz="4400" dirty="0">
                <a:solidFill>
                  <a:schemeClr val="accent1">
                    <a:lumMod val="50000"/>
                  </a:schemeClr>
                </a:solidFill>
                <a:latin typeface="+mj-lt"/>
              </a:rPr>
              <a:t> -1</a:t>
            </a:r>
            <a:endParaRPr lang="en-US" sz="4400" dirty="0">
              <a:solidFill>
                <a:schemeClr val="accent1">
                  <a:lumMod val="50000"/>
                </a:schemeClr>
              </a:solidFill>
              <a:latin typeface="+mj-lt"/>
            </a:endParaRPr>
          </a:p>
        </p:txBody>
      </p:sp>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2730B722-6FE9-49F0-AD50-8B4A05D5E4C4}"/>
                  </a:ext>
                </a:extLst>
              </p:cNvPr>
              <p:cNvSpPr txBox="1"/>
              <p:nvPr/>
            </p:nvSpPr>
            <p:spPr>
              <a:xfrm>
                <a:off x="363894" y="1290539"/>
                <a:ext cx="6881520" cy="3303148"/>
              </a:xfrm>
              <a:prstGeom prst="rect">
                <a:avLst/>
              </a:prstGeom>
              <a:noFill/>
            </p:spPr>
            <p:txBody>
              <a:bodyPr wrap="square">
                <a:spAutoFit/>
              </a:bodyPr>
              <a:lstStyle/>
              <a:p>
                <a:r>
                  <a:rPr lang="en-US" sz="1800" dirty="0">
                    <a:effectLst/>
                    <a:latin typeface="Calibri Light" panose="020F0302020204030204" pitchFamily="34" charset="0"/>
                    <a:ea typeface="Calibri" panose="020F0502020204030204" pitchFamily="34" charset="0"/>
                  </a:rPr>
                  <a:t>Hamiltonian is defined by</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𝑀</m:t>
                              </m:r>
                            </m:sub>
                          </m:sSub>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sz="2800" dirty="0">
                  <a:effectLst/>
                  <a:latin typeface="Calibri" panose="020F0502020204030204" pitchFamily="34" charset="0"/>
                  <a:ea typeface="Calibri" panose="020F0502020204030204" pitchFamily="34" charset="0"/>
                </a:endParaRPr>
              </a:p>
              <a:p>
                <a:pPr>
                  <a:spcAft>
                    <a:spcPts val="1200"/>
                  </a:spcAft>
                </a:pPr>
                <a:r>
                  <a:rPr lang="en-US" sz="1800" dirty="0">
                    <a:effectLst/>
                    <a:latin typeface="Calibri Light" panose="020F0302020204030204" pitchFamily="34" charset="0"/>
                    <a:ea typeface="Calibri" panose="020F0502020204030204" pitchFamily="34" charset="0"/>
                  </a:rPr>
                  <a:t>where each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𝑎</m:t>
                            </m:r>
                          </m:sub>
                        </m:sSub>
                      </m:sub>
                    </m:sSub>
                  </m:oMath>
                </a14:m>
                <a:r>
                  <a:rPr lang="en-US" sz="1800" dirty="0">
                    <a:effectLst/>
                    <a:latin typeface="Calibri Light" panose="020F0302020204030204" pitchFamily="34" charset="0"/>
                    <a:ea typeface="Calibri" panose="020F0502020204030204" pitchFamily="34" charset="0"/>
                  </a:rPr>
                  <a:t> depends only on clause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𝑎</m:t>
                        </m:r>
                      </m:sub>
                    </m:sSub>
                  </m:oMath>
                </a14:m>
                <a:r>
                  <a:rPr lang="en-US" sz="1800" dirty="0">
                    <a:effectLst/>
                    <a:latin typeface="Calibri Light" panose="020F0302020204030204" pitchFamily="34" charset="0"/>
                    <a:ea typeface="Calibri" panose="020F0502020204030204" pitchFamily="34" charset="0"/>
                  </a:rPr>
                  <a:t> and acts only on the bits in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𝑎</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smtClean="0">
                        <a:effectLst/>
                        <a:latin typeface="Cambria Math" panose="02040503050406030204" pitchFamily="18" charset="0"/>
                        <a:ea typeface="Calibri" panose="020F0502020204030204" pitchFamily="34" charset="0"/>
                        <a:cs typeface="Calibri Light" panose="020F0302020204030204" pitchFamily="34" charset="0"/>
                      </a:rPr>
                      <m:t> </m:t>
                    </m:r>
                  </m:oMath>
                </a14:m>
                <a:endParaRPr lang="en-US" sz="1800" dirty="0">
                  <a:effectLst/>
                  <a:latin typeface="Calibri Light" panose="020F0302020204030204" pitchFamily="34" charset="0"/>
                  <a:ea typeface="Calibri" panose="020F0502020204030204" pitchFamily="34" charset="0"/>
                </a:endParaRPr>
              </a:p>
              <a:p>
                <a:pPr>
                  <a:spcAft>
                    <a:spcPts val="1200"/>
                  </a:spcAft>
                </a:pPr>
                <a:r>
                  <a:rPr lang="en-US" sz="1800" dirty="0">
                    <a:effectLst/>
                    <a:latin typeface="Calibri Light" panose="020F0302020204030204" pitchFamily="34" charset="0"/>
                    <a:ea typeface="Calibri" panose="020F0502020204030204" pitchFamily="34" charset="0"/>
                  </a:rPr>
                  <a:t>Clause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oMath>
                </a14:m>
                <a:r>
                  <a:rPr lang="en-US" sz="1800" dirty="0">
                    <a:effectLst/>
                    <a:latin typeface="Calibri Light" panose="020F0302020204030204" pitchFamily="34" charset="0"/>
                    <a:ea typeface="Calibri" panose="020F0502020204030204" pitchFamily="34" charset="0"/>
                  </a:rPr>
                  <a:t> is associated with the 3 bits labeled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oMath>
                </a14:m>
                <a:r>
                  <a:rPr lang="en-US" sz="1800" dirty="0">
                    <a:effectLst/>
                    <a:latin typeface="Calibri Light" panose="020F0302020204030204" pitchFamily="34" charset="0"/>
                    <a:ea typeface="Calibri" panose="020F0502020204030204" pitchFamily="34" charset="0"/>
                  </a:rPr>
                  <a:t>, and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𝑘</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rPr>
                  <a:t> For each clause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oMath>
                </a14:m>
                <a:r>
                  <a:rPr lang="en-US" sz="1800" dirty="0">
                    <a:effectLst/>
                    <a:latin typeface="Calibri Light" panose="020F0302020204030204" pitchFamily="34" charset="0"/>
                    <a:ea typeface="Calibri" panose="020F0502020204030204" pitchFamily="34" charset="0"/>
                  </a:rPr>
                  <a:t> they define an energy function</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h</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𝑘</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sub>
                          </m:sSub>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m>
                            <m:mPr>
                              <m:plcHide m:val="on"/>
                              <m:mcs>
                                <m:mc>
                                  <m:mcPr>
                                    <m:count m:val="2"/>
                                    <m:mcJc m:val="center"/>
                                  </m:mcPr>
                                </m:mc>
                              </m:mcs>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mPr>
                            <m:mr>
                              <m:e>
                                <m:r>
                                  <a:rPr lang="en-US" sz="1800">
                                    <a:effectLst/>
                                    <a:latin typeface="Cambria Math" panose="02040503050406030204" pitchFamily="18" charset="0"/>
                                    <a:ea typeface="Calibri" panose="020F0502020204030204" pitchFamily="34" charset="0"/>
                                    <a:cs typeface="Calibri Light" panose="020F0302020204030204" pitchFamily="34" charset="0"/>
                                  </a:rPr>
                                  <m:t>0,</m:t>
                                </m:r>
                              </m:e>
                              <m:e>
                                <m:r>
                                  <m:rPr>
                                    <m:nor/>
                                  </m:rPr>
                                  <a:rPr lang="en-US" sz="1800" i="1">
                                    <a:effectLst/>
                                    <a:latin typeface="Calibri Light" panose="020F0302020204030204" pitchFamily="34" charset="0"/>
                                    <a:ea typeface="Calibri" panose="020F0502020204030204" pitchFamily="34" charset="0"/>
                                  </a:rPr>
                                  <m:t> </m:t>
                                </m:r>
                                <m:r>
                                  <m:rPr>
                                    <m:nor/>
                                  </m:rPr>
                                  <a:rPr lang="en-US" sz="1800">
                                    <a:effectLst/>
                                    <a:latin typeface="Calibri Light" panose="020F0302020204030204" pitchFamily="34" charset="0"/>
                                    <a:ea typeface="Calibri" panose="020F0502020204030204" pitchFamily="34" charset="0"/>
                                  </a:rPr>
                                  <m:t>if</m:t>
                                </m:r>
                                <m:r>
                                  <m:rPr>
                                    <m:nor/>
                                  </m:rPr>
                                  <a:rPr lang="en-US" sz="1800" i="1">
                                    <a:effectLst/>
                                    <a:latin typeface="Calibri Light" panose="020F0302020204030204" pitchFamily="34" charset="0"/>
                                    <a:ea typeface="Calibri" panose="020F0502020204030204" pitchFamily="34" charset="0"/>
                                  </a:rPr>
                                  <m:t> </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𝑘</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sub>
                                    </m:sSub>
                                  </m:e>
                                </m:d>
                                <m:r>
                                  <m:rPr>
                                    <m:nor/>
                                  </m:rPr>
                                  <a:rPr lang="en-US" sz="1800" i="1">
                                    <a:effectLst/>
                                    <a:latin typeface="Calibri Light" panose="020F0302020204030204" pitchFamily="34" charset="0"/>
                                    <a:ea typeface="Calibri" panose="020F0502020204030204" pitchFamily="34" charset="0"/>
                                  </a:rPr>
                                  <m:t> </m:t>
                                </m:r>
                                <m:r>
                                  <m:rPr>
                                    <m:nor/>
                                  </m:rPr>
                                  <a:rPr lang="en-US" sz="1800">
                                    <a:effectLst/>
                                    <a:latin typeface="Calibri Light" panose="020F0302020204030204" pitchFamily="34" charset="0"/>
                                    <a:ea typeface="Calibri" panose="020F0502020204030204" pitchFamily="34" charset="0"/>
                                  </a:rPr>
                                  <m:t>satisfies</m:t>
                                </m:r>
                                <m:r>
                                  <m:rPr>
                                    <m:nor/>
                                  </m:rPr>
                                  <a:rPr lang="en-US" sz="1800">
                                    <a:effectLst/>
                                    <a:latin typeface="Calibri Light" panose="020F0302020204030204" pitchFamily="34" charset="0"/>
                                    <a:ea typeface="Calibri" panose="020F0502020204030204" pitchFamily="34" charset="0"/>
                                  </a:rPr>
                                  <m:t> </m:t>
                                </m:r>
                                <m:r>
                                  <m:rPr>
                                    <m:nor/>
                                  </m:rPr>
                                  <a:rPr lang="en-US" sz="1800">
                                    <a:effectLst/>
                                    <a:latin typeface="Calibri Light" panose="020F0302020204030204" pitchFamily="34" charset="0"/>
                                    <a:ea typeface="Calibri" panose="020F0502020204030204" pitchFamily="34" charset="0"/>
                                  </a:rPr>
                                  <m:t>clause</m:t>
                                </m:r>
                                <m:r>
                                  <m:rPr>
                                    <m:nor/>
                                  </m:rPr>
                                  <a:rPr lang="en-US" sz="1800" i="1">
                                    <a:effectLst/>
                                    <a:latin typeface="Calibri Light" panose="020F0302020204030204" pitchFamily="34" charset="0"/>
                                    <a:ea typeface="Calibri" panose="020F0502020204030204" pitchFamily="34" charset="0"/>
                                  </a:rPr>
                                  <m:t> </m:t>
                                </m:r>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e>
                            </m:mr>
                            <m:mr>
                              <m:e>
                                <m:r>
                                  <a:rPr lang="en-US" sz="1800">
                                    <a:effectLst/>
                                    <a:latin typeface="Cambria Math" panose="02040503050406030204" pitchFamily="18" charset="0"/>
                                    <a:ea typeface="Calibri" panose="020F0502020204030204" pitchFamily="34" charset="0"/>
                                    <a:cs typeface="Calibri Light" panose="020F0302020204030204" pitchFamily="34" charset="0"/>
                                  </a:rPr>
                                  <m:t>1,</m:t>
                                </m:r>
                              </m:e>
                              <m:e>
                                <m:r>
                                  <m:rPr>
                                    <m:nor/>
                                  </m:rPr>
                                  <a:rPr lang="en-US" sz="1800" i="1">
                                    <a:effectLst/>
                                    <a:latin typeface="Calibri Light" panose="020F0302020204030204" pitchFamily="34" charset="0"/>
                                    <a:ea typeface="Calibri" panose="020F0502020204030204" pitchFamily="34" charset="0"/>
                                  </a:rPr>
                                  <m:t> </m:t>
                                </m:r>
                                <m:r>
                                  <m:rPr>
                                    <m:nor/>
                                  </m:rPr>
                                  <a:rPr lang="en-US" sz="1800">
                                    <a:effectLst/>
                                    <a:latin typeface="Calibri Light" panose="020F0302020204030204" pitchFamily="34" charset="0"/>
                                    <a:ea typeface="Calibri" panose="020F0502020204030204" pitchFamily="34" charset="0"/>
                                  </a:rPr>
                                  <m:t>if</m:t>
                                </m:r>
                                <m:r>
                                  <m:rPr>
                                    <m:nor/>
                                  </m:rPr>
                                  <a:rPr lang="en-US" sz="1800" i="1">
                                    <a:effectLst/>
                                    <a:latin typeface="Calibri Light" panose="020F0302020204030204" pitchFamily="34" charset="0"/>
                                    <a:ea typeface="Calibri" panose="020F0502020204030204" pitchFamily="34" charset="0"/>
                                  </a:rPr>
                                  <m:t> </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𝑘</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sub>
                                    </m:sSub>
                                  </m:e>
                                </m:d>
                                <m:r>
                                  <m:rPr>
                                    <m:nor/>
                                  </m:rPr>
                                  <a:rPr lang="en-US" sz="1800" i="1">
                                    <a:effectLst/>
                                    <a:latin typeface="Calibri Light" panose="020F0302020204030204" pitchFamily="34" charset="0"/>
                                    <a:ea typeface="Calibri" panose="020F0502020204030204" pitchFamily="34" charset="0"/>
                                  </a:rPr>
                                  <m:t> </m:t>
                                </m:r>
                                <m:r>
                                  <m:rPr>
                                    <m:nor/>
                                  </m:rPr>
                                  <a:rPr lang="en-US" sz="1800">
                                    <a:effectLst/>
                                    <a:latin typeface="Calibri Light" panose="020F0302020204030204" pitchFamily="34" charset="0"/>
                                    <a:ea typeface="Calibri" panose="020F0502020204030204" pitchFamily="34" charset="0"/>
                                  </a:rPr>
                                  <m:t>violates</m:t>
                                </m:r>
                                <m:r>
                                  <m:rPr>
                                    <m:nor/>
                                  </m:rPr>
                                  <a:rPr lang="en-US" sz="1800">
                                    <a:effectLst/>
                                    <a:latin typeface="Calibri Light" panose="020F0302020204030204" pitchFamily="34" charset="0"/>
                                    <a:ea typeface="Calibri" panose="020F0502020204030204" pitchFamily="34" charset="0"/>
                                  </a:rPr>
                                  <m:t> </m:t>
                                </m:r>
                                <m:r>
                                  <m:rPr>
                                    <m:nor/>
                                  </m:rPr>
                                  <a:rPr lang="en-US" sz="1800">
                                    <a:effectLst/>
                                    <a:latin typeface="Calibri Light" panose="020F0302020204030204" pitchFamily="34" charset="0"/>
                                    <a:ea typeface="Calibri" panose="020F0502020204030204" pitchFamily="34" charset="0"/>
                                  </a:rPr>
                                  <m:t>clause</m:t>
                                </m:r>
                                <m:r>
                                  <m:rPr>
                                    <m:nor/>
                                  </m:rPr>
                                  <a:rPr lang="en-US" sz="1800" i="1">
                                    <a:effectLst/>
                                    <a:latin typeface="Calibri Light" panose="020F0302020204030204" pitchFamily="34" charset="0"/>
                                    <a:ea typeface="Calibri" panose="020F0502020204030204" pitchFamily="34" charset="0"/>
                                  </a:rPr>
                                  <m:t> </m:t>
                                </m:r>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r>
                                  <a:rPr lang="en-US" sz="1800">
                                    <a:effectLst/>
                                    <a:latin typeface="Cambria Math" panose="02040503050406030204" pitchFamily="18" charset="0"/>
                                    <a:ea typeface="Calibri" panose="020F0502020204030204" pitchFamily="34" charset="0"/>
                                    <a:cs typeface="Calibri Light" panose="020F0302020204030204" pitchFamily="34" charset="0"/>
                                  </a:rPr>
                                  <m:t>.</m:t>
                                </m:r>
                              </m:e>
                            </m:mr>
                          </m:m>
                        </m:e>
                      </m:d>
                    </m:oMath>
                  </m:oMathPara>
                </a14:m>
                <a:endParaRPr lang="en-US" sz="2800" dirty="0">
                  <a:effectLst/>
                  <a:latin typeface="Calibri" panose="020F0502020204030204" pitchFamily="34" charset="0"/>
                  <a:ea typeface="Calibri" panose="020F0502020204030204" pitchFamily="34" charset="0"/>
                </a:endParaRPr>
              </a:p>
            </p:txBody>
          </p:sp>
        </mc:Choice>
        <mc:Fallback xmlns="">
          <p:sp>
            <p:nvSpPr>
              <p:cNvPr id="6" name="CasellaDiTesto 5">
                <a:extLst>
                  <a:ext uri="{FF2B5EF4-FFF2-40B4-BE49-F238E27FC236}">
                    <a16:creationId xmlns:a16="http://schemas.microsoft.com/office/drawing/2014/main" id="{2730B722-6FE9-49F0-AD50-8B4A05D5E4C4}"/>
                  </a:ext>
                </a:extLst>
              </p:cNvPr>
              <p:cNvSpPr txBox="1">
                <a:spLocks noRot="1" noChangeAspect="1" noMove="1" noResize="1" noEditPoints="1" noAdjustHandles="1" noChangeArrowheads="1" noChangeShapeType="1" noTextEdit="1"/>
              </p:cNvSpPr>
              <p:nvPr/>
            </p:nvSpPr>
            <p:spPr>
              <a:xfrm>
                <a:off x="363894" y="1290539"/>
                <a:ext cx="6881520" cy="3303148"/>
              </a:xfrm>
              <a:prstGeom prst="rect">
                <a:avLst/>
              </a:prstGeom>
              <a:blipFill>
                <a:blip r:embed="rId2"/>
                <a:stretch>
                  <a:fillRect l="-797" t="-1107"/>
                </a:stretch>
              </a:blipFill>
            </p:spPr>
            <p:txBody>
              <a:bodyPr/>
              <a:lstStyle/>
              <a:p>
                <a:r>
                  <a:rPr lang="en-US">
                    <a:noFill/>
                  </a:rPr>
                  <a:t> </a:t>
                </a:r>
              </a:p>
            </p:txBody>
          </p:sp>
        </mc:Fallback>
      </mc:AlternateContent>
      <p:pic>
        <p:nvPicPr>
          <p:cNvPr id="3074" name="Picture 2" descr="PDF) A Quantum Adiabatic Evolution Algorithm Applied to Random Instances of  an NP-Complete Problem">
            <a:extLst>
              <a:ext uri="{FF2B5EF4-FFF2-40B4-BE49-F238E27FC236}">
                <a16:creationId xmlns:a16="http://schemas.microsoft.com/office/drawing/2014/main" id="{8146943C-8F12-4F33-BCE6-130F2522B96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 r="-2208" b="56871"/>
          <a:stretch/>
        </p:blipFill>
        <p:spPr bwMode="auto">
          <a:xfrm>
            <a:off x="7453654" y="1623527"/>
            <a:ext cx="4540898" cy="247983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EE62DEBE-A7D3-4C59-86B9-02643A624848}"/>
                  </a:ext>
                </a:extLst>
              </p:cNvPr>
              <p:cNvSpPr txBox="1"/>
              <p:nvPr/>
            </p:nvSpPr>
            <p:spPr>
              <a:xfrm>
                <a:off x="136046" y="4593687"/>
                <a:ext cx="11919907" cy="1935915"/>
              </a:xfrm>
              <a:prstGeom prst="rect">
                <a:avLst/>
              </a:prstGeom>
              <a:noFill/>
            </p:spPr>
            <p:txBody>
              <a:bodyPr wrap="square">
                <a:spAutoFit/>
              </a:bodyPr>
              <a:lstStyle/>
              <a:p>
                <a:pPr>
                  <a:spcAft>
                    <a:spcPts val="1200"/>
                  </a:spcAft>
                </a:pPr>
                <a:r>
                  <a:rPr lang="en-US" sz="1800" dirty="0">
                    <a:effectLst/>
                    <a:latin typeface="Calibri Light" panose="020F0302020204030204" pitchFamily="34" charset="0"/>
                    <a:ea typeface="Calibri" panose="020F0502020204030204" pitchFamily="34" charset="0"/>
                  </a:rPr>
                  <a:t>They replace the bit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oMath>
                </a14:m>
                <a:r>
                  <a:rPr lang="en-US" sz="1800" dirty="0">
                    <a:effectLst/>
                    <a:latin typeface="Calibri Light" panose="020F0302020204030204" pitchFamily="34" charset="0"/>
                    <a:ea typeface="Calibri" panose="020F0502020204030204" pitchFamily="34" charset="0"/>
                  </a:rPr>
                  <a:t> by a spin- </a:t>
                </a:r>
                <a14:m>
                  <m:oMath xmlns:m="http://schemas.openxmlformats.org/officeDocument/2006/math">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a:effectLst/>
                            <a:latin typeface="Cambria Math" panose="02040503050406030204" pitchFamily="18" charset="0"/>
                            <a:ea typeface="Calibri" panose="020F0502020204030204" pitchFamily="34" charset="0"/>
                            <a:cs typeface="Calibri Light" panose="020F0302020204030204" pitchFamily="34" charset="0"/>
                          </a:rPr>
                          <m:t>2</m:t>
                        </m:r>
                      </m:den>
                    </m:f>
                  </m:oMath>
                </a14:m>
                <a:r>
                  <a:rPr lang="en-US" sz="1800" dirty="0">
                    <a:effectLst/>
                    <a:latin typeface="Calibri Light" panose="020F0302020204030204" pitchFamily="34" charset="0"/>
                    <a:ea typeface="Calibri" panose="020F0502020204030204" pitchFamily="34" charset="0"/>
                  </a:rPr>
                  <a:t> qubit labeled by </a:t>
                </a:r>
                <a14:m>
                  <m:oMath xmlns:m="http://schemas.openxmlformats.org/officeDocument/2006/math">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e>
                    </m:d>
                  </m:oMath>
                </a14:m>
                <a:r>
                  <a:rPr lang="en-US" sz="1800" dirty="0">
                    <a:effectLst/>
                    <a:latin typeface="Calibri Light" panose="020F0302020204030204" pitchFamily="34" charset="0"/>
                    <a:ea typeface="Calibri" panose="020F0502020204030204" pitchFamily="34" charset="0"/>
                  </a:rPr>
                  <a:t> where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=0,1</m:t>
                    </m:r>
                  </m:oMath>
                </a14:m>
                <a:r>
                  <a:rPr lang="en-US" sz="1800" dirty="0">
                    <a:effectLst/>
                    <a:latin typeface="Calibri Light" panose="020F0302020204030204" pitchFamily="34" charset="0"/>
                    <a:ea typeface="Calibri" panose="020F0502020204030204" pitchFamily="34" charset="0"/>
                  </a:rPr>
                  <a:t> and construct base Hamiltonian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P</m:t>
                        </m:r>
                      </m:sub>
                    </m:sSub>
                  </m:oMath>
                </a14:m>
                <a:r>
                  <a:rPr lang="en-US" sz="1800" dirty="0">
                    <a:effectLst/>
                    <a:latin typeface="Calibri Light" panose="020F0302020204030204" pitchFamily="34" charset="0"/>
                    <a:ea typeface="Calibri" panose="020F0502020204030204" pitchFamily="34" charset="0"/>
                  </a:rPr>
                  <a:t> accordingly. they consider an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oMath>
                </a14:m>
                <a:r>
                  <a:rPr lang="en-US" sz="1800" dirty="0">
                    <a:effectLst/>
                    <a:latin typeface="Calibri Light" panose="020F0302020204030204" pitchFamily="34" charset="0"/>
                    <a:ea typeface="Calibri" panose="020F0502020204030204" pitchFamily="34" charset="0"/>
                  </a:rPr>
                  <a:t>-bit Hamiltonian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B</m:t>
                        </m:r>
                      </m:sub>
                    </m:sSub>
                  </m:oMath>
                </a14:m>
                <a:r>
                  <a:rPr lang="en-US" sz="1800" dirty="0">
                    <a:effectLst/>
                    <a:latin typeface="Calibri Light" panose="020F0302020204030204" pitchFamily="34" charset="0"/>
                    <a:ea typeface="Calibri" panose="020F0502020204030204" pitchFamily="34" charset="0"/>
                  </a:rPr>
                  <a:t> that is straightforward to construct but whose ground state is simple to find. Let </a:t>
                </a:r>
                <a14:m>
                  <m:oMath xmlns:m="http://schemas.openxmlformats.org/officeDocument/2006/math">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B</m:t>
                        </m:r>
                      </m:sub>
                      <m: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bSup>
                  </m:oMath>
                </a14:m>
                <a:r>
                  <a:rPr lang="en-US" sz="1800" dirty="0">
                    <a:effectLst/>
                    <a:latin typeface="Calibri Light" panose="020F0302020204030204" pitchFamily="34" charset="0"/>
                    <a:ea typeface="Calibri" panose="020F0502020204030204" pitchFamily="34" charset="0"/>
                  </a:rPr>
                  <a:t> be the 1-bit Hamiltonian acting on the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oMath>
                </a14:m>
                <a:r>
                  <a:rPr lang="en-US" sz="1800" dirty="0">
                    <a:effectLst/>
                    <a:latin typeface="Calibri Light" panose="020F0302020204030204" pitchFamily="34" charset="0"/>
                    <a:ea typeface="Calibri" panose="020F0502020204030204" pitchFamily="34" charset="0"/>
                  </a:rPr>
                  <a:t>-</a:t>
                </a:r>
                <a:r>
                  <a:rPr lang="en-US" sz="1800" dirty="0" err="1">
                    <a:effectLst/>
                    <a:latin typeface="Calibri Light" panose="020F0302020204030204" pitchFamily="34" charset="0"/>
                    <a:ea typeface="Calibri" panose="020F0502020204030204" pitchFamily="34" charset="0"/>
                  </a:rPr>
                  <a:t>th</a:t>
                </a:r>
                <a:r>
                  <a:rPr lang="en-US" sz="1800" dirty="0">
                    <a:effectLst/>
                    <a:latin typeface="Calibri Light" panose="020F0302020204030204" pitchFamily="34" charset="0"/>
                    <a:ea typeface="Calibri" panose="020F0502020204030204" pitchFamily="34" charset="0"/>
                  </a:rPr>
                  <a:t> bit</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B</m:t>
                          </m:r>
                        </m:sub>
                        <m: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a:effectLst/>
                              <a:latin typeface="Cambria Math" panose="02040503050406030204" pitchFamily="18" charset="0"/>
                              <a:ea typeface="Calibri" panose="020F0502020204030204" pitchFamily="34" charset="0"/>
                              <a:cs typeface="Calibri Light" panose="020F0302020204030204" pitchFamily="34" charset="0"/>
                            </a:rPr>
                            <m:t>2</m:t>
                          </m:r>
                        </m:den>
                      </m:f>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r>
                            <a:rPr lang="en-US" sz="1800">
                              <a:effectLst/>
                              <a:latin typeface="Cambria Math" panose="02040503050406030204" pitchFamily="18" charset="0"/>
                              <a:ea typeface="Calibri" panose="020F0502020204030204" pitchFamily="34" charset="0"/>
                              <a:cs typeface="Calibri Light" panose="020F0302020204030204" pitchFamily="34" charset="0"/>
                            </a:rPr>
                            <m:t>1</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𝜎</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sub>
                            <m: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bSup>
                        </m:e>
                      </m:d>
                      <m:box>
                        <m:box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boxPr>
                        <m:e>
                          <m:r>
                            <a:rPr lang="en-US" sz="1800">
                              <a:effectLst/>
                              <a:latin typeface="Cambria Math" panose="02040503050406030204" pitchFamily="18" charset="0"/>
                              <a:ea typeface="Calibri" panose="020F0502020204030204" pitchFamily="34" charset="0"/>
                              <a:cs typeface="Calibri Light" panose="020F0302020204030204" pitchFamily="34" charset="0"/>
                            </a:rPr>
                            <m:t> </m:t>
                          </m:r>
                        </m:e>
                      </m:box>
                      <m:r>
                        <m:rPr>
                          <m:nor/>
                        </m:rPr>
                        <a:rPr lang="en-US" sz="1800" i="1">
                          <a:effectLst/>
                          <a:latin typeface="Calibri Light" panose="020F0302020204030204" pitchFamily="34" charset="0"/>
                          <a:ea typeface="Calibri" panose="020F0502020204030204" pitchFamily="34" charset="0"/>
                        </a:rPr>
                        <m:t> </m:t>
                      </m:r>
                      <m:r>
                        <m:rPr>
                          <m:nor/>
                        </m:rPr>
                        <a:rPr lang="en-US" sz="1800">
                          <a:effectLst/>
                          <a:latin typeface="Calibri Light" panose="020F0302020204030204" pitchFamily="34" charset="0"/>
                          <a:ea typeface="Calibri" panose="020F0502020204030204" pitchFamily="34" charset="0"/>
                        </a:rPr>
                        <m:t>with</m:t>
                      </m:r>
                      <m:r>
                        <m:rPr>
                          <m:nor/>
                        </m:rPr>
                        <a:rPr lang="en-US" sz="1800" i="1">
                          <a:effectLst/>
                          <a:latin typeface="Calibri Light" panose="020F0302020204030204" pitchFamily="34" charset="0"/>
                          <a:ea typeface="Calibri" panose="020F0502020204030204" pitchFamily="34" charset="0"/>
                        </a:rPr>
                        <m:t> </m:t>
                      </m:r>
                      <m:box>
                        <m:box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boxPr>
                        <m:e>
                          <m:r>
                            <a:rPr lang="en-US" sz="1800">
                              <a:effectLst/>
                              <a:latin typeface="Cambria Math" panose="02040503050406030204" pitchFamily="18" charset="0"/>
                              <a:ea typeface="Calibri" panose="020F0502020204030204" pitchFamily="34" charset="0"/>
                              <a:cs typeface="Calibri Light" panose="020F0302020204030204" pitchFamily="34" charset="0"/>
                            </a:rPr>
                            <m:t> </m:t>
                          </m:r>
                        </m:e>
                      </m:box>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𝜎</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sub>
                        <m: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m>
                            <m:mPr>
                              <m:plcHide m:val="on"/>
                              <m:mcs>
                                <m:mc>
                                  <m:mcPr>
                                    <m:count m:val="2"/>
                                    <m:mcJc m:val="center"/>
                                  </m:mcPr>
                                </m:mc>
                              </m:mcs>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mPr>
                            <m:mr>
                              <m:e>
                                <m:r>
                                  <a:rPr lang="en-US" sz="1800">
                                    <a:effectLst/>
                                    <a:latin typeface="Cambria Math" panose="02040503050406030204" pitchFamily="18" charset="0"/>
                                    <a:ea typeface="Calibri" panose="020F0502020204030204" pitchFamily="34" charset="0"/>
                                    <a:cs typeface="Calibri Light" panose="020F0302020204030204" pitchFamily="34" charset="0"/>
                                  </a:rPr>
                                  <m:t>0</m:t>
                                </m:r>
                              </m:e>
                              <m:e>
                                <m:r>
                                  <a:rPr lang="en-US" sz="1800">
                                    <a:effectLst/>
                                    <a:latin typeface="Cambria Math" panose="02040503050406030204" pitchFamily="18" charset="0"/>
                                    <a:ea typeface="Calibri" panose="020F0502020204030204" pitchFamily="34" charset="0"/>
                                    <a:cs typeface="Calibri Light" panose="020F0302020204030204" pitchFamily="34" charset="0"/>
                                  </a:rPr>
                                  <m:t>1</m:t>
                                </m:r>
                              </m:e>
                            </m:mr>
                            <m:mr>
                              <m:e>
                                <m:r>
                                  <a:rPr lang="en-US" sz="1800">
                                    <a:effectLst/>
                                    <a:latin typeface="Cambria Math" panose="02040503050406030204" pitchFamily="18" charset="0"/>
                                    <a:ea typeface="Calibri" panose="020F0502020204030204" pitchFamily="34" charset="0"/>
                                    <a:cs typeface="Calibri Light" panose="020F0302020204030204" pitchFamily="34" charset="0"/>
                                  </a:rPr>
                                  <m:t>1</m:t>
                                </m:r>
                              </m:e>
                              <m:e>
                                <m:r>
                                  <a:rPr lang="en-US" sz="1800">
                                    <a:effectLst/>
                                    <a:latin typeface="Cambria Math" panose="02040503050406030204" pitchFamily="18" charset="0"/>
                                    <a:ea typeface="Calibri" panose="020F0502020204030204" pitchFamily="34" charset="0"/>
                                    <a:cs typeface="Calibri Light" panose="020F0302020204030204" pitchFamily="34" charset="0"/>
                                  </a:rPr>
                                  <m:t>0</m:t>
                                </m:r>
                              </m:e>
                            </m:mr>
                          </m:m>
                        </m:e>
                      </m:d>
                    </m:oMath>
                  </m:oMathPara>
                </a14:m>
                <a:endParaRPr lang="en-US" sz="2800" dirty="0">
                  <a:effectLst/>
                  <a:latin typeface="Calibri" panose="020F0502020204030204" pitchFamily="34" charset="0"/>
                  <a:ea typeface="Calibri" panose="020F0502020204030204" pitchFamily="34" charset="0"/>
                </a:endParaRPr>
              </a:p>
            </p:txBody>
          </p:sp>
        </mc:Choice>
        <mc:Fallback xmlns="">
          <p:sp>
            <p:nvSpPr>
              <p:cNvPr id="7" name="CasellaDiTesto 6">
                <a:extLst>
                  <a:ext uri="{FF2B5EF4-FFF2-40B4-BE49-F238E27FC236}">
                    <a16:creationId xmlns:a16="http://schemas.microsoft.com/office/drawing/2014/main" id="{EE62DEBE-A7D3-4C59-86B9-02643A624848}"/>
                  </a:ext>
                </a:extLst>
              </p:cNvPr>
              <p:cNvSpPr txBox="1">
                <a:spLocks noRot="1" noChangeAspect="1" noMove="1" noResize="1" noEditPoints="1" noAdjustHandles="1" noChangeArrowheads="1" noChangeShapeType="1" noTextEdit="1"/>
              </p:cNvSpPr>
              <p:nvPr/>
            </p:nvSpPr>
            <p:spPr>
              <a:xfrm>
                <a:off x="136046" y="4593687"/>
                <a:ext cx="11919907" cy="1935915"/>
              </a:xfrm>
              <a:prstGeom prst="rect">
                <a:avLst/>
              </a:prstGeom>
              <a:blipFill>
                <a:blip r:embed="rId4"/>
                <a:stretch>
                  <a:fillRect l="-409"/>
                </a:stretch>
              </a:blipFill>
            </p:spPr>
            <p:txBody>
              <a:bodyPr/>
              <a:lstStyle/>
              <a:p>
                <a:r>
                  <a:rPr lang="en-US">
                    <a:noFill/>
                  </a:rPr>
                  <a:t> </a:t>
                </a:r>
              </a:p>
            </p:txBody>
          </p:sp>
        </mc:Fallback>
      </mc:AlternateContent>
    </p:spTree>
    <p:extLst>
      <p:ext uri="{BB962C8B-B14F-4D97-AF65-F5344CB8AC3E}">
        <p14:creationId xmlns:p14="http://schemas.microsoft.com/office/powerpoint/2010/main" val="8901936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49C4B105-4D1F-4AE9-A5C4-841005380FD8}"/>
                  </a:ext>
                </a:extLst>
              </p:cNvPr>
              <p:cNvSpPr txBox="1"/>
              <p:nvPr/>
            </p:nvSpPr>
            <p:spPr>
              <a:xfrm>
                <a:off x="107302" y="1447371"/>
                <a:ext cx="11977396" cy="5044138"/>
              </a:xfrm>
              <a:prstGeom prst="rect">
                <a:avLst/>
              </a:prstGeom>
              <a:noFill/>
            </p:spPr>
            <p:txBody>
              <a:bodyPr wrap="square">
                <a:spAutoFit/>
              </a:bodyPr>
              <a:lstStyle/>
              <a:p>
                <a:pPr>
                  <a:spcAft>
                    <a:spcPts val="1200"/>
                  </a:spcAft>
                </a:pPr>
                <a:r>
                  <a:rPr lang="en-US" sz="1800" dirty="0">
                    <a:effectLst/>
                    <a:latin typeface="Calibri Light" panose="020F0302020204030204" pitchFamily="34" charset="0"/>
                    <a:ea typeface="Calibri" panose="020F0502020204030204" pitchFamily="34" charset="0"/>
                  </a:rPr>
                  <a:t>clause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oMath>
                </a14:m>
                <a:r>
                  <a:rPr lang="en-US" sz="1800" dirty="0">
                    <a:effectLst/>
                    <a:latin typeface="Calibri Light" panose="020F0302020204030204" pitchFamily="34" charset="0"/>
                    <a:ea typeface="Calibri" panose="020F0502020204030204" pitchFamily="34" charset="0"/>
                  </a:rPr>
                  <a:t> is associated with the bits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oMath>
                </a14:m>
                <a:r>
                  <a:rPr lang="en-US" sz="1800" dirty="0">
                    <a:effectLst/>
                    <a:latin typeface="Calibri Light" panose="020F0302020204030204" pitchFamily="34" charset="0"/>
                    <a:ea typeface="Calibri" panose="020F0502020204030204" pitchFamily="34" charset="0"/>
                  </a:rPr>
                  <a:t>, and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𝑘</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oMath>
                </a14:m>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B</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B</m:t>
                          </m:r>
                        </m:sub>
                        <m:sup>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e>
                          </m:d>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B</m:t>
                          </m:r>
                        </m:sub>
                        <m:sup>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e>
                          </m:d>
                        </m:sup>
                      </m:sSubSup>
                      <m:r>
                        <a:rPr lang="en-US" sz="1800">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B</m:t>
                          </m:r>
                        </m:sub>
                        <m:sup>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𝑘</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e>
                          </m:d>
                        </m:sup>
                      </m:sSubSup>
                    </m:oMath>
                  </m:oMathPara>
                </a14:m>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B</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nary>
                        <m:naryPr>
                          <m:chr m:val="∑"/>
                          <m:limLoc m:val="undOvr"/>
                          <m:grow m:val="on"/>
                          <m:supHide m:val="on"/>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naryPr>
                        <m:sub>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up/>
                        <m:e>
                          <m:r>
                            <a:rPr lang="en-US" sz="1800">
                              <a:effectLst/>
                              <a:latin typeface="Cambria Math" panose="02040503050406030204" pitchFamily="18" charset="0"/>
                              <a:ea typeface="Calibri" panose="020F0502020204030204" pitchFamily="34" charset="0"/>
                              <a:cs typeface="Calibri Light" panose="020F0302020204030204" pitchFamily="34" charset="0"/>
                            </a:rPr>
                            <m:t> </m:t>
                          </m:r>
                        </m:e>
                      </m:nary>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B</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𝐶</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sz="2800" dirty="0">
                  <a:effectLst/>
                  <a:latin typeface="Calibri" panose="020F0502020204030204" pitchFamily="34" charset="0"/>
                  <a:ea typeface="Calibri" panose="020F0502020204030204" pitchFamily="34" charset="0"/>
                </a:endParaRPr>
              </a:p>
              <a:p>
                <a:pPr>
                  <a:spcAft>
                    <a:spcPts val="1200"/>
                  </a:spcAft>
                </a:pPr>
                <a:r>
                  <a:rPr lang="en-US" sz="1800" dirty="0">
                    <a:effectLst/>
                    <a:latin typeface="Calibri Light" panose="020F0302020204030204" pitchFamily="34" charset="0"/>
                    <a:ea typeface="Calibri" panose="020F0502020204030204" pitchFamily="34" charset="0"/>
                  </a:rPr>
                  <a:t>The ground state of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B</m:t>
                        </m:r>
                      </m:sub>
                    </m:sSub>
                  </m:oMath>
                </a14:m>
                <a:r>
                  <a:rPr lang="en-US" sz="1800" dirty="0">
                    <a:effectLst/>
                    <a:latin typeface="Calibri Light" panose="020F0302020204030204" pitchFamily="34" charset="0"/>
                    <a:ea typeface="Calibri" panose="020F0502020204030204" pitchFamily="34" charset="0"/>
                  </a:rPr>
                  <a:t> is </a:t>
                </a:r>
                <a14:m>
                  <m:oMath xmlns:m="http://schemas.openxmlformats.org/officeDocument/2006/math">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=0</m:t>
                        </m:r>
                      </m:e>
                    </m:d>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=0</m:t>
                        </m:r>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=0</m:t>
                        </m:r>
                      </m:e>
                    </m:d>
                  </m:oMath>
                </a14:m>
                <a:r>
                  <a:rPr lang="en-US" sz="1800" dirty="0">
                    <a:effectLst/>
                    <a:latin typeface="Calibri Light" panose="020F0302020204030204" pitchFamily="34" charset="0"/>
                    <a:ea typeface="Calibri" panose="020F0502020204030204" pitchFamily="34" charset="0"/>
                  </a:rPr>
                  <a:t>. This state, written in the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oMath>
                </a14:m>
                <a:r>
                  <a:rPr lang="en-US" sz="1800" dirty="0">
                    <a:effectLst/>
                    <a:latin typeface="Calibri Light" panose="020F0302020204030204" pitchFamily="34" charset="0"/>
                    <a:ea typeface="Calibri" panose="020F0502020204030204" pitchFamily="34" charset="0"/>
                  </a:rPr>
                  <a:t> basis, is a superposition of all </a:t>
                </a: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a:effectLst/>
                            <a:latin typeface="Cambria Math" panose="02040503050406030204" pitchFamily="18" charset="0"/>
                            <a:ea typeface="Calibri" panose="020F0502020204030204" pitchFamily="34" charset="0"/>
                            <a:cs typeface="Calibri Light" panose="020F0302020204030204" pitchFamily="34" charset="0"/>
                          </a:rPr>
                          <m:t>2</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sSup>
                  </m:oMath>
                </a14:m>
                <a:r>
                  <a:rPr lang="en-US" sz="1800" dirty="0">
                    <a:effectLst/>
                    <a:latin typeface="Calibri Light" panose="020F0302020204030204" pitchFamily="34" charset="0"/>
                    <a:ea typeface="Calibri" panose="020F0502020204030204" pitchFamily="34" charset="0"/>
                  </a:rPr>
                  <a:t> basis vectors </a:t>
                </a:r>
                <a14:m>
                  <m:oMath xmlns:m="http://schemas.openxmlformats.org/officeDocument/2006/math">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e>
                    </m:d>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b>
                        </m:sSub>
                      </m:e>
                    </m:d>
                  </m:oMath>
                </a14:m>
                <a:r>
                  <a:rPr lang="en-US" sz="1800" dirty="0">
                    <a:effectLst/>
                    <a:latin typeface="Calibri Light" panose="020F0302020204030204" pitchFamily="34" charset="0"/>
                    <a:ea typeface="Calibri" panose="020F0502020204030204" pitchFamily="34" charset="0"/>
                  </a:rPr>
                  <a:t>,</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=0</m:t>
                          </m:r>
                        </m:e>
                      </m:d>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=0</m:t>
                          </m:r>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=0</m:t>
                          </m:r>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sSup>
                            <m:s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pPr>
                            <m:e>
                              <m:r>
                                <a:rPr lang="en-US" sz="1800">
                                  <a:effectLst/>
                                  <a:latin typeface="Cambria Math" panose="02040503050406030204" pitchFamily="18" charset="0"/>
                                  <a:ea typeface="Calibri" panose="020F0502020204030204" pitchFamily="34" charset="0"/>
                                  <a:cs typeface="Calibri Light" panose="020F0302020204030204" pitchFamily="34" charset="0"/>
                                </a:rPr>
                                <m:t>2</m:t>
                              </m:r>
                            </m:e>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r>
                                <a:rPr lang="en-US" sz="1800">
                                  <a:effectLst/>
                                  <a:latin typeface="Cambria Math" panose="02040503050406030204" pitchFamily="18" charset="0"/>
                                  <a:ea typeface="Calibri" panose="020F0502020204030204" pitchFamily="34" charset="0"/>
                                  <a:cs typeface="Calibri Light" panose="020F0302020204030204" pitchFamily="34" charset="0"/>
                                </a:rPr>
                                <m:t>/2</m:t>
                              </m:r>
                            </m:sup>
                          </m:sSup>
                        </m:den>
                      </m:f>
                      <m:nary>
                        <m:naryPr>
                          <m:chr m:val="∑"/>
                          <m:limLoc m:val="undOvr"/>
                          <m:grow m:val="on"/>
                          <m:supHide m:val="on"/>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naryPr>
                        <m: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sub>
                        <m:sup/>
                        <m:e>
                          <m:r>
                            <a:rPr lang="en-US" sz="1800">
                              <a:effectLst/>
                              <a:latin typeface="Cambria Math" panose="02040503050406030204" pitchFamily="18" charset="0"/>
                              <a:ea typeface="Calibri" panose="020F0502020204030204" pitchFamily="34" charset="0"/>
                              <a:cs typeface="Calibri Light" panose="020F0302020204030204" pitchFamily="34" charset="0"/>
                            </a:rPr>
                            <m:t> </m:t>
                          </m:r>
                        </m:e>
                      </m:nary>
                      <m:nary>
                        <m:naryPr>
                          <m:chr m:val="∑"/>
                          <m:limLoc m:val="undOvr"/>
                          <m:grow m:val="on"/>
                          <m:supHide m:val="on"/>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naryPr>
                        <m: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sub>
                        <m:sup/>
                        <m:e>
                          <m:r>
                            <a:rPr lang="en-US" sz="1800">
                              <a:effectLst/>
                              <a:latin typeface="Cambria Math" panose="02040503050406030204" pitchFamily="18" charset="0"/>
                              <a:ea typeface="Calibri" panose="020F0502020204030204" pitchFamily="34" charset="0"/>
                              <a:cs typeface="Calibri Light" panose="020F0302020204030204" pitchFamily="34" charset="0"/>
                            </a:rPr>
                            <m:t> </m:t>
                          </m:r>
                        </m:e>
                      </m:nary>
                      <m:r>
                        <a:rPr lang="en-US" sz="1800">
                          <a:effectLst/>
                          <a:latin typeface="Cambria Math" panose="02040503050406030204" pitchFamily="18" charset="0"/>
                          <a:ea typeface="Calibri" panose="020F0502020204030204" pitchFamily="34" charset="0"/>
                          <a:cs typeface="Calibri Light" panose="020F0302020204030204" pitchFamily="34" charset="0"/>
                        </a:rPr>
                        <m:t>⋯</m:t>
                      </m:r>
                      <m:nary>
                        <m:naryPr>
                          <m:chr m:val="∑"/>
                          <m:limLoc m:val="undOvr"/>
                          <m:grow m:val="on"/>
                          <m:supHide m:val="on"/>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naryPr>
                        <m:sub>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b>
                          </m:sSub>
                        </m:sub>
                        <m:sup/>
                        <m:e>
                          <m:r>
                            <a:rPr lang="en-US" sz="1800">
                              <a:effectLst/>
                              <a:latin typeface="Cambria Math" panose="02040503050406030204" pitchFamily="18" charset="0"/>
                              <a:ea typeface="Calibri" panose="020F0502020204030204" pitchFamily="34" charset="0"/>
                              <a:cs typeface="Calibri Light" panose="020F0302020204030204" pitchFamily="34" charset="0"/>
                            </a:rPr>
                            <m:t> </m:t>
                          </m:r>
                        </m:e>
                      </m:nary>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e>
                      </m:d>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b>
                          </m:sSub>
                        </m:e>
                      </m:d>
                    </m:oMath>
                  </m:oMathPara>
                </a14:m>
                <a:endParaRPr lang="en-US" sz="2800" dirty="0">
                  <a:effectLst/>
                  <a:latin typeface="Calibri" panose="020F0502020204030204" pitchFamily="34" charset="0"/>
                  <a:ea typeface="Calibri" panose="020F0502020204030204" pitchFamily="34" charset="0"/>
                </a:endParaRPr>
              </a:p>
              <a:p>
                <a:pPr>
                  <a:spcAft>
                    <a:spcPts val="1200"/>
                  </a:spcAft>
                </a:pPr>
                <a:r>
                  <a:rPr lang="en-US" sz="1800" dirty="0">
                    <a:effectLst/>
                    <a:latin typeface="Calibri Light" panose="020F0302020204030204" pitchFamily="34" charset="0"/>
                    <a:ea typeface="Calibri" panose="020F0502020204030204" pitchFamily="34" charset="0"/>
                  </a:rPr>
                  <a:t>and</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B</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nary>
                        <m:naryPr>
                          <m:chr m:val="∑"/>
                          <m:limLoc m:val="undOvr"/>
                          <m:grow m:val="on"/>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naryPr>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e>
                          <m:r>
                            <a:rPr lang="en-US" sz="1800">
                              <a:effectLst/>
                              <a:latin typeface="Cambria Math" panose="02040503050406030204" pitchFamily="18" charset="0"/>
                              <a:ea typeface="Calibri" panose="020F0502020204030204" pitchFamily="34" charset="0"/>
                              <a:cs typeface="Calibri Light" panose="020F0302020204030204" pitchFamily="34" charset="0"/>
                            </a:rPr>
                            <m:t> </m:t>
                          </m:r>
                        </m:e>
                      </m:nary>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B</m:t>
                          </m:r>
                        </m:sub>
                        <m: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bSup>
                    </m:oMath>
                  </m:oMathPara>
                </a14:m>
                <a:endParaRPr lang="en-US" sz="2800" dirty="0">
                  <a:effectLst/>
                  <a:latin typeface="Calibri" panose="020F0502020204030204" pitchFamily="34" charset="0"/>
                  <a:ea typeface="Calibri" panose="020F0502020204030204" pitchFamily="34" charset="0"/>
                </a:endParaRPr>
              </a:p>
              <a:p>
                <a:pPr>
                  <a:spcAft>
                    <a:spcPts val="1200"/>
                  </a:spcAft>
                </a:pPr>
                <a:r>
                  <a:rPr lang="en-US" sz="1800" dirty="0">
                    <a:effectLst/>
                    <a:latin typeface="Calibri Light" panose="020F0302020204030204" pitchFamily="34" charset="0"/>
                    <a:ea typeface="Calibri" panose="020F0502020204030204" pitchFamily="34" charset="0"/>
                  </a:rPr>
                  <a:t>where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oMath>
                </a14:m>
                <a:r>
                  <a:rPr lang="en-US" sz="1800" dirty="0">
                    <a:effectLst/>
                    <a:latin typeface="Calibri Light" panose="020F0302020204030204" pitchFamily="34" charset="0"/>
                    <a:ea typeface="Calibri" panose="020F0502020204030204" pitchFamily="34" charset="0"/>
                  </a:rPr>
                  <a:t> is the number of clauses in which bit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oMath>
                </a14:m>
                <a:r>
                  <a:rPr lang="en-US" sz="1800" dirty="0">
                    <a:effectLst/>
                    <a:latin typeface="Calibri Light" panose="020F0302020204030204" pitchFamily="34" charset="0"/>
                    <a:ea typeface="Calibri" panose="020F0502020204030204" pitchFamily="34" charset="0"/>
                  </a:rPr>
                  <a:t> appears in the instance of 3-SAT being considered.</a:t>
                </a:r>
                <a:endParaRPr lang="en-US" sz="2800" dirty="0">
                  <a:effectLst/>
                  <a:latin typeface="Calibri" panose="020F0502020204030204" pitchFamily="34" charset="0"/>
                  <a:ea typeface="Calibri" panose="020F0502020204030204" pitchFamily="34" charset="0"/>
                </a:endParaRPr>
              </a:p>
            </p:txBody>
          </p:sp>
        </mc:Choice>
        <mc:Fallback xmlns="">
          <p:sp>
            <p:nvSpPr>
              <p:cNvPr id="5" name="CasellaDiTesto 4">
                <a:extLst>
                  <a:ext uri="{FF2B5EF4-FFF2-40B4-BE49-F238E27FC236}">
                    <a16:creationId xmlns:a16="http://schemas.microsoft.com/office/drawing/2014/main" id="{49C4B105-4D1F-4AE9-A5C4-841005380FD8}"/>
                  </a:ext>
                </a:extLst>
              </p:cNvPr>
              <p:cNvSpPr txBox="1">
                <a:spLocks noRot="1" noChangeAspect="1" noMove="1" noResize="1" noEditPoints="1" noAdjustHandles="1" noChangeArrowheads="1" noChangeShapeType="1" noTextEdit="1"/>
              </p:cNvSpPr>
              <p:nvPr/>
            </p:nvSpPr>
            <p:spPr>
              <a:xfrm>
                <a:off x="107302" y="1447371"/>
                <a:ext cx="11977396" cy="5044138"/>
              </a:xfrm>
              <a:prstGeom prst="rect">
                <a:avLst/>
              </a:prstGeom>
              <a:blipFill>
                <a:blip r:embed="rId2"/>
                <a:stretch>
                  <a:fillRect l="-458" t="-604" b="-966"/>
                </a:stretch>
              </a:blipFill>
            </p:spPr>
            <p:txBody>
              <a:bodyPr/>
              <a:lstStyle/>
              <a:p>
                <a:r>
                  <a:rPr lang="en-US">
                    <a:noFill/>
                  </a:rPr>
                  <a:t> </a:t>
                </a:r>
              </a:p>
            </p:txBody>
          </p:sp>
        </mc:Fallback>
      </mc:AlternateContent>
      <p:sp>
        <p:nvSpPr>
          <p:cNvPr id="6" name="CasellaDiTesto 5">
            <a:extLst>
              <a:ext uri="{FF2B5EF4-FFF2-40B4-BE49-F238E27FC236}">
                <a16:creationId xmlns:a16="http://schemas.microsoft.com/office/drawing/2014/main" id="{80B1C4A7-6AB5-441E-8B74-6C40D6E7357A}"/>
              </a:ext>
            </a:extLst>
          </p:cNvPr>
          <p:cNvSpPr txBox="1"/>
          <p:nvPr/>
        </p:nvSpPr>
        <p:spPr>
          <a:xfrm>
            <a:off x="3720679" y="194527"/>
            <a:ext cx="5928851" cy="769441"/>
          </a:xfrm>
          <a:prstGeom prst="rect">
            <a:avLst/>
          </a:prstGeom>
          <a:noFill/>
        </p:spPr>
        <p:txBody>
          <a:bodyPr wrap="square" rtlCol="0">
            <a:spAutoFit/>
          </a:bodyPr>
          <a:lstStyle/>
          <a:p>
            <a:r>
              <a:rPr lang="it-IT" sz="4400" dirty="0">
                <a:solidFill>
                  <a:schemeClr val="accent1">
                    <a:lumMod val="50000"/>
                  </a:schemeClr>
                </a:solidFill>
                <a:latin typeface="+mj-lt"/>
              </a:rPr>
              <a:t>Grover </a:t>
            </a:r>
            <a:r>
              <a:rPr lang="it-IT" sz="4400" dirty="0" err="1">
                <a:solidFill>
                  <a:schemeClr val="accent1">
                    <a:lumMod val="50000"/>
                  </a:schemeClr>
                </a:solidFill>
                <a:latin typeface="+mj-lt"/>
              </a:rPr>
              <a:t>Parallelism</a:t>
            </a:r>
            <a:r>
              <a:rPr lang="it-IT" sz="4400" dirty="0">
                <a:solidFill>
                  <a:schemeClr val="accent1">
                    <a:lumMod val="50000"/>
                  </a:schemeClr>
                </a:solidFill>
                <a:latin typeface="+mj-lt"/>
              </a:rPr>
              <a:t> -2</a:t>
            </a:r>
            <a:endParaRPr lang="en-US" sz="4400" dirty="0">
              <a:solidFill>
                <a:schemeClr val="accent1">
                  <a:lumMod val="50000"/>
                </a:schemeClr>
              </a:solidFill>
              <a:latin typeface="+mj-lt"/>
            </a:endParaRPr>
          </a:p>
        </p:txBody>
      </p:sp>
    </p:spTree>
    <p:extLst>
      <p:ext uri="{BB962C8B-B14F-4D97-AF65-F5344CB8AC3E}">
        <p14:creationId xmlns:p14="http://schemas.microsoft.com/office/powerpoint/2010/main" val="11400688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23C9FDAD-08A5-45B1-9A34-53530FB25D48}"/>
              </a:ext>
            </a:extLst>
          </p:cNvPr>
          <p:cNvSpPr txBox="1"/>
          <p:nvPr/>
        </p:nvSpPr>
        <p:spPr>
          <a:xfrm>
            <a:off x="3754819" y="540273"/>
            <a:ext cx="5928851" cy="769441"/>
          </a:xfrm>
          <a:prstGeom prst="rect">
            <a:avLst/>
          </a:prstGeom>
          <a:noFill/>
        </p:spPr>
        <p:txBody>
          <a:bodyPr wrap="square" rtlCol="0">
            <a:spAutoFit/>
          </a:bodyPr>
          <a:lstStyle/>
          <a:p>
            <a:r>
              <a:rPr lang="it-IT" sz="4400" dirty="0">
                <a:solidFill>
                  <a:schemeClr val="accent1">
                    <a:lumMod val="50000"/>
                  </a:schemeClr>
                </a:solidFill>
                <a:latin typeface="+mj-lt"/>
              </a:rPr>
              <a:t>Grover </a:t>
            </a:r>
            <a:r>
              <a:rPr lang="it-IT" sz="4400" dirty="0" err="1">
                <a:solidFill>
                  <a:schemeClr val="accent1">
                    <a:lumMod val="50000"/>
                  </a:schemeClr>
                </a:solidFill>
                <a:latin typeface="+mj-lt"/>
              </a:rPr>
              <a:t>Parallelism</a:t>
            </a:r>
            <a:r>
              <a:rPr lang="it-IT" sz="4400" dirty="0">
                <a:solidFill>
                  <a:schemeClr val="accent1">
                    <a:lumMod val="50000"/>
                  </a:schemeClr>
                </a:solidFill>
                <a:latin typeface="+mj-lt"/>
              </a:rPr>
              <a:t> -3</a:t>
            </a:r>
            <a:endParaRPr lang="en-US" sz="4400" dirty="0">
              <a:solidFill>
                <a:schemeClr val="accent1">
                  <a:lumMod val="50000"/>
                </a:schemeClr>
              </a:solidFill>
              <a:latin typeface="+mj-lt"/>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FBDE16EB-DFE9-459D-A438-1FE7069C15D0}"/>
                  </a:ext>
                </a:extLst>
              </p:cNvPr>
              <p:cNvSpPr txBox="1"/>
              <p:nvPr/>
            </p:nvSpPr>
            <p:spPr>
              <a:xfrm>
                <a:off x="1440024" y="1590657"/>
                <a:ext cx="9311951" cy="3519490"/>
              </a:xfrm>
              <a:prstGeom prst="rect">
                <a:avLst/>
              </a:prstGeom>
              <a:noFill/>
            </p:spPr>
            <p:txBody>
              <a:bodyPr wrap="square">
                <a:spAutoFit/>
              </a:bodyPr>
              <a:lstStyle/>
              <a:p>
                <a:pPr>
                  <a:spcAft>
                    <a:spcPts val="1200"/>
                  </a:spcAft>
                </a:pPr>
                <a:r>
                  <a:rPr lang="en-US" sz="1800" dirty="0">
                    <a:effectLst/>
                    <a:latin typeface="Calibri Light" panose="020F0302020204030204" pitchFamily="34" charset="0"/>
                    <a:ea typeface="Calibri" panose="020F0502020204030204" pitchFamily="34" charset="0"/>
                  </a:rPr>
                  <a:t>Corresponding to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h</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𝐺</m:t>
                        </m:r>
                      </m:sub>
                    </m:sSub>
                  </m:oMath>
                </a14:m>
                <a:r>
                  <a:rPr lang="en-US" sz="1800" dirty="0">
                    <a:effectLst/>
                    <a:latin typeface="Calibri Light" panose="020F0302020204030204" pitchFamily="34" charset="0"/>
                    <a:ea typeface="Calibri" panose="020F0502020204030204" pitchFamily="34" charset="0"/>
                  </a:rPr>
                  <a:t> is a problem Hamiltonian</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mPr>
                        <m:m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P</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r>
                              <a:rPr lang="en-US" sz="1800">
                                <a:effectLst/>
                                <a:latin typeface="Cambria Math" panose="02040503050406030204" pitchFamily="18" charset="0"/>
                                <a:ea typeface="Calibri" panose="020F0502020204030204" pitchFamily="34" charset="0"/>
                                <a:cs typeface="Calibri Light" panose="020F0302020204030204" pitchFamily="34" charset="0"/>
                              </a:rPr>
                              <m:t>⟩</m:t>
                            </m:r>
                          </m:e>
                          <m:e>
                            <m:r>
                              <a:rPr lang="en-US" sz="1800" i="1">
                                <a:effectLst/>
                                <a:latin typeface="Cambria Math" panose="02040503050406030204" pitchFamily="18" charset="0"/>
                                <a:ea typeface="Calibri" panose="020F0502020204030204" pitchFamily="34" charset="0"/>
                                <a:cs typeface="Calibri Light" panose="020F0302020204030204" pitchFamily="34" charset="0"/>
                              </a:rPr>
                              <m:t> </m:t>
                            </m:r>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m>
                                  <m:mPr>
                                    <m:plcHide m:val="on"/>
                                    <m:mcs>
                                      <m:mc>
                                        <m:mcPr>
                                          <m:count m:val="2"/>
                                          <m:mcJc m:val="center"/>
                                        </m:mcPr>
                                      </m:mc>
                                    </m:mcs>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mPr>
                                  <m:mr>
                                    <m:e>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r>
                                        <a:rPr lang="en-US" sz="1800">
                                          <a:effectLst/>
                                          <a:latin typeface="Cambria Math" panose="02040503050406030204" pitchFamily="18" charset="0"/>
                                          <a:ea typeface="Calibri" panose="020F0502020204030204" pitchFamily="34" charset="0"/>
                                          <a:cs typeface="Calibri Light" panose="020F0302020204030204" pitchFamily="34" charset="0"/>
                                        </a:rPr>
                                        <m:t>⟩,</m:t>
                                      </m:r>
                                    </m:e>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𝑤</m:t>
                                      </m:r>
                                    </m:e>
                                  </m:mr>
                                  <m:mr>
                                    <m:e>
                                      <m:r>
                                        <a:rPr lang="en-US" sz="1800">
                                          <a:effectLst/>
                                          <a:latin typeface="Cambria Math" panose="02040503050406030204" pitchFamily="18" charset="0"/>
                                          <a:ea typeface="Calibri" panose="020F0502020204030204" pitchFamily="34" charset="0"/>
                                          <a:cs typeface="Calibri Light" panose="020F0302020204030204" pitchFamily="34" charset="0"/>
                                        </a:rPr>
                                        <m:t>0,</m:t>
                                      </m:r>
                                    </m:e>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𝑤</m:t>
                                      </m:r>
                                    </m:e>
                                  </m:mr>
                                </m:m>
                              </m:e>
                            </m:d>
                          </m:e>
                        </m:mr>
                        <m:mr>
                          <m:e/>
                          <m:e>
                            <m:r>
                              <a:rPr lang="en-US" sz="1800" i="1">
                                <a:effectLst/>
                                <a:latin typeface="Cambria Math" panose="02040503050406030204" pitchFamily="18" charset="0"/>
                                <a:ea typeface="Calibri" panose="020F0502020204030204" pitchFamily="34" charset="0"/>
                                <a:cs typeface="Calibri Light" panose="020F0302020204030204" pitchFamily="34" charset="0"/>
                              </a:rPr>
                              <m:t> </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𝑤</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𝑤</m:t>
                            </m:r>
                            <m:r>
                              <a:rPr lang="en-US" sz="1800">
                                <a:effectLst/>
                                <a:latin typeface="Cambria Math" panose="02040503050406030204" pitchFamily="18" charset="0"/>
                                <a:ea typeface="Calibri" panose="020F0502020204030204" pitchFamily="34" charset="0"/>
                                <a:cs typeface="Calibri Light" panose="020F0302020204030204" pitchFamily="34" charset="0"/>
                              </a:rPr>
                              <m:t>|</m:t>
                            </m:r>
                          </m:e>
                        </m:mr>
                      </m:m>
                    </m:oMath>
                  </m:oMathPara>
                </a14:m>
                <a:endParaRPr lang="en-US" sz="2800" dirty="0">
                  <a:effectLst/>
                  <a:latin typeface="Calibri" panose="020F0502020204030204" pitchFamily="34" charset="0"/>
                  <a:ea typeface="Calibri" panose="020F0502020204030204" pitchFamily="34" charset="0"/>
                </a:endParaRPr>
              </a:p>
              <a:p>
                <a:pPr>
                  <a:spcAft>
                    <a:spcPts val="1200"/>
                  </a:spcAft>
                </a:pPr>
                <a:r>
                  <a:rPr lang="en-US" sz="1800" dirty="0">
                    <a:effectLst/>
                    <a:latin typeface="Calibri Light" panose="020F0302020204030204" pitchFamily="34" charset="0"/>
                    <a:ea typeface="Calibri" panose="020F0502020204030204" pitchFamily="34" charset="0"/>
                  </a:rPr>
                  <a:t>where </a:t>
                </a:r>
                <a14:m>
                  <m:oMath xmlns:m="http://schemas.openxmlformats.org/officeDocument/2006/math">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Sub>
                      </m:e>
                    </m:d>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r>
                              <a:rPr lang="en-US" sz="1800">
                                <a:effectLst/>
                                <a:latin typeface="Cambria Math" panose="02040503050406030204" pitchFamily="18" charset="0"/>
                                <a:ea typeface="Calibri" panose="020F0502020204030204" pitchFamily="34" charset="0"/>
                                <a:cs typeface="Calibri Light" panose="020F0302020204030204" pitchFamily="34" charset="0"/>
                              </a:rPr>
                              <m:t>2</m:t>
                            </m:r>
                          </m:sub>
                        </m:sSub>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d>
                      <m:dPr>
                        <m:begChr m:val="|"/>
                        <m:end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b>
                        </m:sSub>
                      </m:e>
                    </m:d>
                  </m:oMath>
                </a14:m>
                <a:r>
                  <a:rPr lang="en-US" sz="1800" dirty="0">
                    <a:effectLst/>
                    <a:latin typeface="Calibri Light" panose="020F0302020204030204" pitchFamily="34" charset="0"/>
                    <a:ea typeface="Calibri" panose="020F0502020204030204" pitchFamily="34" charset="0"/>
                  </a:rPr>
                  <a:t>. So, they construct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r>
                      <a:rPr lang="en-US" sz="1800">
                        <a:effectLst/>
                        <a:latin typeface="Cambria Math" panose="02040503050406030204" pitchFamily="18" charset="0"/>
                        <a:ea typeface="Calibri" panose="020F0502020204030204" pitchFamily="34" charset="0"/>
                        <a:cs typeface="Calibri Light" panose="020F0302020204030204" pitchFamily="34" charset="0"/>
                      </a:rPr>
                      <m:t>)=</m:t>
                    </m:r>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acc>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𝑇</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rPr>
                  <a:t> with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B</m:t>
                        </m:r>
                      </m:sub>
                    </m:sSub>
                  </m:oMath>
                </a14:m>
                <a:r>
                  <a:rPr lang="en-US" sz="1800" dirty="0">
                    <a:effectLst/>
                    <a:latin typeface="Calibri Light" panose="020F0302020204030204" pitchFamily="34" charset="0"/>
                    <a:ea typeface="Calibri" panose="020F0502020204030204" pitchFamily="34" charset="0"/>
                  </a:rPr>
                  <a:t> given with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𝑑</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=1</m:t>
                    </m:r>
                  </m:oMath>
                </a14:m>
                <a:r>
                  <a:rPr lang="en-US" sz="1800" dirty="0">
                    <a:effectLst/>
                    <a:latin typeface="Calibri Light" panose="020F0302020204030204" pitchFamily="34" charset="0"/>
                    <a:ea typeface="Calibri" panose="020F0502020204030204" pitchFamily="34" charset="0"/>
                  </a:rPr>
                  <a:t> for all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oMath>
                </a14:m>
                <a:r>
                  <a:rPr lang="en-US" sz="1800" dirty="0">
                    <a:effectLst/>
                    <a:latin typeface="Calibri Light" panose="020F0302020204030204" pitchFamily="34" charset="0"/>
                    <a:ea typeface="Calibri" panose="020F0502020204030204" pitchFamily="34" charset="0"/>
                  </a:rPr>
                  <a:t> from 1 to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oMath>
                </a14:m>
                <a:r>
                  <a:rPr lang="en-US" sz="1800" dirty="0">
                    <a:effectLst/>
                    <a:latin typeface="Calibri Light" panose="020F0302020204030204" pitchFamily="34" charset="0"/>
                    <a:ea typeface="Calibri" panose="020F0502020204030204" pitchFamily="34" charset="0"/>
                  </a:rPr>
                  <a:t>. evolving using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𝑡</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rPr>
                  <a:t>. The problem is </a:t>
                </a:r>
                <a:r>
                  <a:rPr lang="en-US" sz="1800" dirty="0">
                    <a:solidFill>
                      <a:schemeClr val="accent1"/>
                    </a:solidFill>
                    <a:effectLst/>
                    <a:latin typeface="Calibri Light" panose="020F0302020204030204" pitchFamily="34" charset="0"/>
                    <a:ea typeface="Calibri" panose="020F0502020204030204" pitchFamily="34" charset="0"/>
                  </a:rPr>
                  <a:t>"oracular" </a:t>
                </a:r>
                <a:r>
                  <a:rPr lang="en-US" sz="1800" dirty="0">
                    <a:effectLst/>
                    <a:latin typeface="Calibri Light" panose="020F0302020204030204" pitchFamily="34" charset="0"/>
                    <a:ea typeface="Calibri" panose="020F0502020204030204" pitchFamily="34" charset="0"/>
                  </a:rPr>
                  <a:t>that is, it uses no knowledge about the structure of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sub>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P</m:t>
                        </m:r>
                      </m:sub>
                    </m:sSub>
                  </m:oMath>
                </a14:m>
                <a:r>
                  <a:rPr lang="en-US" sz="1800" dirty="0">
                    <a:effectLst/>
                    <a:latin typeface="Calibri Light" panose="020F0302020204030204" pitchFamily="34" charset="0"/>
                    <a:ea typeface="Calibri" panose="020F0502020204030204" pitchFamily="34" charset="0"/>
                  </a:rPr>
                  <a:t> which could aid in finding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Light" panose="020F0302020204030204" pitchFamily="34" charset="0"/>
                      </a:rPr>
                      <m:t>𝑤</m:t>
                    </m:r>
                  </m:oMath>
                </a14:m>
                <a:r>
                  <a:rPr lang="en-US" sz="1800" dirty="0">
                    <a:effectLst/>
                    <a:latin typeface="Calibri Light" panose="020F0302020204030204" pitchFamily="34" charset="0"/>
                    <a:ea typeface="Calibri" panose="020F0502020204030204" pitchFamily="34" charset="0"/>
                  </a:rPr>
                  <a:t> . Writing </a:t>
                </a:r>
                <a14:m>
                  <m:oMath xmlns:m="http://schemas.openxmlformats.org/officeDocument/2006/math">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acc>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𝑠</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a14:m>
                <a:r>
                  <a:rPr lang="en-US" sz="1800" dirty="0">
                    <a:effectLst/>
                    <a:latin typeface="Calibri Light" panose="020F0302020204030204" pitchFamily="34" charset="0"/>
                    <a:ea typeface="Calibri" panose="020F0502020204030204" pitchFamily="34" charset="0"/>
                  </a:rPr>
                  <a:t> explicitly </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acc>
                        <m:accPr>
                          <m:chr m:val="̃"/>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accPr>
                        <m:e>
                          <m:r>
                            <a:rPr lang="en-US" sz="1800" i="1">
                              <a:effectLst/>
                              <a:latin typeface="Cambria Math" panose="02040503050406030204" pitchFamily="18" charset="0"/>
                              <a:ea typeface="Calibri" panose="020F0502020204030204" pitchFamily="34" charset="0"/>
                              <a:cs typeface="Calibri Light" panose="020F0302020204030204" pitchFamily="34" charset="0"/>
                            </a:rPr>
                            <m:t>𝐻</m:t>
                          </m:r>
                        </m:e>
                      </m:acc>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𝑠</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𝑠</m:t>
                      </m:r>
                      <m:r>
                        <a:rPr lang="en-US" sz="1800">
                          <a:effectLst/>
                          <a:latin typeface="Cambria Math" panose="02040503050406030204" pitchFamily="18" charset="0"/>
                          <a:ea typeface="Calibri" panose="020F0502020204030204" pitchFamily="34" charset="0"/>
                          <a:cs typeface="Calibri Light" panose="020F0302020204030204" pitchFamily="34" charset="0"/>
                        </a:rPr>
                        <m:t>)</m:t>
                      </m:r>
                      <m:nary>
                        <m:naryPr>
                          <m:chr m:val="∑"/>
                          <m:limLoc m:val="undOvr"/>
                          <m:grow m:val="on"/>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naryPr>
                        <m:sub>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𝑛</m:t>
                          </m:r>
                        </m:sup>
                        <m:e>
                          <m:r>
                            <a:rPr lang="en-US" sz="1800">
                              <a:effectLst/>
                              <a:latin typeface="Cambria Math" panose="02040503050406030204" pitchFamily="18" charset="0"/>
                              <a:ea typeface="Calibri" panose="020F0502020204030204" pitchFamily="34" charset="0"/>
                              <a:cs typeface="Calibri Light" panose="020F0302020204030204" pitchFamily="34" charset="0"/>
                            </a:rPr>
                            <m:t> </m:t>
                          </m:r>
                        </m:e>
                      </m:nary>
                      <m:f>
                        <m:f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fPr>
                        <m:num>
                          <m:r>
                            <a:rPr lang="en-US" sz="1800">
                              <a:effectLst/>
                              <a:latin typeface="Cambria Math" panose="02040503050406030204" pitchFamily="18" charset="0"/>
                              <a:ea typeface="Calibri" panose="020F0502020204030204" pitchFamily="34" charset="0"/>
                              <a:cs typeface="Calibri Light" panose="020F0302020204030204" pitchFamily="34" charset="0"/>
                            </a:rPr>
                            <m:t>1</m:t>
                          </m:r>
                        </m:num>
                        <m:den>
                          <m:r>
                            <a:rPr lang="en-US" sz="1800">
                              <a:effectLst/>
                              <a:latin typeface="Cambria Math" panose="02040503050406030204" pitchFamily="18" charset="0"/>
                              <a:ea typeface="Calibri" panose="020F0502020204030204" pitchFamily="34" charset="0"/>
                              <a:cs typeface="Calibri Light" panose="020F0302020204030204" pitchFamily="34" charset="0"/>
                            </a:rPr>
                            <m:t>2</m:t>
                          </m:r>
                        </m:den>
                      </m:f>
                      <m:d>
                        <m:d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dPr>
                        <m:e>
                          <m:r>
                            <a:rPr lang="en-US" sz="1800">
                              <a:effectLst/>
                              <a:latin typeface="Cambria Math" panose="02040503050406030204" pitchFamily="18" charset="0"/>
                              <a:ea typeface="Calibri" panose="020F0502020204030204" pitchFamily="34" charset="0"/>
                              <a:cs typeface="Calibri Light" panose="020F0302020204030204" pitchFamily="34" charset="0"/>
                            </a:rPr>
                            <m:t>1</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𝜎</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𝑥</m:t>
                              </m:r>
                            </m:sub>
                            <m:sup>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𝑗</m:t>
                              </m:r>
                              <m:r>
                                <a:rPr lang="en-US" sz="1800">
                                  <a:effectLst/>
                                  <a:latin typeface="Cambria Math" panose="02040503050406030204" pitchFamily="18" charset="0"/>
                                  <a:ea typeface="Calibri" panose="020F0502020204030204" pitchFamily="34" charset="0"/>
                                  <a:cs typeface="Calibri Light" panose="020F0302020204030204" pitchFamily="34" charset="0"/>
                                </a:rPr>
                                <m:t>)</m:t>
                              </m:r>
                            </m:sup>
                          </m:sSubSup>
                        </m:e>
                      </m:d>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𝑠</m:t>
                      </m:r>
                      <m:r>
                        <a:rPr lang="en-US" sz="1800">
                          <a:effectLst/>
                          <a:latin typeface="Cambria Math" panose="02040503050406030204" pitchFamily="18" charset="0"/>
                          <a:ea typeface="Calibri" panose="020F0502020204030204" pitchFamily="34" charset="0"/>
                          <a:cs typeface="Calibri Light" panose="020F0302020204030204" pitchFamily="34" charset="0"/>
                        </a:rPr>
                        <m:t>(1</m:t>
                      </m:r>
                      <m:r>
                        <a:rPr lang="en-US" sz="1800" i="1">
                          <a:effectLst/>
                          <a:latin typeface="Cambria Math" panose="02040503050406030204" pitchFamily="18" charset="0"/>
                          <a:ea typeface="Calibri" panose="020F0502020204030204" pitchFamily="34" charset="0"/>
                          <a:cs typeface="Calibri Light" panose="020F0302020204030204" pitchFamily="34" charset="0"/>
                        </a:rPr>
                        <m:t>−</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𝑤</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r>
                        <a:rPr lang="en-US" sz="1800">
                          <a:effectLst/>
                          <a:latin typeface="Cambria Math" panose="02040503050406030204" pitchFamily="18" charset="0"/>
                          <a:ea typeface="Calibri" panose="020F0502020204030204" pitchFamily="34" charset="0"/>
                          <a:cs typeface="Calibri Light" panose="020F0302020204030204" pitchFamily="34" charset="0"/>
                        </a:rPr>
                        <m:t>=</m:t>
                      </m:r>
                      <m:r>
                        <a:rPr lang="en-US" sz="1800" i="1">
                          <a:effectLst/>
                          <a:latin typeface="Cambria Math" panose="02040503050406030204" pitchFamily="18" charset="0"/>
                          <a:ea typeface="Calibri" panose="020F0502020204030204" pitchFamily="34" charset="0"/>
                          <a:cs typeface="Calibri Light" panose="020F0302020204030204" pitchFamily="34" charset="0"/>
                        </a:rPr>
                        <m:t>𝑤</m:t>
                      </m:r>
                      <m:r>
                        <a:rPr lang="en-US" sz="1800">
                          <a:effectLst/>
                          <a:latin typeface="Cambria Math" panose="02040503050406030204" pitchFamily="18" charset="0"/>
                          <a:ea typeface="Calibri" panose="020F0502020204030204" pitchFamily="34" charset="0"/>
                          <a:cs typeface="Calibri Light" panose="020F0302020204030204" pitchFamily="34" charset="0"/>
                        </a:rPr>
                        <m:t>|).</m:t>
                      </m:r>
                    </m:oMath>
                  </m:oMathPara>
                </a14:m>
                <a:endParaRPr lang="en-US" sz="2800" dirty="0">
                  <a:effectLst/>
                  <a:latin typeface="Calibri" panose="020F0502020204030204" pitchFamily="34" charset="0"/>
                  <a:ea typeface="Calibri" panose="020F0502020204030204" pitchFamily="34" charset="0"/>
                </a:endParaRPr>
              </a:p>
            </p:txBody>
          </p:sp>
        </mc:Choice>
        <mc:Fallback xmlns="">
          <p:sp>
            <p:nvSpPr>
              <p:cNvPr id="5" name="CasellaDiTesto 4">
                <a:extLst>
                  <a:ext uri="{FF2B5EF4-FFF2-40B4-BE49-F238E27FC236}">
                    <a16:creationId xmlns:a16="http://schemas.microsoft.com/office/drawing/2014/main" id="{FBDE16EB-DFE9-459D-A438-1FE7069C15D0}"/>
                  </a:ext>
                </a:extLst>
              </p:cNvPr>
              <p:cNvSpPr txBox="1">
                <a:spLocks noRot="1" noChangeAspect="1" noMove="1" noResize="1" noEditPoints="1" noAdjustHandles="1" noChangeArrowheads="1" noChangeShapeType="1" noTextEdit="1"/>
              </p:cNvSpPr>
              <p:nvPr/>
            </p:nvSpPr>
            <p:spPr>
              <a:xfrm>
                <a:off x="1440024" y="1590657"/>
                <a:ext cx="9311951" cy="3519490"/>
              </a:xfrm>
              <a:prstGeom prst="rect">
                <a:avLst/>
              </a:prstGeom>
              <a:blipFill>
                <a:blip r:embed="rId2"/>
                <a:stretch>
                  <a:fillRect l="-524" t="-1040"/>
                </a:stretch>
              </a:blipFill>
            </p:spPr>
            <p:txBody>
              <a:bodyPr/>
              <a:lstStyle/>
              <a:p>
                <a:r>
                  <a:rPr lang="en-US">
                    <a:noFill/>
                  </a:rPr>
                  <a:t> </a:t>
                </a:r>
              </a:p>
            </p:txBody>
          </p:sp>
        </mc:Fallback>
      </mc:AlternateContent>
    </p:spTree>
    <p:extLst>
      <p:ext uri="{BB962C8B-B14F-4D97-AF65-F5344CB8AC3E}">
        <p14:creationId xmlns:p14="http://schemas.microsoft.com/office/powerpoint/2010/main" val="15558030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magine 8">
            <a:extLst>
              <a:ext uri="{FF2B5EF4-FFF2-40B4-BE49-F238E27FC236}">
                <a16:creationId xmlns:a16="http://schemas.microsoft.com/office/drawing/2014/main" id="{9863A0C6-F540-4418-88B7-B4C67BE1C015}"/>
              </a:ext>
            </a:extLst>
          </p:cNvPr>
          <p:cNvPicPr>
            <a:picLocks noChangeAspect="1"/>
          </p:cNvPicPr>
          <p:nvPr/>
        </p:nvPicPr>
        <p:blipFill>
          <a:blip r:embed="rId2"/>
          <a:stretch>
            <a:fillRect/>
          </a:stretch>
        </p:blipFill>
        <p:spPr>
          <a:xfrm>
            <a:off x="0" y="0"/>
            <a:ext cx="5091686" cy="2294524"/>
          </a:xfrm>
          <a:prstGeom prst="rect">
            <a:avLst/>
          </a:prstGeom>
        </p:spPr>
      </p:pic>
      <p:sp>
        <p:nvSpPr>
          <p:cNvPr id="4" name="CasellaDiTesto 3">
            <a:extLst>
              <a:ext uri="{FF2B5EF4-FFF2-40B4-BE49-F238E27FC236}">
                <a16:creationId xmlns:a16="http://schemas.microsoft.com/office/drawing/2014/main" id="{66002DF0-1586-4668-A962-3FEBDABFEE2A}"/>
              </a:ext>
            </a:extLst>
          </p:cNvPr>
          <p:cNvSpPr txBox="1"/>
          <p:nvPr/>
        </p:nvSpPr>
        <p:spPr>
          <a:xfrm>
            <a:off x="3742879" y="520938"/>
            <a:ext cx="9252054" cy="769441"/>
          </a:xfrm>
          <a:prstGeom prst="rect">
            <a:avLst/>
          </a:prstGeom>
          <a:noFill/>
        </p:spPr>
        <p:txBody>
          <a:bodyPr wrap="square" rtlCol="0">
            <a:spAutoFit/>
          </a:bodyPr>
          <a:lstStyle/>
          <a:p>
            <a:r>
              <a:rPr lang="it-IT" sz="4400" dirty="0">
                <a:solidFill>
                  <a:schemeClr val="accent1">
                    <a:lumMod val="50000"/>
                  </a:schemeClr>
                </a:solidFill>
                <a:latin typeface="+mj-lt"/>
              </a:rPr>
              <a:t>Recall via </a:t>
            </a:r>
            <a:r>
              <a:rPr lang="it-IT" sz="4400" dirty="0" err="1">
                <a:solidFill>
                  <a:schemeClr val="accent1">
                    <a:lumMod val="50000"/>
                  </a:schemeClr>
                </a:solidFill>
                <a:latin typeface="+mj-lt"/>
              </a:rPr>
              <a:t>different</a:t>
            </a:r>
            <a:r>
              <a:rPr lang="it-IT" sz="4400" dirty="0">
                <a:solidFill>
                  <a:schemeClr val="accent1">
                    <a:lumMod val="50000"/>
                  </a:schemeClr>
                </a:solidFill>
                <a:latin typeface="+mj-lt"/>
              </a:rPr>
              <a:t> learning rules -1</a:t>
            </a:r>
            <a:endParaRPr lang="en-US" sz="4400" dirty="0">
              <a:solidFill>
                <a:schemeClr val="accent1">
                  <a:lumMod val="50000"/>
                </a:schemeClr>
              </a:solidFill>
              <a:latin typeface="+mj-lt"/>
            </a:endParaRPr>
          </a:p>
        </p:txBody>
      </p:sp>
      <p:pic>
        <p:nvPicPr>
          <p:cNvPr id="3" name="Immagine 2" descr="Immagine che contiene testo&#10;&#10;Descrizione generata automaticamente">
            <a:extLst>
              <a:ext uri="{FF2B5EF4-FFF2-40B4-BE49-F238E27FC236}">
                <a16:creationId xmlns:a16="http://schemas.microsoft.com/office/drawing/2014/main" id="{9D034A1F-0BF6-4AD2-8420-3FB015631C34}"/>
              </a:ext>
            </a:extLst>
          </p:cNvPr>
          <p:cNvPicPr>
            <a:picLocks noChangeAspect="1"/>
          </p:cNvPicPr>
          <p:nvPr/>
        </p:nvPicPr>
        <p:blipFill rotWithShape="1">
          <a:blip r:embed="rId3"/>
          <a:srcRect r="15200" b="38583"/>
          <a:stretch/>
        </p:blipFill>
        <p:spPr bwMode="auto">
          <a:xfrm>
            <a:off x="5744024" y="2089217"/>
            <a:ext cx="6182505" cy="3512231"/>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1C9F3D1C-D34A-4C49-9848-0B1B2C899D24}"/>
                  </a:ext>
                </a:extLst>
              </p:cNvPr>
              <p:cNvSpPr txBox="1"/>
              <p:nvPr/>
            </p:nvSpPr>
            <p:spPr>
              <a:xfrm>
                <a:off x="265471" y="2711910"/>
                <a:ext cx="6097554" cy="845809"/>
              </a:xfrm>
              <a:prstGeom prst="rect">
                <a:avLst/>
              </a:prstGeom>
              <a:noFill/>
            </p:spPr>
            <p:txBody>
              <a:bodyPr wrap="square">
                <a:spAutoFit/>
              </a:bodyPr>
              <a:lstStyle/>
              <a:p>
                <a:r>
                  <a:rPr lang="en-US" sz="1800" dirty="0">
                    <a:effectLst/>
                    <a:latin typeface="Calibri Light" panose="020F0302020204030204" pitchFamily="34" charset="0"/>
                    <a:ea typeface="Calibri" panose="020F0502020204030204" pitchFamily="34" charset="0"/>
                  </a:rPr>
                  <a:t> Encode the complete problem in the Hamiltonian</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ℋ</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𝑝</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ℋ</m:t>
                          </m:r>
                        </m:e>
                        <m:sub>
                          <m:r>
                            <m:rPr>
                              <m:nor/>
                            </m:rPr>
                            <a:rPr lang="en-US" sz="1800">
                              <a:effectLst/>
                              <a:latin typeface="Calibri Light" panose="020F0302020204030204" pitchFamily="34" charset="0"/>
                              <a:ea typeface="Calibri" panose="020F0502020204030204" pitchFamily="34" charset="0"/>
                            </a:rPr>
                            <m:t>mem</m:t>
                          </m:r>
                          <m:r>
                            <m:rPr>
                              <m:nor/>
                            </m:rPr>
                            <a:rPr lang="en-US" sz="1800" i="1">
                              <a:effectLst/>
                              <a:latin typeface="Calibri Light" panose="020F0302020204030204" pitchFamily="34" charset="0"/>
                              <a:ea typeface="Calibri" panose="020F0502020204030204" pitchFamily="34" charset="0"/>
                            </a:rPr>
                            <m:t> </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r>
                        <m:rPr>
                          <m:sty m:val="p"/>
                        </m:rPr>
                        <a:rPr lang="en-US" sz="1800">
                          <a:effectLst/>
                          <a:latin typeface="Cambria Math" panose="02040503050406030204" pitchFamily="18" charset="0"/>
                          <a:ea typeface="Calibri" panose="020F0502020204030204" pitchFamily="34" charset="0"/>
                          <a:cs typeface="Calibri Light" panose="020F0302020204030204" pitchFamily="34" charset="0"/>
                        </a:rPr>
                        <m:t>Γ</m:t>
                      </m:r>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ℋ</m:t>
                          </m:r>
                        </m:e>
                        <m:sub>
                          <m:r>
                            <m:rPr>
                              <m:nor/>
                            </m:rPr>
                            <a:rPr lang="en-US" sz="1800">
                              <a:effectLst/>
                              <a:latin typeface="Calibri Light" panose="020F0302020204030204" pitchFamily="34" charset="0"/>
                              <a:ea typeface="Calibri" panose="020F0502020204030204" pitchFamily="34" charset="0"/>
                            </a:rPr>
                            <m:t>inp</m:t>
                          </m:r>
                          <m:r>
                            <m:rPr>
                              <m:nor/>
                            </m:rPr>
                            <a:rPr lang="en-US" sz="1800" i="1">
                              <a:effectLst/>
                              <a:latin typeface="Calibri Light" panose="020F0302020204030204" pitchFamily="34" charset="0"/>
                              <a:ea typeface="Calibri" panose="020F0502020204030204" pitchFamily="34" charset="0"/>
                            </a:rPr>
                            <m:t> </m:t>
                          </m:r>
                        </m:sub>
                      </m:sSub>
                    </m:oMath>
                  </m:oMathPara>
                </a14:m>
                <a:endParaRPr lang="en-US" sz="2800" dirty="0">
                  <a:effectLst/>
                  <a:latin typeface="Calibri" panose="020F0502020204030204" pitchFamily="34" charset="0"/>
                  <a:ea typeface="Calibri" panose="020F0502020204030204" pitchFamily="34" charset="0"/>
                </a:endParaRPr>
              </a:p>
            </p:txBody>
          </p:sp>
        </mc:Choice>
        <mc:Fallback xmlns="">
          <p:sp>
            <p:nvSpPr>
              <p:cNvPr id="5" name="CasellaDiTesto 4">
                <a:extLst>
                  <a:ext uri="{FF2B5EF4-FFF2-40B4-BE49-F238E27FC236}">
                    <a16:creationId xmlns:a16="http://schemas.microsoft.com/office/drawing/2014/main" id="{1C9F3D1C-D34A-4C49-9848-0B1B2C899D24}"/>
                  </a:ext>
                </a:extLst>
              </p:cNvPr>
              <p:cNvSpPr txBox="1">
                <a:spLocks noRot="1" noChangeAspect="1" noMove="1" noResize="1" noEditPoints="1" noAdjustHandles="1" noChangeArrowheads="1" noChangeShapeType="1" noTextEdit="1"/>
              </p:cNvSpPr>
              <p:nvPr/>
            </p:nvSpPr>
            <p:spPr>
              <a:xfrm>
                <a:off x="265471" y="2711910"/>
                <a:ext cx="6097554" cy="845809"/>
              </a:xfrm>
              <a:prstGeom prst="rect">
                <a:avLst/>
              </a:prstGeom>
              <a:blipFill>
                <a:blip r:embed="rId4"/>
                <a:stretch>
                  <a:fillRect t="-43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A105D3DD-8409-4072-AA88-C750FFEEAB50}"/>
                  </a:ext>
                </a:extLst>
              </p:cNvPr>
              <p:cNvSpPr txBox="1"/>
              <p:nvPr/>
            </p:nvSpPr>
            <p:spPr>
              <a:xfrm>
                <a:off x="186813" y="3858037"/>
                <a:ext cx="6097554" cy="1626343"/>
              </a:xfrm>
              <a:prstGeom prst="rect">
                <a:avLst/>
              </a:prstGeom>
              <a:noFill/>
            </p:spPr>
            <p:txBody>
              <a:bodyPr wrap="square">
                <a:spAutoFit/>
              </a:bodyPr>
              <a:lstStyle/>
              <a:p>
                <a:pPr>
                  <a:spcAft>
                    <a:spcPts val="1200"/>
                  </a:spcAft>
                </a:pPr>
                <a:r>
                  <a:rPr lang="en-US" sz="1800" dirty="0" err="1">
                    <a:effectLst/>
                    <a:latin typeface="Calibri Light" panose="020F0302020204030204" pitchFamily="34" charset="0"/>
                    <a:ea typeface="Calibri" panose="020F0502020204030204" pitchFamily="34" charset="0"/>
                  </a:rPr>
                  <a:t>H</a:t>
                </a:r>
                <a:r>
                  <a:rPr lang="en-US" sz="1800" baseline="-25000" dirty="0" err="1">
                    <a:effectLst/>
                    <a:latin typeface="Calibri Light" panose="020F0302020204030204" pitchFamily="34" charset="0"/>
                    <a:ea typeface="Calibri" panose="020F0502020204030204" pitchFamily="34" charset="0"/>
                  </a:rPr>
                  <a:t>inp</a:t>
                </a:r>
                <a:r>
                  <a:rPr lang="en-US" sz="1800" dirty="0">
                    <a:effectLst/>
                    <a:latin typeface="Calibri Light" panose="020F0302020204030204" pitchFamily="34" charset="0"/>
                    <a:ea typeface="Calibri" panose="020F0502020204030204" pitchFamily="34" charset="0"/>
                  </a:rPr>
                  <a:t> can be obtained and imposed independently of memory pattern dynamic (computed only once). </a:t>
                </a:r>
                <a:endParaRPr lang="en-US" sz="2800" dirty="0">
                  <a:effectLst/>
                  <a:latin typeface="Calibri" panose="020F0502020204030204" pitchFamily="34" charset="0"/>
                  <a:ea typeface="Calibri" panose="020F0502020204030204" pitchFamily="34" charset="0"/>
                </a:endParaRPr>
              </a:p>
              <a:p>
                <a:pPr>
                  <a:spcAft>
                    <a:spcPts val="12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Pr>
                        <m:e>
                          <m:r>
                            <a:rPr lang="en-US" sz="1800" i="1">
                              <a:effectLst/>
                              <a:latin typeface="Cambria Math" panose="02040503050406030204" pitchFamily="18" charset="0"/>
                              <a:ea typeface="Calibri" panose="020F0502020204030204" pitchFamily="34" charset="0"/>
                              <a:cs typeface="Calibri Light" panose="020F0302020204030204" pitchFamily="34" charset="0"/>
                            </a:rPr>
                            <m:t>ℋ</m:t>
                          </m:r>
                        </m:e>
                        <m:sub>
                          <m:r>
                            <m:rPr>
                              <m:nor/>
                            </m:rPr>
                            <a:rPr lang="en-US" sz="1800">
                              <a:effectLst/>
                              <a:latin typeface="Calibri Light" panose="020F0302020204030204" pitchFamily="34" charset="0"/>
                              <a:ea typeface="Calibri" panose="020F0502020204030204" pitchFamily="34" charset="0"/>
                            </a:rPr>
                            <m:t>inp</m:t>
                          </m:r>
                          <m:r>
                            <m:rPr>
                              <m:nor/>
                            </m:rPr>
                            <a:rPr lang="en-US" sz="1800" i="1">
                              <a:effectLst/>
                              <a:latin typeface="Calibri Light" panose="020F0302020204030204" pitchFamily="34" charset="0"/>
                              <a:ea typeface="Calibri" panose="020F0502020204030204" pitchFamily="34" charset="0"/>
                            </a:rPr>
                            <m:t> </m:t>
                          </m:r>
                        </m:sub>
                      </m:sSub>
                      <m:r>
                        <a:rPr lang="en-US" sz="1800">
                          <a:effectLst/>
                          <a:latin typeface="Cambria Math" panose="02040503050406030204" pitchFamily="18" charset="0"/>
                          <a:ea typeface="Calibri" panose="020F0502020204030204" pitchFamily="34" charset="0"/>
                          <a:cs typeface="Calibri Light" panose="020F0302020204030204" pitchFamily="34" charset="0"/>
                        </a:rPr>
                        <m:t>=</m:t>
                      </m:r>
                      <m:nary>
                        <m:naryPr>
                          <m:chr m:val="∑"/>
                          <m:limLoc m:val="undOvr"/>
                          <m:grow m:val="on"/>
                          <m:supHide m:val="on"/>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naryPr>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up/>
                        <m:e>
                          <m:r>
                            <a:rPr lang="en-US" sz="1800">
                              <a:effectLst/>
                              <a:latin typeface="Cambria Math" panose="02040503050406030204" pitchFamily="18" charset="0"/>
                              <a:ea typeface="Calibri" panose="020F0502020204030204" pitchFamily="34" charset="0"/>
                              <a:cs typeface="Calibri Light" panose="020F0302020204030204" pitchFamily="34" charset="0"/>
                            </a:rPr>
                            <m:t> </m:t>
                          </m:r>
                        </m:e>
                      </m:nary>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𝜉</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up>
                          <m:r>
                            <m:rPr>
                              <m:nor/>
                            </m:rPr>
                            <a:rPr lang="en-US" sz="1800">
                              <a:effectLst/>
                              <a:latin typeface="Calibri Light" panose="020F0302020204030204" pitchFamily="34" charset="0"/>
                              <a:ea typeface="Calibri" panose="020F0502020204030204" pitchFamily="34" charset="0"/>
                            </a:rPr>
                            <m:t>inp</m:t>
                          </m:r>
                          <m:r>
                            <m:rPr>
                              <m:nor/>
                            </m:rPr>
                            <a:rPr lang="en-US" sz="1800" i="1">
                              <a:effectLst/>
                              <a:latin typeface="Calibri Light" panose="020F0302020204030204" pitchFamily="34" charset="0"/>
                              <a:ea typeface="Calibri" panose="020F0502020204030204" pitchFamily="34" charset="0"/>
                            </a:rPr>
                            <m:t> </m:t>
                          </m:r>
                        </m:sup>
                      </m:sSubSup>
                      <m:sSubSup>
                        <m:sSubSupPr>
                          <m:ctrlPr>
                            <a:rPr lang="en-US" sz="1800" i="1">
                              <a:effectLst/>
                              <a:latin typeface="Cambria Math" panose="02040503050406030204" pitchFamily="18" charset="0"/>
                              <a:ea typeface="Calibri" panose="020F0502020204030204" pitchFamily="34" charset="0"/>
                              <a:cs typeface="Calibri Light" panose="020F0302020204030204" pitchFamily="34" charset="0"/>
                            </a:rPr>
                          </m:ctrlPr>
                        </m:sSubSupPr>
                        <m:e>
                          <m:r>
                            <a:rPr lang="en-US" sz="1800" i="1">
                              <a:effectLst/>
                              <a:latin typeface="Cambria Math" panose="02040503050406030204" pitchFamily="18" charset="0"/>
                              <a:ea typeface="Calibri" panose="020F0502020204030204" pitchFamily="34" charset="0"/>
                              <a:cs typeface="Calibri Light" panose="020F0302020204030204" pitchFamily="34" charset="0"/>
                            </a:rPr>
                            <m:t>𝜎</m:t>
                          </m:r>
                        </m:e>
                        <m:sub>
                          <m:r>
                            <a:rPr lang="en-US" sz="1800" i="1">
                              <a:effectLst/>
                              <a:latin typeface="Cambria Math" panose="02040503050406030204" pitchFamily="18" charset="0"/>
                              <a:ea typeface="Calibri" panose="020F0502020204030204" pitchFamily="34" charset="0"/>
                              <a:cs typeface="Calibri Light" panose="020F0302020204030204" pitchFamily="34" charset="0"/>
                            </a:rPr>
                            <m:t>𝑖</m:t>
                          </m:r>
                        </m:sub>
                        <m:sup>
                          <m:r>
                            <a:rPr lang="en-US" sz="1800" i="1">
                              <a:effectLst/>
                              <a:latin typeface="Cambria Math" panose="02040503050406030204" pitchFamily="18" charset="0"/>
                              <a:ea typeface="Calibri" panose="020F0502020204030204" pitchFamily="34" charset="0"/>
                              <a:cs typeface="Calibri Light" panose="020F0302020204030204" pitchFamily="34" charset="0"/>
                            </a:rPr>
                            <m:t>𝑧</m:t>
                          </m:r>
                        </m:sup>
                      </m:sSubSup>
                    </m:oMath>
                  </m:oMathPara>
                </a14:m>
                <a:endParaRPr lang="en-US" sz="2800" dirty="0">
                  <a:effectLst/>
                  <a:latin typeface="Calibri" panose="020F0502020204030204" pitchFamily="34" charset="0"/>
                  <a:ea typeface="Calibri" panose="020F0502020204030204" pitchFamily="34" charset="0"/>
                </a:endParaRPr>
              </a:p>
            </p:txBody>
          </p:sp>
        </mc:Choice>
        <mc:Fallback xmlns="">
          <p:sp>
            <p:nvSpPr>
              <p:cNvPr id="7" name="CasellaDiTesto 6">
                <a:extLst>
                  <a:ext uri="{FF2B5EF4-FFF2-40B4-BE49-F238E27FC236}">
                    <a16:creationId xmlns:a16="http://schemas.microsoft.com/office/drawing/2014/main" id="{A105D3DD-8409-4072-AA88-C750FFEEAB50}"/>
                  </a:ext>
                </a:extLst>
              </p:cNvPr>
              <p:cNvSpPr txBox="1">
                <a:spLocks noRot="1" noChangeAspect="1" noMove="1" noResize="1" noEditPoints="1" noAdjustHandles="1" noChangeArrowheads="1" noChangeShapeType="1" noTextEdit="1"/>
              </p:cNvSpPr>
              <p:nvPr/>
            </p:nvSpPr>
            <p:spPr>
              <a:xfrm>
                <a:off x="186813" y="3858037"/>
                <a:ext cx="6097554" cy="1626343"/>
              </a:xfrm>
              <a:prstGeom prst="rect">
                <a:avLst/>
              </a:prstGeom>
              <a:blipFill>
                <a:blip r:embed="rId5"/>
                <a:stretch>
                  <a:fillRect l="-900" t="-2247"/>
                </a:stretch>
              </a:blipFill>
            </p:spPr>
            <p:txBody>
              <a:bodyPr/>
              <a:lstStyle/>
              <a:p>
                <a:r>
                  <a:rPr lang="en-US">
                    <a:noFill/>
                  </a:rPr>
                  <a:t> </a:t>
                </a:r>
              </a:p>
            </p:txBody>
          </p:sp>
        </mc:Fallback>
      </mc:AlternateContent>
    </p:spTree>
    <p:extLst>
      <p:ext uri="{BB962C8B-B14F-4D97-AF65-F5344CB8AC3E}">
        <p14:creationId xmlns:p14="http://schemas.microsoft.com/office/powerpoint/2010/main" val="36820283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69E2C744-E717-4B29-BB75-7ADE2EB732AA}"/>
              </a:ext>
            </a:extLst>
          </p:cNvPr>
          <p:cNvPicPr>
            <a:picLocks noChangeAspect="1"/>
          </p:cNvPicPr>
          <p:nvPr/>
        </p:nvPicPr>
        <p:blipFill>
          <a:blip r:embed="rId2"/>
          <a:stretch>
            <a:fillRect/>
          </a:stretch>
        </p:blipFill>
        <p:spPr>
          <a:xfrm>
            <a:off x="0" y="13889"/>
            <a:ext cx="3845514" cy="1716914"/>
          </a:xfrm>
          <a:prstGeom prst="rect">
            <a:avLst/>
          </a:prstGeom>
        </p:spPr>
      </p:pic>
      <p:sp>
        <p:nvSpPr>
          <p:cNvPr id="5" name="CasellaDiTesto 4">
            <a:extLst>
              <a:ext uri="{FF2B5EF4-FFF2-40B4-BE49-F238E27FC236}">
                <a16:creationId xmlns:a16="http://schemas.microsoft.com/office/drawing/2014/main" id="{94382CB0-0061-4CA0-8097-1761639E8236}"/>
              </a:ext>
            </a:extLst>
          </p:cNvPr>
          <p:cNvSpPr txBox="1"/>
          <p:nvPr/>
        </p:nvSpPr>
        <p:spPr>
          <a:xfrm>
            <a:off x="3845514" y="371648"/>
            <a:ext cx="9252054" cy="769441"/>
          </a:xfrm>
          <a:prstGeom prst="rect">
            <a:avLst/>
          </a:prstGeom>
          <a:noFill/>
        </p:spPr>
        <p:txBody>
          <a:bodyPr wrap="square" rtlCol="0">
            <a:spAutoFit/>
          </a:bodyPr>
          <a:lstStyle/>
          <a:p>
            <a:r>
              <a:rPr lang="it-IT" sz="4400" dirty="0">
                <a:solidFill>
                  <a:schemeClr val="accent1">
                    <a:lumMod val="50000"/>
                  </a:schemeClr>
                </a:solidFill>
                <a:latin typeface="+mj-lt"/>
              </a:rPr>
              <a:t>Recall via </a:t>
            </a:r>
            <a:r>
              <a:rPr lang="it-IT" sz="4400" dirty="0" err="1">
                <a:solidFill>
                  <a:schemeClr val="accent1">
                    <a:lumMod val="50000"/>
                  </a:schemeClr>
                </a:solidFill>
                <a:latin typeface="+mj-lt"/>
              </a:rPr>
              <a:t>different</a:t>
            </a:r>
            <a:r>
              <a:rPr lang="it-IT" sz="4400" dirty="0">
                <a:solidFill>
                  <a:schemeClr val="accent1">
                    <a:lumMod val="50000"/>
                  </a:schemeClr>
                </a:solidFill>
                <a:latin typeface="+mj-lt"/>
              </a:rPr>
              <a:t> learning rules -2</a:t>
            </a:r>
            <a:endParaRPr lang="en-US" sz="4400" dirty="0">
              <a:solidFill>
                <a:schemeClr val="accent1">
                  <a:lumMod val="50000"/>
                </a:schemeClr>
              </a:solidFill>
              <a:latin typeface="+mj-lt"/>
            </a:endParaRPr>
          </a:p>
        </p:txBody>
      </p:sp>
      <p:pic>
        <p:nvPicPr>
          <p:cNvPr id="6" name="Immagine 5">
            <a:extLst>
              <a:ext uri="{FF2B5EF4-FFF2-40B4-BE49-F238E27FC236}">
                <a16:creationId xmlns:a16="http://schemas.microsoft.com/office/drawing/2014/main" id="{1128B838-29D9-4F1D-9BED-4EBCF65E26F1}"/>
              </a:ext>
            </a:extLst>
          </p:cNvPr>
          <p:cNvPicPr>
            <a:picLocks noChangeAspect="1"/>
          </p:cNvPicPr>
          <p:nvPr/>
        </p:nvPicPr>
        <p:blipFill rotWithShape="1">
          <a:blip r:embed="rId3"/>
          <a:srcRect b="38897"/>
          <a:stretch/>
        </p:blipFill>
        <p:spPr bwMode="auto">
          <a:xfrm>
            <a:off x="0" y="1141089"/>
            <a:ext cx="12108264" cy="4701844"/>
          </a:xfrm>
          <a:prstGeom prst="rect">
            <a:avLst/>
          </a:prstGeom>
          <a:ln>
            <a:noFill/>
          </a:ln>
          <a:extLst>
            <a:ext uri="{53640926-AAD7-44D8-BBD7-CCE9431645EC}">
              <a14:shadowObscured xmlns:a14="http://schemas.microsoft.com/office/drawing/2010/main"/>
            </a:ext>
          </a:extLst>
        </p:spPr>
      </p:pic>
      <p:sp>
        <p:nvSpPr>
          <p:cNvPr id="10" name="CasellaDiTesto 9">
            <a:extLst>
              <a:ext uri="{FF2B5EF4-FFF2-40B4-BE49-F238E27FC236}">
                <a16:creationId xmlns:a16="http://schemas.microsoft.com/office/drawing/2014/main" id="{5E7B94FA-F1AF-4A80-911C-EC4893D2FED0}"/>
              </a:ext>
            </a:extLst>
          </p:cNvPr>
          <p:cNvSpPr txBox="1"/>
          <p:nvPr/>
        </p:nvSpPr>
        <p:spPr>
          <a:xfrm>
            <a:off x="241161" y="5842933"/>
            <a:ext cx="10949114" cy="923330"/>
          </a:xfrm>
          <a:prstGeom prst="rect">
            <a:avLst/>
          </a:prstGeom>
          <a:noFill/>
        </p:spPr>
        <p:txBody>
          <a:bodyPr wrap="square">
            <a:spAutoFit/>
          </a:bodyPr>
          <a:lstStyle/>
          <a:p>
            <a:r>
              <a:rPr lang="en-US" dirty="0">
                <a:latin typeface="Calibri Light" panose="020F0302020204030204" pitchFamily="34" charset="0"/>
                <a:ea typeface="Calibri" panose="020F0502020204030204" pitchFamily="34" charset="0"/>
              </a:rPr>
              <a:t>S</a:t>
            </a:r>
            <a:r>
              <a:rPr lang="en-US" sz="1800" dirty="0">
                <a:effectLst/>
                <a:latin typeface="Calibri Light" panose="020F0302020204030204" pitchFamily="34" charset="0"/>
                <a:ea typeface="Calibri" panose="020F0502020204030204" pitchFamily="34" charset="0"/>
              </a:rPr>
              <a:t>eries of recall averages for different annealing times. For small values of T, the average success is low, especially as p approaches n. As T increases, the average success also increases but only up to a limit that depends on each learning rule. </a:t>
            </a:r>
          </a:p>
        </p:txBody>
      </p:sp>
    </p:spTree>
    <p:extLst>
      <p:ext uri="{BB962C8B-B14F-4D97-AF65-F5344CB8AC3E}">
        <p14:creationId xmlns:p14="http://schemas.microsoft.com/office/powerpoint/2010/main" val="42871795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7BE3287B-3C6B-4162-B9D3-5F7BD0A4C22E}"/>
              </a:ext>
            </a:extLst>
          </p:cNvPr>
          <p:cNvSpPr txBox="1"/>
          <p:nvPr/>
        </p:nvSpPr>
        <p:spPr>
          <a:xfrm>
            <a:off x="3972538" y="3165578"/>
            <a:ext cx="5299587" cy="769441"/>
          </a:xfrm>
          <a:prstGeom prst="rect">
            <a:avLst/>
          </a:prstGeom>
          <a:noFill/>
        </p:spPr>
        <p:txBody>
          <a:bodyPr wrap="square" rtlCol="0">
            <a:spAutoFit/>
          </a:bodyPr>
          <a:lstStyle/>
          <a:p>
            <a:r>
              <a:rPr lang="it-IT" sz="4400" dirty="0">
                <a:solidFill>
                  <a:schemeClr val="accent1">
                    <a:lumMod val="50000"/>
                  </a:schemeClr>
                </a:solidFill>
                <a:latin typeface="+mj-lt"/>
              </a:rPr>
              <a:t>Conclusive </a:t>
            </a:r>
            <a:r>
              <a:rPr lang="it-IT" sz="4400" dirty="0" err="1">
                <a:solidFill>
                  <a:schemeClr val="accent1">
                    <a:lumMod val="50000"/>
                  </a:schemeClr>
                </a:solidFill>
                <a:latin typeface="+mj-lt"/>
              </a:rPr>
              <a:t>Remarks</a:t>
            </a:r>
            <a:endParaRPr lang="en-US" sz="4400" dirty="0">
              <a:solidFill>
                <a:schemeClr val="accent1">
                  <a:lumMod val="50000"/>
                </a:schemeClr>
              </a:solidFill>
              <a:latin typeface="+mj-lt"/>
            </a:endParaRPr>
          </a:p>
        </p:txBody>
      </p:sp>
    </p:spTree>
    <p:extLst>
      <p:ext uri="{BB962C8B-B14F-4D97-AF65-F5344CB8AC3E}">
        <p14:creationId xmlns:p14="http://schemas.microsoft.com/office/powerpoint/2010/main" val="38460176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7288D46B-698B-46D3-A2F9-CF91B2B7E87C}"/>
              </a:ext>
            </a:extLst>
          </p:cNvPr>
          <p:cNvSpPr txBox="1"/>
          <p:nvPr/>
        </p:nvSpPr>
        <p:spPr>
          <a:xfrm>
            <a:off x="2985796" y="2463282"/>
            <a:ext cx="8332237" cy="2062103"/>
          </a:xfrm>
          <a:prstGeom prst="rect">
            <a:avLst/>
          </a:prstGeom>
          <a:noFill/>
        </p:spPr>
        <p:txBody>
          <a:bodyPr wrap="square" rtlCol="0">
            <a:spAutoFit/>
          </a:bodyPr>
          <a:lstStyle/>
          <a:p>
            <a:pPr marL="285750" indent="-285750">
              <a:buFontTx/>
              <a:buChar char="-"/>
            </a:pPr>
            <a:r>
              <a:rPr lang="it-IT" sz="3200" dirty="0"/>
              <a:t>No single clear trend</a:t>
            </a:r>
          </a:p>
          <a:p>
            <a:pPr marL="285750" indent="-285750">
              <a:buFontTx/>
              <a:buChar char="-"/>
            </a:pPr>
            <a:r>
              <a:rPr lang="it-IT" sz="3200" dirty="0"/>
              <a:t>Not </a:t>
            </a:r>
            <a:r>
              <a:rPr lang="it-IT" sz="3200" dirty="0" err="1"/>
              <a:t>performant</a:t>
            </a:r>
            <a:r>
              <a:rPr lang="it-IT" sz="3200" dirty="0"/>
              <a:t> </a:t>
            </a:r>
            <a:r>
              <a:rPr lang="it-IT" sz="3200" dirty="0" err="1"/>
              <a:t>fisical</a:t>
            </a:r>
            <a:r>
              <a:rPr lang="it-IT" sz="3200" dirty="0"/>
              <a:t> </a:t>
            </a:r>
            <a:r>
              <a:rPr lang="it-IT" sz="3200" dirty="0" err="1"/>
              <a:t>implementation</a:t>
            </a:r>
            <a:endParaRPr lang="it-IT" sz="3200" dirty="0"/>
          </a:p>
          <a:p>
            <a:pPr marL="285750" indent="-285750">
              <a:buFontTx/>
              <a:buChar char="-"/>
            </a:pPr>
            <a:r>
              <a:rPr lang="it-IT" sz="3200" dirty="0"/>
              <a:t>Not clear </a:t>
            </a:r>
            <a:r>
              <a:rPr lang="it-IT" sz="3200" dirty="0" err="1"/>
              <a:t>purposes</a:t>
            </a:r>
            <a:r>
              <a:rPr lang="it-IT" sz="3200" dirty="0"/>
              <a:t> in community</a:t>
            </a:r>
          </a:p>
          <a:p>
            <a:pPr marL="285750" indent="-285750">
              <a:buFontTx/>
              <a:buChar char="-"/>
            </a:pPr>
            <a:r>
              <a:rPr lang="it-IT" sz="3200" dirty="0"/>
              <a:t>Not </a:t>
            </a:r>
            <a:r>
              <a:rPr lang="it-IT" sz="3200" dirty="0" err="1"/>
              <a:t>all</a:t>
            </a:r>
            <a:r>
              <a:rPr lang="it-IT" sz="3200" dirty="0"/>
              <a:t> </a:t>
            </a:r>
            <a:r>
              <a:rPr lang="it-IT" sz="3200" dirty="0" err="1"/>
              <a:t>factors</a:t>
            </a:r>
            <a:r>
              <a:rPr lang="it-IT" sz="3200" dirty="0"/>
              <a:t> </a:t>
            </a:r>
            <a:r>
              <a:rPr lang="it-IT" sz="3200" dirty="0" err="1"/>
              <a:t>considered</a:t>
            </a:r>
            <a:endParaRPr lang="it-IT" sz="3200" dirty="0"/>
          </a:p>
        </p:txBody>
      </p:sp>
    </p:spTree>
    <p:extLst>
      <p:ext uri="{BB962C8B-B14F-4D97-AF65-F5344CB8AC3E}">
        <p14:creationId xmlns:p14="http://schemas.microsoft.com/office/powerpoint/2010/main" val="3144874350"/>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3224</TotalTime>
  <Words>4113</Words>
  <Application>Microsoft Office PowerPoint</Application>
  <PresentationFormat>Widescreen</PresentationFormat>
  <Paragraphs>366</Paragraphs>
  <Slides>61</Slides>
  <Notes>1</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61</vt:i4>
      </vt:variant>
    </vt:vector>
  </HeadingPairs>
  <TitlesOfParts>
    <vt:vector size="66" baseType="lpstr">
      <vt:lpstr>Arial</vt:lpstr>
      <vt:lpstr>Calibri</vt:lpstr>
      <vt:lpstr>Calibri Light</vt:lpstr>
      <vt:lpstr>Cambria Math</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 </dc:creator>
  <cp:lastModifiedBy> </cp:lastModifiedBy>
  <cp:revision>36</cp:revision>
  <dcterms:created xsi:type="dcterms:W3CDTF">2022-02-09T18:11:19Z</dcterms:created>
  <dcterms:modified xsi:type="dcterms:W3CDTF">2022-02-15T07:03:16Z</dcterms:modified>
</cp:coreProperties>
</file>